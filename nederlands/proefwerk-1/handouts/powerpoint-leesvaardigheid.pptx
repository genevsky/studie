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4"/>
  </p:sldMasterIdLst>
  <p:notesMasterIdLst>
    <p:notesMasterId r:id="rId36"/>
  </p:notesMasterIdLst>
  <p:sldIdLst>
    <p:sldId id="256" r:id="rId5"/>
    <p:sldId id="887" r:id="rId6"/>
    <p:sldId id="261" r:id="rId7"/>
    <p:sldId id="262" r:id="rId8"/>
    <p:sldId id="257" r:id="rId9"/>
    <p:sldId id="258" r:id="rId10"/>
    <p:sldId id="269" r:id="rId11"/>
    <p:sldId id="260" r:id="rId12"/>
    <p:sldId id="264" r:id="rId13"/>
    <p:sldId id="265" r:id="rId14"/>
    <p:sldId id="268" r:id="rId15"/>
    <p:sldId id="287" r:id="rId16"/>
    <p:sldId id="259" r:id="rId17"/>
    <p:sldId id="336" r:id="rId18"/>
    <p:sldId id="876" r:id="rId19"/>
    <p:sldId id="278" r:id="rId20"/>
    <p:sldId id="279" r:id="rId21"/>
    <p:sldId id="885" r:id="rId22"/>
    <p:sldId id="280" r:id="rId23"/>
    <p:sldId id="281" r:id="rId24"/>
    <p:sldId id="282" r:id="rId25"/>
    <p:sldId id="877" r:id="rId26"/>
    <p:sldId id="886" r:id="rId27"/>
    <p:sldId id="929" r:id="rId28"/>
    <p:sldId id="930" r:id="rId29"/>
    <p:sldId id="931" r:id="rId30"/>
    <p:sldId id="1140" r:id="rId31"/>
    <p:sldId id="1141" r:id="rId32"/>
    <p:sldId id="1142" r:id="rId33"/>
    <p:sldId id="936" r:id="rId34"/>
    <p:sldId id="937" r:id="rId3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4AF8F0-2AC4-411A-AFDB-64AE9DBC73B3}" v="2" dt="2026-09-29T12:31:08.743"/>
  </p1510:revLst>
</p1510:revInfo>
</file>

<file path=ppt/tableStyles.xml><?xml version="1.0" encoding="utf-8"?>
<a:tblStyleLst xmlns:a="http://schemas.openxmlformats.org/drawingml/2006/main" def="{5C22544A-7EE6-4342-B048-85BDC9FD1C3A}">
  <a:tblStyle styleId="{7DF18680-E054-41AD-8BC1-D1AEF772440D}" styleName="Stijl, gemiddeld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Stijl, gemiddeld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59" autoAdjust="0"/>
    <p:restoredTop sz="94660"/>
  </p:normalViewPr>
  <p:slideViewPr>
    <p:cSldViewPr snapToGrid="0">
      <p:cViewPr varScale="1">
        <p:scale>
          <a:sx n="78" d="100"/>
          <a:sy n="78" d="100"/>
        </p:scale>
        <p:origin x="696"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6EA8A3-2AA3-4D83-AA44-26E8E4208FB8}" type="datetimeFigureOut">
              <a:rPr lang="nl-NL" smtClean="0"/>
              <a:t>7-10-2026</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6A21AB-7A26-4738-95A0-DE752F0D1A80}" type="slidenum">
              <a:rPr lang="nl-NL" smtClean="0"/>
              <a:t>‹#›</a:t>
            </a:fld>
            <a:endParaRPr lang="nl-NL"/>
          </a:p>
        </p:txBody>
      </p:sp>
    </p:spTree>
    <p:extLst>
      <p:ext uri="{BB962C8B-B14F-4D97-AF65-F5344CB8AC3E}">
        <p14:creationId xmlns:p14="http://schemas.microsoft.com/office/powerpoint/2010/main" val="1947289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Je leest bijvoorbeeld globaal als je wilt ontdekken waar de tekst over gaat (bv. als je de krant openslaat). Je bepaalt door globaal lezen of je de tekst misschien vervolgens intensiever wilt gaan lezen. </a:t>
            </a:r>
          </a:p>
        </p:txBody>
      </p:sp>
      <p:sp>
        <p:nvSpPr>
          <p:cNvPr id="4" name="Tijdelijke aanduiding voor dianummer 3"/>
          <p:cNvSpPr>
            <a:spLocks noGrp="1"/>
          </p:cNvSpPr>
          <p:nvPr>
            <p:ph type="sldNum" sz="quarter" idx="5"/>
          </p:nvPr>
        </p:nvSpPr>
        <p:spPr/>
        <p:txBody>
          <a:bodyPr/>
          <a:lstStyle/>
          <a:p>
            <a:fld id="{F46A21AB-7A26-4738-95A0-DE752F0D1A80}" type="slidenum">
              <a:rPr lang="nl-NL" smtClean="0"/>
              <a:t>7</a:t>
            </a:fld>
            <a:endParaRPr lang="nl-NL"/>
          </a:p>
        </p:txBody>
      </p:sp>
    </p:spTree>
    <p:extLst>
      <p:ext uri="{BB962C8B-B14F-4D97-AF65-F5344CB8AC3E}">
        <p14:creationId xmlns:p14="http://schemas.microsoft.com/office/powerpoint/2010/main" val="3798992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Wanneer intensief lezen? Als je een boek leest voor het fictiedossier of als je een tekst wilt samenvatten. </a:t>
            </a:r>
          </a:p>
        </p:txBody>
      </p:sp>
      <p:sp>
        <p:nvSpPr>
          <p:cNvPr id="4" name="Tijdelijke aanduiding voor dianummer 3"/>
          <p:cNvSpPr>
            <a:spLocks noGrp="1"/>
          </p:cNvSpPr>
          <p:nvPr>
            <p:ph type="sldNum" sz="quarter" idx="5"/>
          </p:nvPr>
        </p:nvSpPr>
        <p:spPr/>
        <p:txBody>
          <a:bodyPr/>
          <a:lstStyle/>
          <a:p>
            <a:fld id="{F46A21AB-7A26-4738-95A0-DE752F0D1A80}" type="slidenum">
              <a:rPr lang="nl-NL" smtClean="0"/>
              <a:t>8</a:t>
            </a:fld>
            <a:endParaRPr lang="nl-NL"/>
          </a:p>
        </p:txBody>
      </p:sp>
    </p:spTree>
    <p:extLst>
      <p:ext uri="{BB962C8B-B14F-4D97-AF65-F5344CB8AC3E}">
        <p14:creationId xmlns:p14="http://schemas.microsoft.com/office/powerpoint/2010/main" val="40261994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Wanneer zoekend lezen? Als je antwoord zoekt op een specifieke vraag of als je op zoek bent naar een interessante tekst met informatie over een onderwerp van jouw onderzoek, werkstuk of presentatie. Voorbeelden: als je de betekenis van een spreekwoord wilt opzoeken of als je een artikel opzoekt dat je kunt gebruiken als naslagwerk voor je presentatie. </a:t>
            </a:r>
          </a:p>
        </p:txBody>
      </p:sp>
      <p:sp>
        <p:nvSpPr>
          <p:cNvPr id="4" name="Tijdelijke aanduiding voor dianummer 3"/>
          <p:cNvSpPr>
            <a:spLocks noGrp="1"/>
          </p:cNvSpPr>
          <p:nvPr>
            <p:ph type="sldNum" sz="quarter" idx="5"/>
          </p:nvPr>
        </p:nvSpPr>
        <p:spPr/>
        <p:txBody>
          <a:bodyPr/>
          <a:lstStyle/>
          <a:p>
            <a:fld id="{F46A21AB-7A26-4738-95A0-DE752F0D1A80}" type="slidenum">
              <a:rPr lang="nl-NL" smtClean="0"/>
              <a:t>9</a:t>
            </a:fld>
            <a:endParaRPr lang="nl-NL"/>
          </a:p>
        </p:txBody>
      </p:sp>
    </p:spTree>
    <p:extLst>
      <p:ext uri="{BB962C8B-B14F-4D97-AF65-F5344CB8AC3E}">
        <p14:creationId xmlns:p14="http://schemas.microsoft.com/office/powerpoint/2010/main" val="24336848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Wanneer lees je lerend? Als je de informatie moet leren voor een proefwerk of presentatie. </a:t>
            </a:r>
          </a:p>
        </p:txBody>
      </p:sp>
      <p:sp>
        <p:nvSpPr>
          <p:cNvPr id="4" name="Tijdelijke aanduiding voor dianummer 3"/>
          <p:cNvSpPr>
            <a:spLocks noGrp="1"/>
          </p:cNvSpPr>
          <p:nvPr>
            <p:ph type="sldNum" sz="quarter" idx="5"/>
          </p:nvPr>
        </p:nvSpPr>
        <p:spPr/>
        <p:txBody>
          <a:bodyPr/>
          <a:lstStyle/>
          <a:p>
            <a:fld id="{F46A21AB-7A26-4738-95A0-DE752F0D1A80}" type="slidenum">
              <a:rPr lang="nl-NL" smtClean="0"/>
              <a:t>10</a:t>
            </a:fld>
            <a:endParaRPr lang="nl-NL"/>
          </a:p>
        </p:txBody>
      </p:sp>
    </p:spTree>
    <p:extLst>
      <p:ext uri="{BB962C8B-B14F-4D97-AF65-F5344CB8AC3E}">
        <p14:creationId xmlns:p14="http://schemas.microsoft.com/office/powerpoint/2010/main" val="26306935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Wanneer lees je kritisch? Als je je afvraagt of de informatie betrouwbaar is. Bv. bij een berichtje op sociale media over een uit de hand gelopen ruzie. </a:t>
            </a:r>
          </a:p>
          <a:p>
            <a:r>
              <a:rPr lang="nl-NL" dirty="0"/>
              <a:t>Meestal betrouwbare bronnen: RTL Nieuws, NOS, NRC Handelsblad, de Volkskrant. </a:t>
            </a:r>
          </a:p>
          <a:p>
            <a:r>
              <a:rPr lang="nl-NL" dirty="0"/>
              <a:t>Minder betrouwbare bronnen: berichten op sociale media, roddelbladen etc. </a:t>
            </a:r>
          </a:p>
        </p:txBody>
      </p:sp>
      <p:sp>
        <p:nvSpPr>
          <p:cNvPr id="4" name="Tijdelijke aanduiding voor dianummer 3"/>
          <p:cNvSpPr>
            <a:spLocks noGrp="1"/>
          </p:cNvSpPr>
          <p:nvPr>
            <p:ph type="sldNum" sz="quarter" idx="5"/>
          </p:nvPr>
        </p:nvSpPr>
        <p:spPr/>
        <p:txBody>
          <a:bodyPr/>
          <a:lstStyle/>
          <a:p>
            <a:fld id="{F46A21AB-7A26-4738-95A0-DE752F0D1A80}" type="slidenum">
              <a:rPr lang="nl-NL" smtClean="0"/>
              <a:t>11</a:t>
            </a:fld>
            <a:endParaRPr lang="nl-NL"/>
          </a:p>
        </p:txBody>
      </p:sp>
    </p:spTree>
    <p:extLst>
      <p:ext uri="{BB962C8B-B14F-4D97-AF65-F5344CB8AC3E}">
        <p14:creationId xmlns:p14="http://schemas.microsoft.com/office/powerpoint/2010/main" val="23408774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398463" y="1243013"/>
            <a:ext cx="5964237" cy="3355975"/>
          </a:xfrm>
        </p:spPr>
      </p:sp>
      <p:sp>
        <p:nvSpPr>
          <p:cNvPr id="3" name="Tijdelijke aanduiding voor notities 2"/>
          <p:cNvSpPr>
            <a:spLocks noGrp="1"/>
          </p:cNvSpPr>
          <p:nvPr>
            <p:ph type="body" idx="1"/>
          </p:nvPr>
        </p:nvSpPr>
        <p:spPr/>
        <p:txBody>
          <a:bodyPr/>
          <a:lstStyle/>
          <a:p>
            <a:endParaRPr lang="nl-NL" sz="1200" kern="1200" baseline="0" dirty="0">
              <a:solidFill>
                <a:schemeClr val="tx1"/>
              </a:solidFill>
              <a:effectLst/>
              <a:latin typeface="+mn-lt"/>
              <a:ea typeface="+mn-ea"/>
              <a:cs typeface="+mn-cs"/>
            </a:endParaRPr>
          </a:p>
        </p:txBody>
      </p:sp>
      <p:sp>
        <p:nvSpPr>
          <p:cNvPr id="4" name="Tijdelijke aanduiding voor dianummer 3"/>
          <p:cNvSpPr>
            <a:spLocks noGrp="1"/>
          </p:cNvSpPr>
          <p:nvPr>
            <p:ph type="sldNum" sz="quarter" idx="10"/>
          </p:nvPr>
        </p:nvSpPr>
        <p:spPr/>
        <p:txBody>
          <a:bodyPr/>
          <a:lstStyle/>
          <a:p>
            <a:fld id="{7F38CACD-60CD-4262-851E-E89687EF4C5E}" type="slidenum">
              <a:rPr lang="nl-NL" smtClean="0"/>
              <a:t>24</a:t>
            </a:fld>
            <a:endParaRPr lang="nl-NL"/>
          </a:p>
        </p:txBody>
      </p:sp>
    </p:spTree>
    <p:extLst>
      <p:ext uri="{BB962C8B-B14F-4D97-AF65-F5344CB8AC3E}">
        <p14:creationId xmlns:p14="http://schemas.microsoft.com/office/powerpoint/2010/main" val="9683036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398463" y="1243013"/>
            <a:ext cx="5964237" cy="3355975"/>
          </a:xfrm>
        </p:spPr>
      </p:sp>
      <p:sp>
        <p:nvSpPr>
          <p:cNvPr id="3" name="Tijdelijke aanduiding voor notities 2"/>
          <p:cNvSpPr>
            <a:spLocks noGrp="1"/>
          </p:cNvSpPr>
          <p:nvPr>
            <p:ph type="body" idx="1"/>
          </p:nvPr>
        </p:nvSpPr>
        <p:spPr/>
        <p:txBody>
          <a:bodyPr/>
          <a:lstStyle/>
          <a:p>
            <a:endParaRPr lang="nl-NL" sz="1200" kern="1200" baseline="0" dirty="0">
              <a:solidFill>
                <a:schemeClr val="tx1"/>
              </a:solidFill>
              <a:effectLst/>
              <a:latin typeface="+mn-lt"/>
              <a:ea typeface="+mn-ea"/>
              <a:cs typeface="+mn-cs"/>
            </a:endParaRPr>
          </a:p>
        </p:txBody>
      </p:sp>
      <p:sp>
        <p:nvSpPr>
          <p:cNvPr id="4" name="Tijdelijke aanduiding voor dianummer 3"/>
          <p:cNvSpPr>
            <a:spLocks noGrp="1"/>
          </p:cNvSpPr>
          <p:nvPr>
            <p:ph type="sldNum" sz="quarter" idx="10"/>
          </p:nvPr>
        </p:nvSpPr>
        <p:spPr/>
        <p:txBody>
          <a:bodyPr/>
          <a:lstStyle/>
          <a:p>
            <a:fld id="{7F38CACD-60CD-4262-851E-E89687EF4C5E}" type="slidenum">
              <a:rPr lang="nl-NL" smtClean="0"/>
              <a:t>25</a:t>
            </a:fld>
            <a:endParaRPr lang="nl-NL"/>
          </a:p>
        </p:txBody>
      </p:sp>
    </p:spTree>
    <p:extLst>
      <p:ext uri="{BB962C8B-B14F-4D97-AF65-F5344CB8AC3E}">
        <p14:creationId xmlns:p14="http://schemas.microsoft.com/office/powerpoint/2010/main" val="32636063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398463" y="1243013"/>
            <a:ext cx="5964237" cy="3355975"/>
          </a:xfrm>
        </p:spPr>
      </p:sp>
      <p:sp>
        <p:nvSpPr>
          <p:cNvPr id="3" name="Tijdelijke aanduiding voor notities 2"/>
          <p:cNvSpPr>
            <a:spLocks noGrp="1"/>
          </p:cNvSpPr>
          <p:nvPr>
            <p:ph type="body" idx="1"/>
          </p:nvPr>
        </p:nvSpPr>
        <p:spPr/>
        <p:txBody>
          <a:bodyPr/>
          <a:lstStyle/>
          <a:p>
            <a:endParaRPr lang="nl-NL" sz="1200" kern="1200" baseline="0" dirty="0">
              <a:solidFill>
                <a:schemeClr val="tx1"/>
              </a:solidFill>
              <a:effectLst/>
              <a:latin typeface="+mn-lt"/>
              <a:ea typeface="+mn-ea"/>
              <a:cs typeface="+mn-cs"/>
            </a:endParaRPr>
          </a:p>
        </p:txBody>
      </p:sp>
      <p:sp>
        <p:nvSpPr>
          <p:cNvPr id="4" name="Tijdelijke aanduiding voor dianummer 3"/>
          <p:cNvSpPr>
            <a:spLocks noGrp="1"/>
          </p:cNvSpPr>
          <p:nvPr>
            <p:ph type="sldNum" sz="quarter" idx="10"/>
          </p:nvPr>
        </p:nvSpPr>
        <p:spPr/>
        <p:txBody>
          <a:bodyPr/>
          <a:lstStyle/>
          <a:p>
            <a:fld id="{7F38CACD-60CD-4262-851E-E89687EF4C5E}" type="slidenum">
              <a:rPr lang="nl-NL" smtClean="0"/>
              <a:t>26</a:t>
            </a:fld>
            <a:endParaRPr lang="nl-NL"/>
          </a:p>
        </p:txBody>
      </p:sp>
    </p:spTree>
    <p:extLst>
      <p:ext uri="{BB962C8B-B14F-4D97-AF65-F5344CB8AC3E}">
        <p14:creationId xmlns:p14="http://schemas.microsoft.com/office/powerpoint/2010/main" val="1715919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398463" y="1243013"/>
            <a:ext cx="5964237" cy="3355975"/>
          </a:xfrm>
        </p:spPr>
      </p:sp>
      <p:sp>
        <p:nvSpPr>
          <p:cNvPr id="3" name="Tijdelijke aanduiding voor notities 2"/>
          <p:cNvSpPr>
            <a:spLocks noGrp="1"/>
          </p:cNvSpPr>
          <p:nvPr>
            <p:ph type="body" idx="1"/>
          </p:nvPr>
        </p:nvSpPr>
        <p:spPr/>
        <p:txBody>
          <a:bodyPr/>
          <a:lstStyle/>
          <a:p>
            <a:endParaRPr lang="nl-NL" sz="1200" kern="1200" baseline="0" dirty="0">
              <a:solidFill>
                <a:schemeClr val="tx1"/>
              </a:solidFill>
              <a:effectLst/>
              <a:latin typeface="+mn-lt"/>
              <a:ea typeface="+mn-ea"/>
              <a:cs typeface="+mn-cs"/>
            </a:endParaRPr>
          </a:p>
        </p:txBody>
      </p:sp>
      <p:sp>
        <p:nvSpPr>
          <p:cNvPr id="4" name="Tijdelijke aanduiding voor dianummer 3"/>
          <p:cNvSpPr>
            <a:spLocks noGrp="1"/>
          </p:cNvSpPr>
          <p:nvPr>
            <p:ph type="sldNum" sz="quarter" idx="10"/>
          </p:nvPr>
        </p:nvSpPr>
        <p:spPr/>
        <p:txBody>
          <a:bodyPr/>
          <a:lstStyle/>
          <a:p>
            <a:fld id="{7F38CACD-60CD-4262-851E-E89687EF4C5E}" type="slidenum">
              <a:rPr lang="nl-NL" smtClean="0"/>
              <a:t>30</a:t>
            </a:fld>
            <a:endParaRPr lang="nl-NL"/>
          </a:p>
        </p:txBody>
      </p:sp>
    </p:spTree>
    <p:extLst>
      <p:ext uri="{BB962C8B-B14F-4D97-AF65-F5344CB8AC3E}">
        <p14:creationId xmlns:p14="http://schemas.microsoft.com/office/powerpoint/2010/main" val="9683036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1A438-A593-F86B-B41C-A119A767D246}"/>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0CBDF69E-5ED6-1DDC-1ACC-C0E4DBF519B1}"/>
              </a:ext>
            </a:extLst>
          </p:cNvPr>
          <p:cNvSpPr>
            <a:spLocks noGrp="1" noRot="1" noChangeAspect="1"/>
          </p:cNvSpPr>
          <p:nvPr>
            <p:ph type="sldImg"/>
          </p:nvPr>
        </p:nvSpPr>
        <p:spPr>
          <a:xfrm>
            <a:off x="398463" y="1243013"/>
            <a:ext cx="5964237" cy="3355975"/>
          </a:xfrm>
        </p:spPr>
      </p:sp>
      <p:sp>
        <p:nvSpPr>
          <p:cNvPr id="3" name="Tijdelijke aanduiding voor notities 2">
            <a:extLst>
              <a:ext uri="{FF2B5EF4-FFF2-40B4-BE49-F238E27FC236}">
                <a16:creationId xmlns:a16="http://schemas.microsoft.com/office/drawing/2014/main" id="{C9E2EE4A-4FAE-ACD4-46D1-39A43C3FDFF1}"/>
              </a:ext>
            </a:extLst>
          </p:cNvPr>
          <p:cNvSpPr>
            <a:spLocks noGrp="1"/>
          </p:cNvSpPr>
          <p:nvPr>
            <p:ph type="body" idx="1"/>
          </p:nvPr>
        </p:nvSpPr>
        <p:spPr/>
        <p:txBody>
          <a:bodyPr/>
          <a:lstStyle/>
          <a:p>
            <a:endParaRPr lang="nl-NL" sz="1200" kern="1200" baseline="0" dirty="0">
              <a:solidFill>
                <a:schemeClr val="tx1"/>
              </a:solidFill>
              <a:effectLst/>
              <a:latin typeface="+mn-lt"/>
              <a:ea typeface="+mn-ea"/>
              <a:cs typeface="+mn-cs"/>
            </a:endParaRPr>
          </a:p>
        </p:txBody>
      </p:sp>
      <p:sp>
        <p:nvSpPr>
          <p:cNvPr id="4" name="Tijdelijke aanduiding voor dianummer 3">
            <a:extLst>
              <a:ext uri="{FF2B5EF4-FFF2-40B4-BE49-F238E27FC236}">
                <a16:creationId xmlns:a16="http://schemas.microsoft.com/office/drawing/2014/main" id="{F230D423-A9AF-4E12-F7B6-0658B4750D7B}"/>
              </a:ext>
            </a:extLst>
          </p:cNvPr>
          <p:cNvSpPr>
            <a:spLocks noGrp="1"/>
          </p:cNvSpPr>
          <p:nvPr>
            <p:ph type="sldNum" sz="quarter" idx="10"/>
          </p:nvPr>
        </p:nvSpPr>
        <p:spPr/>
        <p:txBody>
          <a:bodyPr/>
          <a:lstStyle/>
          <a:p>
            <a:fld id="{7F38CACD-60CD-4262-851E-E89687EF4C5E}" type="slidenum">
              <a:rPr lang="nl-NL" smtClean="0"/>
              <a:t>31</a:t>
            </a:fld>
            <a:endParaRPr lang="nl-NL"/>
          </a:p>
        </p:txBody>
      </p:sp>
    </p:spTree>
    <p:extLst>
      <p:ext uri="{BB962C8B-B14F-4D97-AF65-F5344CB8AC3E}">
        <p14:creationId xmlns:p14="http://schemas.microsoft.com/office/powerpoint/2010/main" val="24709023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524000" y="1122363"/>
            <a:ext cx="9144000" cy="2387600"/>
          </a:xfrm>
        </p:spPr>
        <p:txBody>
          <a:bodyPr anchor="b"/>
          <a:lstStyle>
            <a:lvl1pPr algn="l">
              <a:defRPr sz="6000" b="1" i="0" cap="all" baseline="0"/>
            </a:lvl1pPr>
          </a:lstStyle>
          <a:p>
            <a:r>
              <a:rPr lang="en-US"/>
              <a:t>Click to edit Master title style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p:nvPr>
        </p:nvSpPr>
        <p:spPr>
          <a:xfrm>
            <a:off x="1524000" y="3602038"/>
            <a:ext cx="91440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CE66DA5-7751-4D3D-B753-58DF3B418763}"/>
              </a:ext>
            </a:extLst>
          </p:cNvPr>
          <p:cNvSpPr>
            <a:spLocks noGrp="1"/>
          </p:cNvSpPr>
          <p:nvPr>
            <p:ph type="dt" sz="half" idx="10"/>
          </p:nvPr>
        </p:nvSpPr>
        <p:spPr/>
        <p:txBody>
          <a:bodyPr/>
          <a:lstStyle/>
          <a:p>
            <a:fld id="{6A4B53A7-3209-46A6-9454-F38EAC8F11E7}" type="datetimeFigureOut">
              <a:rPr lang="en-US" smtClean="0"/>
              <a:t>10/7/2026</a:t>
            </a:fld>
            <a:endParaRPr lang="en-US"/>
          </a:p>
        </p:txBody>
      </p:sp>
      <p:sp>
        <p:nvSpPr>
          <p:cNvPr id="5" name="Footer Placeholder 4">
            <a:extLst>
              <a:ext uri="{FF2B5EF4-FFF2-40B4-BE49-F238E27FC236}">
                <a16:creationId xmlns:a16="http://schemas.microsoft.com/office/drawing/2014/main" id="{7F8C2A2A-62DB-40C0-8AE7-CB9B98649B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1EAA4-F44C-4C1F-B8E3-1A3005300F50}"/>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11" name="Straight Connector 10">
            <a:extLst>
              <a:ext uri="{FF2B5EF4-FFF2-40B4-BE49-F238E27FC236}">
                <a16:creationId xmlns:a16="http://schemas.microsoft.com/office/drawing/2014/main" id="{D1B787A8-0D67-4B7E-9B48-86BD906AB6B5}"/>
              </a:ext>
            </a:extLst>
          </p:cNvPr>
          <p:cNvCxnSpPr>
            <a:cxnSpLocks/>
          </p:cNvCxnSpPr>
          <p:nvPr/>
        </p:nvCxnSpPr>
        <p:spPr>
          <a:xfrm>
            <a:off x="715890" y="1114050"/>
            <a:ext cx="0" cy="5735637"/>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49090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7BB2D-4E2C-4490-A2A3-4B68BCC5D2F9}"/>
              </a:ext>
            </a:extLst>
          </p:cNvPr>
          <p:cNvSpPr>
            <a:spLocks noGrp="1"/>
          </p:cNvSpPr>
          <p:nvPr>
            <p:ph type="dt" sz="half" idx="10"/>
          </p:nvPr>
        </p:nvSpPr>
        <p:spPr/>
        <p:txBody>
          <a:bodyPr/>
          <a:lstStyle/>
          <a:p>
            <a:fld id="{6A4B53A7-3209-46A6-9454-F38EAC8F11E7}" type="datetimeFigureOut">
              <a:rPr lang="en-US" smtClean="0"/>
              <a:t>10/7/2026</a:t>
            </a:fld>
            <a:endParaRPr lang="en-US"/>
          </a:p>
        </p:txBody>
      </p:sp>
      <p:sp>
        <p:nvSpPr>
          <p:cNvPr id="5" name="Footer Placeholder 4">
            <a:extLst>
              <a:ext uri="{FF2B5EF4-FFF2-40B4-BE49-F238E27FC236}">
                <a16:creationId xmlns:a16="http://schemas.microsoft.com/office/drawing/2014/main" id="{6140F15D-DD72-46D5-BF0F-F506471070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5C05CAAB-DBA2-4548-AD5F-01BB97FBB207}"/>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19237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FC2D1-D3FE-4B37-8740-57444421FDBF}"/>
              </a:ext>
            </a:extLst>
          </p:cNvPr>
          <p:cNvSpPr>
            <a:spLocks noGrp="1"/>
          </p:cNvSpPr>
          <p:nvPr>
            <p:ph type="title"/>
          </p:nvPr>
        </p:nvSpPr>
        <p:spPr>
          <a:xfrm>
            <a:off x="831850" y="1709738"/>
            <a:ext cx="10515600" cy="2852737"/>
          </a:xfrm>
        </p:spPr>
        <p:txBody>
          <a:bodyPr anchor="b"/>
          <a:lstStyle>
            <a:lvl1pPr>
              <a:defRPr sz="6000" b="1" i="0" cap="all" baseline="0"/>
            </a:lvl1pPr>
          </a:lstStyle>
          <a:p>
            <a:r>
              <a:rPr lang="en-US"/>
              <a:t>Click to edit Master title style</a:t>
            </a:r>
          </a:p>
        </p:txBody>
      </p:sp>
      <p:sp>
        <p:nvSpPr>
          <p:cNvPr id="3" name="Text Placeholder 2">
            <a:extLst>
              <a:ext uri="{FF2B5EF4-FFF2-40B4-BE49-F238E27FC236}">
                <a16:creationId xmlns:a16="http://schemas.microsoft.com/office/drawing/2014/main" id="{BA5AF550-086C-426E-A374-85DB395701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A58988-AD39-4AE9-8E6A-0907F0BE2673}"/>
              </a:ext>
            </a:extLst>
          </p:cNvPr>
          <p:cNvSpPr>
            <a:spLocks noGrp="1"/>
          </p:cNvSpPr>
          <p:nvPr>
            <p:ph type="dt" sz="half" idx="10"/>
          </p:nvPr>
        </p:nvSpPr>
        <p:spPr/>
        <p:txBody>
          <a:bodyPr/>
          <a:lstStyle/>
          <a:p>
            <a:fld id="{6A4B53A7-3209-46A6-9454-F38EAC8F11E7}" type="datetimeFigureOut">
              <a:rPr lang="en-US" smtClean="0"/>
              <a:t>10/7/2026</a:t>
            </a:fld>
            <a:endParaRPr lang="en-US"/>
          </a:p>
        </p:txBody>
      </p:sp>
      <p:sp>
        <p:nvSpPr>
          <p:cNvPr id="5" name="Footer Placeholder 4">
            <a:extLst>
              <a:ext uri="{FF2B5EF4-FFF2-40B4-BE49-F238E27FC236}">
                <a16:creationId xmlns:a16="http://schemas.microsoft.com/office/drawing/2014/main" id="{1D366319-82EE-408E-819F-8F8E6DBA7A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21C8A6-777F-496D-8620-AE52BFC33FC4}"/>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9" name="Straight Connector 8">
            <a:extLst>
              <a:ext uri="{FF2B5EF4-FFF2-40B4-BE49-F238E27FC236}">
                <a16:creationId xmlns:a16="http://schemas.microsoft.com/office/drawing/2014/main" id="{C031F83B-57A8-4533-981C-D1FFAD2B6B6F}"/>
              </a:ext>
            </a:extLst>
          </p:cNvPr>
          <p:cNvCxnSpPr>
            <a:cxnSpLocks/>
          </p:cNvCxnSpPr>
          <p:nvPr/>
        </p:nvCxnSpPr>
        <p:spPr>
          <a:xfrm>
            <a:off x="715890" y="1701425"/>
            <a:ext cx="0" cy="5148262"/>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9996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57166-6921-4546-BA2C-99E464681F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5B9122-6371-4049-B57A-33DED7DA2F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14555D-0753-4312-A26B-2338813F9B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D8FDCB-69DA-4A8F-8B91-5CFF77897C27}"/>
              </a:ext>
            </a:extLst>
          </p:cNvPr>
          <p:cNvSpPr>
            <a:spLocks noGrp="1"/>
          </p:cNvSpPr>
          <p:nvPr>
            <p:ph type="dt" sz="half" idx="10"/>
          </p:nvPr>
        </p:nvSpPr>
        <p:spPr/>
        <p:txBody>
          <a:bodyPr/>
          <a:lstStyle/>
          <a:p>
            <a:fld id="{6A4B53A7-3209-46A6-9454-F38EAC8F11E7}" type="datetimeFigureOut">
              <a:rPr lang="en-US" smtClean="0"/>
              <a:t>10/7/2026</a:t>
            </a:fld>
            <a:endParaRPr lang="en-US"/>
          </a:p>
        </p:txBody>
      </p:sp>
      <p:sp>
        <p:nvSpPr>
          <p:cNvPr id="6" name="Footer Placeholder 5">
            <a:extLst>
              <a:ext uri="{FF2B5EF4-FFF2-40B4-BE49-F238E27FC236}">
                <a16:creationId xmlns:a16="http://schemas.microsoft.com/office/drawing/2014/main" id="{91AC8C07-E0D3-4464-AE3C-25730D75C8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2596A6-734E-4AE0-BFB8-3089137BF8E8}"/>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3FB7E8F4-3FB3-45AB-A381-9093CA95AAE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7725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2A2D237-A706-4712-90CA-B04517CBBE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D53357-616B-47F4-944B-F979FE9663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6B3EF2-2C04-480F-A570-14E520DD00DE}"/>
              </a:ext>
            </a:extLst>
          </p:cNvPr>
          <p:cNvSpPr>
            <a:spLocks noGrp="1"/>
          </p:cNvSpPr>
          <p:nvPr>
            <p:ph type="dt" sz="half" idx="10"/>
          </p:nvPr>
        </p:nvSpPr>
        <p:spPr/>
        <p:txBody>
          <a:bodyPr/>
          <a:lstStyle/>
          <a:p>
            <a:fld id="{6A4B53A7-3209-46A6-9454-F38EAC8F11E7}" type="datetimeFigureOut">
              <a:rPr lang="en-US" smtClean="0"/>
              <a:t>10/7/2026</a:t>
            </a:fld>
            <a:endParaRPr lang="en-US"/>
          </a:p>
        </p:txBody>
      </p:sp>
      <p:sp>
        <p:nvSpPr>
          <p:cNvPr id="8" name="Footer Placeholder 7">
            <a:extLst>
              <a:ext uri="{FF2B5EF4-FFF2-40B4-BE49-F238E27FC236}">
                <a16:creationId xmlns:a16="http://schemas.microsoft.com/office/drawing/2014/main" id="{1CF5783E-3073-4F4D-8B9C-C5B18DDA5A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A75FE3-6719-4790-AA00-251BC2A6E5AF}"/>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10" name="Straight Connector 9">
            <a:extLst>
              <a:ext uri="{FF2B5EF4-FFF2-40B4-BE49-F238E27FC236}">
                <a16:creationId xmlns:a16="http://schemas.microsoft.com/office/drawing/2014/main" id="{160F34ED-DA60-4CC2-B735-B0EC5D9FEA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8722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DF1DFFF-E5C5-43DF-B71C-7270DB97372C}"/>
              </a:ext>
            </a:extLst>
          </p:cNvPr>
          <p:cNvSpPr>
            <a:spLocks noGrp="1"/>
          </p:cNvSpPr>
          <p:nvPr>
            <p:ph type="dt" sz="half" idx="10"/>
          </p:nvPr>
        </p:nvSpPr>
        <p:spPr/>
        <p:txBody>
          <a:bodyPr/>
          <a:lstStyle/>
          <a:p>
            <a:fld id="{6A4B53A7-3209-46A6-9454-F38EAC8F11E7}" type="datetimeFigureOut">
              <a:rPr lang="en-US" smtClean="0"/>
              <a:t>10/7/2026</a:t>
            </a:fld>
            <a:endParaRPr lang="en-US"/>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6" name="Straight Connector 5">
            <a:extLst>
              <a:ext uri="{FF2B5EF4-FFF2-40B4-BE49-F238E27FC236}">
                <a16:creationId xmlns:a16="http://schemas.microsoft.com/office/drawing/2014/main" id="{57596AF9-469C-436D-B7D2-77952EF1825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2468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FF36D6-399B-43E3-84DD-9FC5119ECCE9}"/>
              </a:ext>
            </a:extLst>
          </p:cNvPr>
          <p:cNvSpPr>
            <a:spLocks noGrp="1"/>
          </p:cNvSpPr>
          <p:nvPr>
            <p:ph type="dt" sz="half" idx="10"/>
          </p:nvPr>
        </p:nvSpPr>
        <p:spPr/>
        <p:txBody>
          <a:bodyPr/>
          <a:lstStyle/>
          <a:p>
            <a:fld id="{6A4B53A7-3209-46A6-9454-F38EAC8F11E7}" type="datetimeFigureOut">
              <a:rPr lang="en-US" smtClean="0"/>
              <a:t>10/7/2026</a:t>
            </a:fld>
            <a:endParaRPr lang="en-US"/>
          </a:p>
        </p:txBody>
      </p:sp>
      <p:sp>
        <p:nvSpPr>
          <p:cNvPr id="3" name="Footer Placeholder 2">
            <a:extLst>
              <a:ext uri="{FF2B5EF4-FFF2-40B4-BE49-F238E27FC236}">
                <a16:creationId xmlns:a16="http://schemas.microsoft.com/office/drawing/2014/main" id="{50234AB7-3B85-4028-A500-5A1BDBF45C5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1F40F0-9909-442F-BBA4-409D061ED027}"/>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5" name="Straight Connector 4">
            <a:extLst>
              <a:ext uri="{FF2B5EF4-FFF2-40B4-BE49-F238E27FC236}">
                <a16:creationId xmlns:a16="http://schemas.microsoft.com/office/drawing/2014/main" id="{353C1207-D1C8-49E3-8837-E2B89D366FA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26612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0F214-646F-4D81-AD12-65628EC987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EF71768-C3FA-49EF-99EF-06E6C3B284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DA6F24-ED6C-4D12-A9D6-EE37FBD686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E6AACE-FAFB-4934-8E3C-AB5B216353D8}"/>
              </a:ext>
            </a:extLst>
          </p:cNvPr>
          <p:cNvSpPr>
            <a:spLocks noGrp="1"/>
          </p:cNvSpPr>
          <p:nvPr>
            <p:ph type="dt" sz="half" idx="10"/>
          </p:nvPr>
        </p:nvSpPr>
        <p:spPr/>
        <p:txBody>
          <a:bodyPr/>
          <a:lstStyle/>
          <a:p>
            <a:fld id="{6A4B53A7-3209-46A6-9454-F38EAC8F11E7}" type="datetimeFigureOut">
              <a:rPr lang="en-US" smtClean="0"/>
              <a:t>10/7/2026</a:t>
            </a:fld>
            <a:endParaRPr lang="en-US"/>
          </a:p>
        </p:txBody>
      </p:sp>
      <p:sp>
        <p:nvSpPr>
          <p:cNvPr id="6" name="Footer Placeholder 5">
            <a:extLst>
              <a:ext uri="{FF2B5EF4-FFF2-40B4-BE49-F238E27FC236}">
                <a16:creationId xmlns:a16="http://schemas.microsoft.com/office/drawing/2014/main" id="{181533EA-D0F8-4C79-8721-F190DE2D2D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59BAC9-F101-4394-BBA4-3D21A3497126}"/>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0F3A79C9-7EDC-44F6-AC48-5DD98A7695AD}"/>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87236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CB71F-B6C2-4866-BC97-304F78816E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5ED73B-8413-478D-80D7-B78B69763B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1BDF226-1B94-4D2D-98B3-7B932FB17D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0C4E9A-CA29-4CCD-ACFA-B29F80FBA163}"/>
              </a:ext>
            </a:extLst>
          </p:cNvPr>
          <p:cNvSpPr>
            <a:spLocks noGrp="1"/>
          </p:cNvSpPr>
          <p:nvPr>
            <p:ph type="dt" sz="half" idx="10"/>
          </p:nvPr>
        </p:nvSpPr>
        <p:spPr/>
        <p:txBody>
          <a:bodyPr/>
          <a:lstStyle/>
          <a:p>
            <a:fld id="{6A4B53A7-3209-46A6-9454-F38EAC8F11E7}" type="datetimeFigureOut">
              <a:rPr lang="en-US" smtClean="0"/>
              <a:t>10/7/2026</a:t>
            </a:fld>
            <a:endParaRPr lang="en-US"/>
          </a:p>
        </p:txBody>
      </p:sp>
      <p:sp>
        <p:nvSpPr>
          <p:cNvPr id="6" name="Footer Placeholder 5">
            <a:extLst>
              <a:ext uri="{FF2B5EF4-FFF2-40B4-BE49-F238E27FC236}">
                <a16:creationId xmlns:a16="http://schemas.microsoft.com/office/drawing/2014/main" id="{71A5B7BE-3F1B-4FF3-B1D7-6E39B99D07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2F18F1-E27E-470E-AE13-4755DEE63A32}"/>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00F08750-B7F2-4119-B151-68DE774813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9286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AD429-654B-4F0E-94E9-6FEF8EC67EF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8D60B2-06F5-4567-BE1F-BBA5270537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16F6F2-8269-4B80-8EE3-81FEE0F9DFA6}"/>
              </a:ext>
            </a:extLst>
          </p:cNvPr>
          <p:cNvSpPr>
            <a:spLocks noGrp="1"/>
          </p:cNvSpPr>
          <p:nvPr>
            <p:ph type="dt" sz="half" idx="10"/>
          </p:nvPr>
        </p:nvSpPr>
        <p:spPr/>
        <p:txBody>
          <a:bodyPr/>
          <a:lstStyle/>
          <a:p>
            <a:fld id="{6A4B53A7-3209-46A6-9454-F38EAC8F11E7}" type="datetimeFigureOut">
              <a:rPr lang="en-US" smtClean="0"/>
              <a:t>10/7/2026</a:t>
            </a:fld>
            <a:endParaRPr lang="en-US"/>
          </a:p>
        </p:txBody>
      </p:sp>
      <p:sp>
        <p:nvSpPr>
          <p:cNvPr id="5" name="Footer Placeholder 4">
            <a:extLst>
              <a:ext uri="{FF2B5EF4-FFF2-40B4-BE49-F238E27FC236}">
                <a16:creationId xmlns:a16="http://schemas.microsoft.com/office/drawing/2014/main" id="{56BC86E4-3EDE-4EB4-B1A3-A1198AADD1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1752B0-ACEC-49EF-8131-FCF35BC5CD35}"/>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1A0462E3-375D-4E76-8886-69E06985D069}"/>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3662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23B094-F480-477B-901C-7181F88C076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D052089-A920-4E52-98DC-8A5DC7B0AC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A074FE-F1B4-421F-A66E-FA351C8F99E9}"/>
              </a:ext>
            </a:extLst>
          </p:cNvPr>
          <p:cNvSpPr>
            <a:spLocks noGrp="1"/>
          </p:cNvSpPr>
          <p:nvPr>
            <p:ph type="dt" sz="half" idx="10"/>
          </p:nvPr>
        </p:nvSpPr>
        <p:spPr/>
        <p:txBody>
          <a:bodyPr/>
          <a:lstStyle/>
          <a:p>
            <a:fld id="{6A4B53A7-3209-46A6-9454-F38EAC8F11E7}" type="datetimeFigureOut">
              <a:rPr lang="en-US" smtClean="0"/>
              <a:t>10/7/2026</a:t>
            </a:fld>
            <a:endParaRPr lang="en-US"/>
          </a:p>
        </p:txBody>
      </p:sp>
      <p:sp>
        <p:nvSpPr>
          <p:cNvPr id="5" name="Footer Placeholder 4">
            <a:extLst>
              <a:ext uri="{FF2B5EF4-FFF2-40B4-BE49-F238E27FC236}">
                <a16:creationId xmlns:a16="http://schemas.microsoft.com/office/drawing/2014/main" id="{34D764BA-3AB2-45FD-ABCB-975B3FDDF2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FB3FEF-8252-49FD-82F2-3E5FABC65F9A}"/>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0AEB5C65-83BB-4EBD-AD22-EDA8489D0F5D}"/>
              </a:ext>
            </a:extLst>
          </p:cNvPr>
          <p:cNvCxnSpPr>
            <a:cxnSpLocks/>
          </p:cNvCxnSpPr>
          <p:nvPr/>
        </p:nvCxnSpPr>
        <p:spPr>
          <a:xfrm flipV="1">
            <a:off x="8313" y="261865"/>
            <a:ext cx="11353802" cy="1"/>
          </a:xfrm>
          <a:prstGeom prst="line">
            <a:avLst/>
          </a:prstGeom>
          <a:ln w="25400" cap="sq">
            <a:gradFill flip="none" rotWithShape="1">
              <a:gsLst>
                <a:gs pos="0">
                  <a:schemeClr val="accent2"/>
                </a:gs>
                <a:gs pos="100000">
                  <a:schemeClr val="accent4"/>
                </a:gs>
              </a:gsLst>
              <a:lin ang="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2606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DA4224-F4E4-47A4-ACF7-2317493908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1679907-DC49-4B86-A34C-C97DBC26A9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DBC8A0-34FC-4B6E-B42B-A721267D89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1" i="0" cap="all" spc="100" baseline="0">
                <a:solidFill>
                  <a:schemeClr val="tx1">
                    <a:tint val="75000"/>
                  </a:schemeClr>
                </a:solidFill>
              </a:defRPr>
            </a:lvl1pPr>
          </a:lstStyle>
          <a:p>
            <a:fld id="{6A4B53A7-3209-46A6-9454-F38EAC8F11E7}" type="datetimeFigureOut">
              <a:rPr lang="en-US" smtClean="0"/>
              <a:pPr/>
              <a:t>10/7/2026</a:t>
            </a:fld>
            <a:endParaRPr lang="en-US" dirty="0"/>
          </a:p>
        </p:txBody>
      </p:sp>
      <p:sp>
        <p:nvSpPr>
          <p:cNvPr id="5" name="Footer Placeholder 4">
            <a:extLst>
              <a:ext uri="{FF2B5EF4-FFF2-40B4-BE49-F238E27FC236}">
                <a16:creationId xmlns:a16="http://schemas.microsoft.com/office/drawing/2014/main" id="{609AC0B6-4CC4-4E41-8A4D-F62E17F285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6C0E9BD-90BD-46AE-8A0D-06796ADB76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i="0" cap="all" spc="100" baseline="0">
                <a:solidFill>
                  <a:schemeClr val="tx1">
                    <a:tint val="75000"/>
                  </a:schemeClr>
                </a:solidFill>
              </a:defRPr>
            </a:lvl1pPr>
          </a:lstStyle>
          <a:p>
            <a:fld id="{27CE633F-9882-4A5C-83A2-1109D0C73261}" type="slidenum">
              <a:rPr lang="en-US" smtClean="0"/>
              <a:pPr/>
              <a:t>‹#›</a:t>
            </a:fld>
            <a:endParaRPr lang="en-US"/>
          </a:p>
        </p:txBody>
      </p:sp>
    </p:spTree>
    <p:extLst>
      <p:ext uri="{BB962C8B-B14F-4D97-AF65-F5344CB8AC3E}">
        <p14:creationId xmlns:p14="http://schemas.microsoft.com/office/powerpoint/2010/main" val="3729308524"/>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7" r:id="rId7"/>
    <p:sldLayoutId id="2147483733" r:id="rId8"/>
    <p:sldLayoutId id="2147483734" r:id="rId9"/>
    <p:sldLayoutId id="2147483735" r:id="rId10"/>
    <p:sldLayoutId id="2147483736" r:id="rId11"/>
  </p:sldLayoutIdLst>
  <p:txStyles>
    <p:titleStyle>
      <a:lvl1pPr algn="l" defTabSz="914400" rtl="0" eaLnBrk="1" latinLnBrk="0" hangingPunct="1">
        <a:lnSpc>
          <a:spcPct val="90000"/>
        </a:lnSpc>
        <a:spcBef>
          <a:spcPct val="0"/>
        </a:spcBef>
        <a:buNone/>
        <a:defRPr sz="4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hyperlink" Target="https://husite.nl/leoned/theorie-algemeen/tekstbegrip/"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ark.eu/gebieden/de-delta/landtong-rozenburg"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3">
            <a:extLst>
              <a:ext uri="{FF2B5EF4-FFF2-40B4-BE49-F238E27FC236}">
                <a16:creationId xmlns:a16="http://schemas.microsoft.com/office/drawing/2014/main" id="{526E0BFB-CDF1-4990-8C11-AC849311E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Stapel geopende boeken">
            <a:extLst>
              <a:ext uri="{FF2B5EF4-FFF2-40B4-BE49-F238E27FC236}">
                <a16:creationId xmlns:a16="http://schemas.microsoft.com/office/drawing/2014/main" id="{4866935F-4934-45CD-840E-333410D79C95}"/>
              </a:ext>
            </a:extLst>
          </p:cNvPr>
          <p:cNvPicPr>
            <a:picLocks noChangeAspect="1"/>
          </p:cNvPicPr>
          <p:nvPr/>
        </p:nvPicPr>
        <p:blipFill rotWithShape="1">
          <a:blip r:embed="rId2"/>
          <a:srcRect t="15730"/>
          <a:stretch/>
        </p:blipFill>
        <p:spPr>
          <a:xfrm>
            <a:off x="20" y="10"/>
            <a:ext cx="12188932" cy="6857990"/>
          </a:xfrm>
          <a:prstGeom prst="rect">
            <a:avLst/>
          </a:prstGeom>
        </p:spPr>
      </p:pic>
      <p:sp>
        <p:nvSpPr>
          <p:cNvPr id="22" name="Rectangle 25">
            <a:extLst>
              <a:ext uri="{FF2B5EF4-FFF2-40B4-BE49-F238E27FC236}">
                <a16:creationId xmlns:a16="http://schemas.microsoft.com/office/drawing/2014/main" id="{6069A1F8-9BEB-4786-9694-FC48B2D75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788244" y="0"/>
            <a:ext cx="9403756" cy="6858000"/>
          </a:xfrm>
          <a:prstGeom prst="rect">
            <a:avLst/>
          </a:prstGeom>
          <a:gradFill>
            <a:gsLst>
              <a:gs pos="58000">
                <a:schemeClr val="bg1">
                  <a:alpha val="30000"/>
                </a:schemeClr>
              </a:gs>
              <a:gs pos="30000">
                <a:schemeClr val="bg1">
                  <a:alpha val="20000"/>
                </a:schemeClr>
              </a:gs>
              <a:gs pos="0">
                <a:schemeClr val="bg1">
                  <a:alpha val="0"/>
                </a:schemeClr>
              </a:gs>
              <a:gs pos="100000">
                <a:schemeClr val="bg1">
                  <a:alpha val="3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el 1"/>
          <p:cNvSpPr>
            <a:spLocks noGrp="1"/>
          </p:cNvSpPr>
          <p:nvPr>
            <p:ph type="ctrTitle"/>
          </p:nvPr>
        </p:nvSpPr>
        <p:spPr>
          <a:xfrm>
            <a:off x="7112000" y="800894"/>
            <a:ext cx="4759960" cy="2858008"/>
          </a:xfrm>
        </p:spPr>
        <p:txBody>
          <a:bodyPr anchor="b">
            <a:normAutofit/>
          </a:bodyPr>
          <a:lstStyle/>
          <a:p>
            <a:r>
              <a:rPr lang="nl-NL" sz="3000" dirty="0">
                <a:cs typeface="Calibri Light"/>
              </a:rPr>
              <a:t>Leesvaardigheid 1</a:t>
            </a:r>
            <a:endParaRPr lang="nl-NL" sz="3000" dirty="0"/>
          </a:p>
        </p:txBody>
      </p:sp>
      <p:sp>
        <p:nvSpPr>
          <p:cNvPr id="3" name="Ondertitel 2"/>
          <p:cNvSpPr>
            <a:spLocks noGrp="1"/>
          </p:cNvSpPr>
          <p:nvPr>
            <p:ph type="subTitle" idx="1"/>
          </p:nvPr>
        </p:nvSpPr>
        <p:spPr>
          <a:xfrm>
            <a:off x="7848600" y="3670840"/>
            <a:ext cx="4023360" cy="1208141"/>
          </a:xfrm>
        </p:spPr>
        <p:txBody>
          <a:bodyPr vert="horz" lIns="91440" tIns="45720" rIns="91440" bIns="45720" rtlCol="0">
            <a:normAutofit/>
          </a:bodyPr>
          <a:lstStyle/>
          <a:p>
            <a:r>
              <a:rPr lang="de-DE">
                <a:cs typeface="Calibri"/>
              </a:rPr>
              <a:t>Klas 1</a:t>
            </a:r>
            <a:endParaRPr lang="de-DE"/>
          </a:p>
        </p:txBody>
      </p:sp>
    </p:spTree>
    <p:extLst>
      <p:ext uri="{BB962C8B-B14F-4D97-AF65-F5344CB8AC3E}">
        <p14:creationId xmlns:p14="http://schemas.microsoft.com/office/powerpoint/2010/main" val="3351439039"/>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63535-31AF-DFE7-8450-8F5BFD3D7AAB}"/>
              </a:ext>
            </a:extLst>
          </p:cNvPr>
          <p:cNvSpPr>
            <a:spLocks noGrp="1"/>
          </p:cNvSpPr>
          <p:nvPr>
            <p:ph type="title"/>
          </p:nvPr>
        </p:nvSpPr>
        <p:spPr/>
        <p:txBody>
          <a:bodyPr>
            <a:normAutofit/>
          </a:bodyPr>
          <a:lstStyle/>
          <a:p>
            <a:r>
              <a:rPr lang="en-US" dirty="0" err="1"/>
              <a:t>Leesvaardigheid</a:t>
            </a:r>
            <a:r>
              <a:rPr lang="en-US" dirty="0"/>
              <a:t> 1 </a:t>
            </a:r>
          </a:p>
        </p:txBody>
      </p:sp>
      <p:sp>
        <p:nvSpPr>
          <p:cNvPr id="3" name="Content Placeholder 2">
            <a:extLst>
              <a:ext uri="{FF2B5EF4-FFF2-40B4-BE49-F238E27FC236}">
                <a16:creationId xmlns:a16="http://schemas.microsoft.com/office/drawing/2014/main" id="{A193A182-A54C-6034-6E29-CDD5ADD4048A}"/>
              </a:ext>
            </a:extLst>
          </p:cNvPr>
          <p:cNvSpPr>
            <a:spLocks noGrp="1"/>
          </p:cNvSpPr>
          <p:nvPr>
            <p:ph idx="1"/>
          </p:nvPr>
        </p:nvSpPr>
        <p:spPr/>
        <p:txBody>
          <a:bodyPr vert="horz" lIns="91440" tIns="45720" rIns="91440" bIns="45720" rtlCol="0" anchor="t">
            <a:normAutofit/>
          </a:bodyPr>
          <a:lstStyle/>
          <a:p>
            <a:pPr marL="0" indent="0">
              <a:buNone/>
            </a:pPr>
            <a:r>
              <a:rPr lang="en-US" dirty="0"/>
              <a:t>H32 </a:t>
            </a:r>
            <a:r>
              <a:rPr lang="en-US" dirty="0" err="1"/>
              <a:t>woordraadstrategieën</a:t>
            </a:r>
            <a:endParaRPr lang="en-US" dirty="0"/>
          </a:p>
          <a:p>
            <a:pPr marL="0" indent="0">
              <a:buNone/>
            </a:pPr>
            <a:r>
              <a:rPr lang="en-US" dirty="0"/>
              <a:t>H17 H18 H19 </a:t>
            </a:r>
            <a:r>
              <a:rPr lang="en-US" dirty="0" err="1"/>
              <a:t>leesstrategieën</a:t>
            </a:r>
            <a:endParaRPr lang="en-US" dirty="0"/>
          </a:p>
          <a:p>
            <a:pPr marL="0" indent="0">
              <a:buNone/>
            </a:pPr>
            <a:r>
              <a:rPr lang="en-US" dirty="0"/>
              <a:t>Onderwerp + </a:t>
            </a:r>
            <a:r>
              <a:rPr lang="en-US" dirty="0" err="1"/>
              <a:t>hoofdgedachte</a:t>
            </a:r>
          </a:p>
          <a:p>
            <a:pPr marL="0" indent="0">
              <a:buNone/>
            </a:pPr>
            <a:r>
              <a:rPr lang="en-US" dirty="0" err="1"/>
              <a:t>Samenvatten</a:t>
            </a:r>
            <a:r>
              <a:rPr lang="en-US" dirty="0"/>
              <a:t> +</a:t>
            </a:r>
            <a:r>
              <a:rPr lang="en-US" dirty="0" err="1"/>
              <a:t>kernzinnen</a:t>
            </a:r>
          </a:p>
          <a:p>
            <a:pPr marL="0" indent="0">
              <a:buNone/>
            </a:pPr>
            <a:endParaRPr lang="en-US" dirty="0"/>
          </a:p>
          <a:p>
            <a:pPr marL="0" indent="0">
              <a:buNone/>
            </a:pPr>
            <a:r>
              <a:rPr lang="en-US" dirty="0" err="1"/>
              <a:t>Toets</a:t>
            </a:r>
            <a:r>
              <a:rPr lang="en-US" dirty="0"/>
              <a:t>: </a:t>
            </a:r>
            <a:r>
              <a:rPr lang="en-US" dirty="0" err="1"/>
              <a:t>toetsweek</a:t>
            </a:r>
            <a:r>
              <a:rPr lang="en-US" dirty="0"/>
              <a:t> 1 (</a:t>
            </a:r>
            <a:r>
              <a:rPr lang="en-US" dirty="0" err="1"/>
              <a:t>na</a:t>
            </a:r>
            <a:r>
              <a:rPr lang="en-US" dirty="0"/>
              <a:t> de </a:t>
            </a:r>
            <a:r>
              <a:rPr lang="en-US" dirty="0" err="1"/>
              <a:t>herfstvakantie</a:t>
            </a:r>
            <a:r>
              <a:rPr lang="en-US" dirty="0"/>
              <a:t>)</a:t>
            </a:r>
          </a:p>
        </p:txBody>
      </p:sp>
    </p:spTree>
    <p:extLst>
      <p:ext uri="{BB962C8B-B14F-4D97-AF65-F5344CB8AC3E}">
        <p14:creationId xmlns:p14="http://schemas.microsoft.com/office/powerpoint/2010/main" val="2567717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D75A6-E717-407D-ACF0-EA640361FC95}"/>
              </a:ext>
            </a:extLst>
          </p:cNvPr>
          <p:cNvSpPr>
            <a:spLocks noGrp="1"/>
          </p:cNvSpPr>
          <p:nvPr>
            <p:ph type="title"/>
          </p:nvPr>
        </p:nvSpPr>
        <p:spPr/>
        <p:txBody>
          <a:bodyPr/>
          <a:lstStyle/>
          <a:p>
            <a:r>
              <a:rPr lang="nl-NL" dirty="0">
                <a:latin typeface="Calibri" panose="020F0502020204030204" pitchFamily="34" charset="0"/>
                <a:cs typeface="Calibri" panose="020F0502020204030204" pitchFamily="34" charset="0"/>
              </a:rPr>
              <a:t>Begrijpend lezen</a:t>
            </a:r>
          </a:p>
        </p:txBody>
      </p:sp>
      <p:sp>
        <p:nvSpPr>
          <p:cNvPr id="3" name="Content Placeholder 2">
            <a:extLst>
              <a:ext uri="{FF2B5EF4-FFF2-40B4-BE49-F238E27FC236}">
                <a16:creationId xmlns:a16="http://schemas.microsoft.com/office/drawing/2014/main" id="{8ADD7E19-DEDE-43D6-874B-1E7FB3D6B449}"/>
              </a:ext>
            </a:extLst>
          </p:cNvPr>
          <p:cNvSpPr>
            <a:spLocks noGrp="1"/>
          </p:cNvSpPr>
          <p:nvPr>
            <p:ph idx="1"/>
          </p:nvPr>
        </p:nvSpPr>
        <p:spPr/>
        <p:txBody>
          <a:bodyPr vert="horz" lIns="91440" tIns="45720" rIns="91440" bIns="45720" rtlCol="0" anchor="t">
            <a:normAutofit fontScale="70000" lnSpcReduction="20000"/>
          </a:bodyPr>
          <a:lstStyle/>
          <a:p>
            <a:pPr marL="0" indent="0">
              <a:buNone/>
            </a:pPr>
            <a:endParaRPr lang="nl-NL" b="1" dirty="0">
              <a:latin typeface="Calibri" panose="020F0502020204030204" pitchFamily="34" charset="0"/>
              <a:cs typeface="Calibri" panose="020F0502020204030204" pitchFamily="34" charset="0"/>
            </a:endParaRPr>
          </a:p>
          <a:p>
            <a:pPr marL="0" indent="0">
              <a:buNone/>
            </a:pPr>
            <a:r>
              <a:rPr lang="nl-NL" b="1" dirty="0">
                <a:latin typeface="Calibri" panose="020F0502020204030204" pitchFamily="34" charset="0"/>
                <a:cs typeface="Calibri" panose="020F0502020204030204" pitchFamily="34" charset="0"/>
              </a:rPr>
              <a:t>Wat is begrijpend lezen? </a:t>
            </a:r>
          </a:p>
          <a:p>
            <a:pPr marL="0" indent="0">
              <a:buNone/>
            </a:pPr>
            <a:endParaRPr lang="nl-NL" b="1" dirty="0">
              <a:latin typeface="Calibri" panose="020F0502020204030204" pitchFamily="34" charset="0"/>
              <a:cs typeface="Calibri" panose="020F0502020204030204" pitchFamily="34" charset="0"/>
            </a:endParaRPr>
          </a:p>
          <a:p>
            <a:r>
              <a:rPr lang="nl-NL" dirty="0">
                <a:latin typeface="Calibri" panose="020F0502020204030204" pitchFamily="34" charset="0"/>
                <a:cs typeface="Calibri" panose="020F0502020204030204" pitchFamily="34" charset="0"/>
              </a:rPr>
              <a:t>Begrijpend lezen gaat over het begrijpen van teksten. Je wilt een tekst ‘uitpluizen’ of volledig begrijpen. </a:t>
            </a:r>
          </a:p>
          <a:p>
            <a:pPr marL="0" indent="0">
              <a:buNone/>
            </a:pPr>
            <a:endParaRPr lang="nl-NL" b="1" dirty="0">
              <a:latin typeface="Calibri" panose="020F0502020204030204" pitchFamily="34" charset="0"/>
              <a:cs typeface="Calibri" panose="020F0502020204030204" pitchFamily="34" charset="0"/>
            </a:endParaRPr>
          </a:p>
          <a:p>
            <a:pPr marL="0" indent="0">
              <a:buNone/>
            </a:pPr>
            <a:r>
              <a:rPr lang="nl-NL" b="1" dirty="0">
                <a:latin typeface="Calibri" panose="020F0502020204030204" pitchFamily="34" charset="0"/>
                <a:cs typeface="Calibri" panose="020F0502020204030204" pitchFamily="34" charset="0"/>
              </a:rPr>
              <a:t>Waarom? </a:t>
            </a:r>
            <a:endParaRPr lang="nl-NL" dirty="0">
              <a:latin typeface="Calibri" panose="020F0502020204030204" pitchFamily="34" charset="0"/>
              <a:cs typeface="Calibri" panose="020F0502020204030204" pitchFamily="34" charset="0"/>
            </a:endParaRPr>
          </a:p>
          <a:p>
            <a:r>
              <a:rPr lang="nl-NL" dirty="0">
                <a:latin typeface="Calibri" panose="020F0502020204030204" pitchFamily="34" charset="0"/>
                <a:cs typeface="Calibri" panose="020F0502020204030204" pitchFamily="34" charset="0"/>
              </a:rPr>
              <a:t>Je bent nieuwsgierig naar informatie, je wilt je mening toetsen, je wilt weten hoe iemand anders denkt. Dan ga je lezen en zo verbreed je je horizon. </a:t>
            </a:r>
          </a:p>
          <a:p>
            <a:r>
              <a:rPr lang="nl-NL" dirty="0">
                <a:latin typeface="Calibri" panose="020F0502020204030204" pitchFamily="34" charset="0"/>
                <a:cs typeface="Calibri" panose="020F0502020204030204" pitchFamily="34" charset="0"/>
              </a:rPr>
              <a:t>Voor school / studie ‘moet’ je soms begrijpend lezen. </a:t>
            </a:r>
          </a:p>
          <a:p>
            <a:pPr lvl="1"/>
            <a:r>
              <a:rPr lang="nl-NL" dirty="0">
                <a:latin typeface="Calibri" panose="020F0502020204030204" pitchFamily="34" charset="0"/>
                <a:cs typeface="Calibri" panose="020F0502020204030204" pitchFamily="34" charset="0"/>
              </a:rPr>
              <a:t>Bij Nederlands ben je misschien niet altijd geïnteresseerd in de inhoud van de teksten. Bij Nederlands is het doel van het lezen van teksten vaak ook dat jullie betere lezers worden. </a:t>
            </a:r>
          </a:p>
          <a:p>
            <a:pPr lvl="1"/>
            <a:r>
              <a:rPr lang="nl-NL" dirty="0">
                <a:latin typeface="Calibri" panose="020F0502020204030204" pitchFamily="34" charset="0"/>
                <a:cs typeface="Calibri" panose="020F0502020204030204" pitchFamily="34" charset="0"/>
              </a:rPr>
              <a:t>Bij de andere vakken is het doel vaak dat leerlingen de inhoud verwerken en onthouden. </a:t>
            </a:r>
          </a:p>
          <a:p>
            <a:endParaRPr lang="en-US" dirty="0"/>
          </a:p>
          <a:p>
            <a:endParaRPr lang="en-US" dirty="0"/>
          </a:p>
          <a:p>
            <a:endParaRPr lang="en-US" dirty="0"/>
          </a:p>
        </p:txBody>
      </p:sp>
    </p:spTree>
    <p:extLst>
      <p:ext uri="{BB962C8B-B14F-4D97-AF65-F5344CB8AC3E}">
        <p14:creationId xmlns:p14="http://schemas.microsoft.com/office/powerpoint/2010/main" val="1664990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D75A6-E717-407D-ACF0-EA640361FC95}"/>
              </a:ext>
            </a:extLst>
          </p:cNvPr>
          <p:cNvSpPr>
            <a:spLocks noGrp="1"/>
          </p:cNvSpPr>
          <p:nvPr>
            <p:ph type="title"/>
          </p:nvPr>
        </p:nvSpPr>
        <p:spPr/>
        <p:txBody>
          <a:bodyPr/>
          <a:lstStyle/>
          <a:p>
            <a:r>
              <a:rPr lang="nl-NL" dirty="0">
                <a:latin typeface="Calibri" panose="020F0502020204030204" pitchFamily="34" charset="0"/>
                <a:cs typeface="Calibri" panose="020F0502020204030204" pitchFamily="34" charset="0"/>
              </a:rPr>
              <a:t>Begrijpend lezen</a:t>
            </a:r>
          </a:p>
        </p:txBody>
      </p:sp>
      <p:sp>
        <p:nvSpPr>
          <p:cNvPr id="3" name="Content Placeholder 2">
            <a:extLst>
              <a:ext uri="{FF2B5EF4-FFF2-40B4-BE49-F238E27FC236}">
                <a16:creationId xmlns:a16="http://schemas.microsoft.com/office/drawing/2014/main" id="{8ADD7E19-DEDE-43D6-874B-1E7FB3D6B449}"/>
              </a:ext>
            </a:extLst>
          </p:cNvPr>
          <p:cNvSpPr>
            <a:spLocks noGrp="1"/>
          </p:cNvSpPr>
          <p:nvPr>
            <p:ph idx="1"/>
          </p:nvPr>
        </p:nvSpPr>
        <p:spPr/>
        <p:txBody>
          <a:bodyPr vert="horz" lIns="91440" tIns="45720" rIns="91440" bIns="45720" rtlCol="0" anchor="t">
            <a:normAutofit fontScale="92500" lnSpcReduction="20000"/>
          </a:bodyPr>
          <a:lstStyle/>
          <a:p>
            <a:pPr marL="0" indent="0">
              <a:buNone/>
            </a:pPr>
            <a:r>
              <a:rPr lang="nl-NL" b="1" dirty="0">
                <a:latin typeface="Calibri" panose="020F0502020204030204" pitchFamily="34" charset="0"/>
                <a:cs typeface="Calibri" panose="020F0502020204030204" pitchFamily="34" charset="0"/>
              </a:rPr>
              <a:t>De stappen van de leesmotor / de leesspiraal </a:t>
            </a:r>
          </a:p>
          <a:p>
            <a:pPr marL="0" indent="0">
              <a:buNone/>
            </a:pPr>
            <a:endParaRPr lang="nl-NL" b="1" dirty="0">
              <a:latin typeface="Calibri" panose="020F0502020204030204" pitchFamily="34" charset="0"/>
              <a:cs typeface="Calibri" panose="020F0502020204030204" pitchFamily="34" charset="0"/>
            </a:endParaRPr>
          </a:p>
          <a:p>
            <a:pPr marL="514350" indent="-514350">
              <a:buFont typeface="+mj-lt"/>
              <a:buAutoNum type="arabicPeriod"/>
            </a:pPr>
            <a:r>
              <a:rPr lang="nl-NL" dirty="0">
                <a:latin typeface="Calibri" panose="020F0502020204030204" pitchFamily="34" charset="0"/>
                <a:cs typeface="Calibri" panose="020F0502020204030204" pitchFamily="34" charset="0"/>
              </a:rPr>
              <a:t>door te lezen leer je nieuwe woorden</a:t>
            </a:r>
          </a:p>
          <a:p>
            <a:pPr marL="514350" indent="-514350">
              <a:buFont typeface="+mj-lt"/>
              <a:buAutoNum type="arabicPeriod"/>
            </a:pPr>
            <a:r>
              <a:rPr lang="nl-NL" dirty="0">
                <a:latin typeface="Calibri" panose="020F0502020204030204" pitchFamily="34" charset="0"/>
                <a:cs typeface="Calibri" panose="020F0502020204030204" pitchFamily="34" charset="0"/>
              </a:rPr>
              <a:t>door te lezen bouw je nieuwe kennis op</a:t>
            </a:r>
          </a:p>
          <a:p>
            <a:pPr marL="514350" indent="-514350">
              <a:buFont typeface="+mj-lt"/>
              <a:buAutoNum type="arabicPeriod"/>
            </a:pPr>
            <a:r>
              <a:rPr lang="nl-NL" dirty="0">
                <a:latin typeface="Calibri" panose="020F0502020204030204" pitchFamily="34" charset="0"/>
                <a:cs typeface="Calibri" panose="020F0502020204030204" pitchFamily="34" charset="0"/>
              </a:rPr>
              <a:t>daardoor kun je teksten op een steeds hoger niveau lezen</a:t>
            </a:r>
          </a:p>
          <a:p>
            <a:pPr marL="514350" indent="-514350">
              <a:buFont typeface="+mj-lt"/>
              <a:buAutoNum type="arabicPeriod"/>
            </a:pPr>
            <a:r>
              <a:rPr lang="nl-NL" dirty="0">
                <a:latin typeface="Calibri" panose="020F0502020204030204" pitchFamily="34" charset="0"/>
                <a:cs typeface="Calibri" panose="020F0502020204030204" pitchFamily="34" charset="0"/>
              </a:rPr>
              <a:t>daardoor gaat lezen steeds makkelijker</a:t>
            </a:r>
          </a:p>
          <a:p>
            <a:pPr marL="514350" indent="-514350">
              <a:buFont typeface="+mj-lt"/>
              <a:buAutoNum type="arabicPeriod"/>
            </a:pPr>
            <a:r>
              <a:rPr lang="nl-NL" dirty="0">
                <a:latin typeface="Calibri" panose="020F0502020204030204" pitchFamily="34" charset="0"/>
                <a:cs typeface="Calibri" panose="020F0502020204030204" pitchFamily="34" charset="0"/>
              </a:rPr>
              <a:t>daardoor krijg je meer plezier in lezen</a:t>
            </a:r>
          </a:p>
          <a:p>
            <a:pPr marL="514350" indent="-514350">
              <a:buFont typeface="+mj-lt"/>
              <a:buAutoNum type="arabicPeriod"/>
            </a:pPr>
            <a:r>
              <a:rPr lang="nl-NL" dirty="0">
                <a:latin typeface="Calibri" panose="020F0502020204030204" pitchFamily="34" charset="0"/>
                <a:cs typeface="Calibri" panose="020F0502020204030204" pitchFamily="34" charset="0"/>
              </a:rPr>
              <a:t>daardoor ga je meer lezen</a:t>
            </a:r>
          </a:p>
          <a:p>
            <a:pPr marL="514350" indent="-514350">
              <a:buFont typeface="+mj-lt"/>
              <a:buAutoNum type="arabicPeriod"/>
            </a:pPr>
            <a:r>
              <a:rPr lang="nl-NL" dirty="0">
                <a:latin typeface="Calibri" panose="020F0502020204030204" pitchFamily="34" charset="0"/>
                <a:cs typeface="Calibri" panose="020F0502020204030204" pitchFamily="34" charset="0"/>
              </a:rPr>
              <a:t>daardoor ga je hogere resultaten halen op school</a:t>
            </a:r>
          </a:p>
          <a:p>
            <a:pPr marL="514350" indent="-514350">
              <a:buFont typeface="+mj-lt"/>
              <a:buAutoNum type="arabicPeriod"/>
            </a:pPr>
            <a:endParaRPr lang="nl-NL" dirty="0"/>
          </a:p>
          <a:p>
            <a:pPr marL="0" indent="0">
              <a:buNone/>
            </a:pPr>
            <a:endParaRPr lang="nl-NL" b="1" dirty="0"/>
          </a:p>
          <a:p>
            <a:endParaRPr lang="en-US" dirty="0"/>
          </a:p>
          <a:p>
            <a:endParaRPr lang="en-US" dirty="0"/>
          </a:p>
          <a:p>
            <a:endParaRPr lang="en-US" dirty="0"/>
          </a:p>
        </p:txBody>
      </p:sp>
    </p:spTree>
    <p:extLst>
      <p:ext uri="{BB962C8B-B14F-4D97-AF65-F5344CB8AC3E}">
        <p14:creationId xmlns:p14="http://schemas.microsoft.com/office/powerpoint/2010/main" val="32934247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D75A6-E717-407D-ACF0-EA640361FC95}"/>
              </a:ext>
            </a:extLst>
          </p:cNvPr>
          <p:cNvSpPr>
            <a:spLocks noGrp="1"/>
          </p:cNvSpPr>
          <p:nvPr>
            <p:ph type="title"/>
          </p:nvPr>
        </p:nvSpPr>
        <p:spPr/>
        <p:txBody>
          <a:bodyPr/>
          <a:lstStyle/>
          <a:p>
            <a:r>
              <a:rPr lang="nl-NL" dirty="0">
                <a:latin typeface="Calibri" panose="020F0502020204030204" pitchFamily="34" charset="0"/>
                <a:cs typeface="Calibri" panose="020F0502020204030204" pitchFamily="34" charset="0"/>
              </a:rPr>
              <a:t>Leesdoel en leesstrategieën </a:t>
            </a:r>
          </a:p>
        </p:txBody>
      </p:sp>
      <p:sp>
        <p:nvSpPr>
          <p:cNvPr id="3" name="Content Placeholder 2">
            <a:extLst>
              <a:ext uri="{FF2B5EF4-FFF2-40B4-BE49-F238E27FC236}">
                <a16:creationId xmlns:a16="http://schemas.microsoft.com/office/drawing/2014/main" id="{8ADD7E19-DEDE-43D6-874B-1E7FB3D6B449}"/>
              </a:ext>
            </a:extLst>
          </p:cNvPr>
          <p:cNvSpPr>
            <a:spLocks noGrp="1"/>
          </p:cNvSpPr>
          <p:nvPr>
            <p:ph idx="1"/>
          </p:nvPr>
        </p:nvSpPr>
        <p:spPr/>
        <p:txBody>
          <a:bodyPr vert="horz" lIns="91440" tIns="45720" rIns="91440" bIns="45720" rtlCol="0" anchor="t">
            <a:normAutofit fontScale="92500" lnSpcReduction="10000"/>
          </a:bodyPr>
          <a:lstStyle/>
          <a:p>
            <a:pPr marL="0" indent="0">
              <a:buNone/>
            </a:pPr>
            <a:r>
              <a:rPr lang="nl-NL" b="1" dirty="0">
                <a:latin typeface="Calibri" panose="020F0502020204030204" pitchFamily="34" charset="0"/>
                <a:cs typeface="Calibri" panose="020F0502020204030204" pitchFamily="34" charset="0"/>
              </a:rPr>
              <a:t>Hoe je een tekst leest, hangt af van je doel. </a:t>
            </a:r>
          </a:p>
          <a:p>
            <a:pPr marL="0" indent="0">
              <a:buNone/>
            </a:pPr>
            <a:endParaRPr lang="nl-NL" dirty="0">
              <a:latin typeface="Calibri" panose="020F0502020204030204" pitchFamily="34" charset="0"/>
              <a:cs typeface="Calibri" panose="020F0502020204030204" pitchFamily="34" charset="0"/>
            </a:endParaRPr>
          </a:p>
          <a:p>
            <a:pPr marL="0" indent="0">
              <a:buNone/>
            </a:pPr>
            <a:r>
              <a:rPr lang="nl-NL" dirty="0">
                <a:latin typeface="Calibri" panose="020F0502020204030204" pitchFamily="34" charset="0"/>
                <a:cs typeface="Calibri" panose="020F0502020204030204" pitchFamily="34" charset="0"/>
              </a:rPr>
              <a:t>Je leest bijvoorbeeld, omdat je: </a:t>
            </a:r>
          </a:p>
          <a:p>
            <a:r>
              <a:rPr lang="nl-NL" dirty="0">
                <a:latin typeface="Calibri" panose="020F0502020204030204" pitchFamily="34" charset="0"/>
                <a:cs typeface="Calibri" panose="020F0502020204030204" pitchFamily="34" charset="0"/>
              </a:rPr>
              <a:t>iets moet leren voor een toets;</a:t>
            </a:r>
          </a:p>
          <a:p>
            <a:r>
              <a:rPr lang="nl-NL" dirty="0">
                <a:latin typeface="Calibri" panose="020F0502020204030204" pitchFamily="34" charset="0"/>
                <a:cs typeface="Calibri" panose="020F0502020204030204" pitchFamily="34" charset="0"/>
              </a:rPr>
              <a:t>wilt weten of een bepaalde uitspraak wel klopt;</a:t>
            </a:r>
          </a:p>
          <a:p>
            <a:r>
              <a:rPr lang="nl-NL" dirty="0">
                <a:latin typeface="Calibri" panose="020F0502020204030204" pitchFamily="34" charset="0"/>
                <a:cs typeface="Calibri" panose="020F0502020204030204" pitchFamily="34" charset="0"/>
              </a:rPr>
              <a:t>iets wilt weten over een bepaald onderwerp.</a:t>
            </a:r>
          </a:p>
          <a:p>
            <a:pPr marL="0" indent="0">
              <a:buNone/>
            </a:pPr>
            <a:endParaRPr lang="nl-NL" dirty="0">
              <a:latin typeface="Calibri" panose="020F0502020204030204" pitchFamily="34" charset="0"/>
              <a:cs typeface="Calibri" panose="020F0502020204030204" pitchFamily="34" charset="0"/>
            </a:endParaRPr>
          </a:p>
          <a:p>
            <a:pPr marL="0" indent="0">
              <a:buNone/>
            </a:pPr>
            <a:r>
              <a:rPr lang="nl-NL" dirty="0">
                <a:latin typeface="Calibri" panose="020F0502020204030204" pitchFamily="34" charset="0"/>
                <a:cs typeface="Calibri" panose="020F0502020204030204" pitchFamily="34" charset="0"/>
              </a:rPr>
              <a:t>Zodra je je leesdoel voor ogen hebt, weet je welke leesstrategie je moet toepassen. </a:t>
            </a:r>
          </a:p>
          <a:p>
            <a:endParaRPr lang="nl-NL" dirty="0"/>
          </a:p>
          <a:p>
            <a:endParaRPr lang="en-US" dirty="0"/>
          </a:p>
          <a:p>
            <a:endParaRPr lang="en-US" dirty="0"/>
          </a:p>
          <a:p>
            <a:endParaRPr lang="en-US" dirty="0"/>
          </a:p>
        </p:txBody>
      </p:sp>
    </p:spTree>
    <p:extLst>
      <p:ext uri="{BB962C8B-B14F-4D97-AF65-F5344CB8AC3E}">
        <p14:creationId xmlns:p14="http://schemas.microsoft.com/office/powerpoint/2010/main" val="15705072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E4062A-924B-46B9-9710-B1E833718B91}"/>
              </a:ext>
            </a:extLst>
          </p:cNvPr>
          <p:cNvSpPr>
            <a:spLocks noGrp="1"/>
          </p:cNvSpPr>
          <p:nvPr>
            <p:ph type="title"/>
          </p:nvPr>
        </p:nvSpPr>
        <p:spPr>
          <a:xfrm>
            <a:off x="1188069" y="381935"/>
            <a:ext cx="4008583" cy="5974414"/>
          </a:xfrm>
        </p:spPr>
        <p:txBody>
          <a:bodyPr anchor="ctr">
            <a:normAutofit/>
          </a:bodyPr>
          <a:lstStyle/>
          <a:p>
            <a:r>
              <a:rPr lang="nl-NL" sz="4000" dirty="0">
                <a:solidFill>
                  <a:schemeClr val="bg1"/>
                </a:solidFill>
              </a:rPr>
              <a:t>Leesstrategieën </a:t>
            </a:r>
            <a:r>
              <a:rPr lang="nl-NL" sz="1800" dirty="0">
                <a:solidFill>
                  <a:schemeClr val="bg1"/>
                </a:solidFill>
              </a:rPr>
              <a:t>= verschillende manieren om te  lezen </a:t>
            </a:r>
          </a:p>
        </p:txBody>
      </p:sp>
      <p:sp>
        <p:nvSpPr>
          <p:cNvPr id="1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bg1"/>
          </a:solid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bg1"/>
          </a:solidFill>
          <a:ln w="516" cap="flat">
            <a:noFill/>
            <a:prstDash val="solid"/>
            <a:miter/>
          </a:ln>
        </p:spPr>
        <p:txBody>
          <a:bodyPr rtlCol="0" anchor="ctr"/>
          <a:lstStyle/>
          <a:p>
            <a:endParaRPr lang="en-US"/>
          </a:p>
        </p:txBody>
      </p:sp>
      <p:sp>
        <p:nvSpPr>
          <p:cNvPr id="16"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bg1"/>
          </a:solidFill>
          <a:ln w="751" cap="flat">
            <a:noFill/>
            <a:prstDash val="solid"/>
            <a:miter/>
          </a:ln>
        </p:spPr>
        <p:txBody>
          <a:bodyPr rtlCol="0" anchor="ctr"/>
          <a:lstStyle/>
          <a:p>
            <a:endParaRPr lang="en-US"/>
          </a:p>
        </p:txBody>
      </p:sp>
      <p:sp>
        <p:nvSpPr>
          <p:cNvPr id="3" name="Content Placeholder 2">
            <a:extLst>
              <a:ext uri="{FF2B5EF4-FFF2-40B4-BE49-F238E27FC236}">
                <a16:creationId xmlns:a16="http://schemas.microsoft.com/office/drawing/2014/main" id="{72793BBF-D475-4FC9-BF3A-9C573EB547AA}"/>
              </a:ext>
            </a:extLst>
          </p:cNvPr>
          <p:cNvSpPr>
            <a:spLocks noGrp="1"/>
          </p:cNvSpPr>
          <p:nvPr>
            <p:ph idx="1"/>
          </p:nvPr>
        </p:nvSpPr>
        <p:spPr>
          <a:xfrm>
            <a:off x="6096000" y="381935"/>
            <a:ext cx="4986955" cy="5974415"/>
          </a:xfrm>
        </p:spPr>
        <p:txBody>
          <a:bodyPr vert="horz" lIns="91440" tIns="45720" rIns="91440" bIns="45720" rtlCol="0" anchor="ctr">
            <a:normAutofit/>
          </a:bodyPr>
          <a:lstStyle/>
          <a:p>
            <a:pPr marL="0" indent="0">
              <a:buNone/>
            </a:pPr>
            <a:r>
              <a:rPr lang="en-US" sz="2800" b="1" dirty="0">
                <a:latin typeface="Calibri" panose="020F0502020204030204" pitchFamily="34" charset="0"/>
                <a:cs typeface="Calibri" panose="020F0502020204030204" pitchFamily="34" charset="0"/>
              </a:rPr>
              <a:t>Wat is je </a:t>
            </a:r>
            <a:r>
              <a:rPr lang="en-US" sz="2800" b="1" dirty="0" err="1">
                <a:latin typeface="Calibri" panose="020F0502020204030204" pitchFamily="34" charset="0"/>
                <a:cs typeface="Calibri" panose="020F0502020204030204" pitchFamily="34" charset="0"/>
              </a:rPr>
              <a:t>leesdoel</a:t>
            </a:r>
            <a:r>
              <a:rPr lang="en-US" sz="2800" b="1" dirty="0">
                <a:latin typeface="Calibri" panose="020F0502020204030204" pitchFamily="34" charset="0"/>
                <a:cs typeface="Calibri" panose="020F0502020204030204" pitchFamily="34" charset="0"/>
              </a:rPr>
              <a:t>? </a:t>
            </a:r>
          </a:p>
          <a:p>
            <a:pPr marL="0" indent="0">
              <a:buNone/>
            </a:pPr>
            <a:endParaRPr lang="en-US" sz="2800" b="1" dirty="0">
              <a:latin typeface="Calibri" panose="020F0502020204030204" pitchFamily="34" charset="0"/>
              <a:cs typeface="Calibri" panose="020F0502020204030204" pitchFamily="34" charset="0"/>
            </a:endParaRPr>
          </a:p>
          <a:p>
            <a:pPr marL="0" indent="0">
              <a:buNone/>
            </a:pPr>
            <a:r>
              <a:rPr lang="en-US" sz="2800" b="1" dirty="0">
                <a:latin typeface="Calibri"/>
                <a:ea typeface="Calibri"/>
                <a:cs typeface="Calibri"/>
              </a:rPr>
              <a:t>Welke </a:t>
            </a:r>
            <a:r>
              <a:rPr lang="en-US" sz="2800" b="1" dirty="0" err="1">
                <a:latin typeface="Calibri"/>
                <a:ea typeface="Calibri"/>
                <a:cs typeface="Calibri"/>
              </a:rPr>
              <a:t>leesstrategie</a:t>
            </a:r>
            <a:r>
              <a:rPr lang="en-US" sz="2800" b="1" dirty="0">
                <a:latin typeface="Calibri"/>
                <a:ea typeface="Calibri"/>
                <a:cs typeface="Calibri"/>
              </a:rPr>
              <a:t> past </a:t>
            </a:r>
            <a:r>
              <a:rPr lang="en-US" sz="2800" b="1" dirty="0" err="1">
                <a:latin typeface="Calibri"/>
                <a:ea typeface="Calibri"/>
                <a:cs typeface="Calibri"/>
              </a:rPr>
              <a:t>daarbij</a:t>
            </a:r>
            <a:r>
              <a:rPr lang="en-US" sz="2800" b="1" dirty="0">
                <a:latin typeface="Calibri"/>
                <a:ea typeface="Calibri"/>
                <a:cs typeface="Calibri"/>
              </a:rPr>
              <a:t>?</a:t>
            </a:r>
            <a:endParaRPr lang="en-US" sz="2800" dirty="0">
              <a:latin typeface="Calibri"/>
              <a:ea typeface="Calibri"/>
              <a:cs typeface="Calibri"/>
            </a:endParaRPr>
          </a:p>
          <a:p>
            <a:r>
              <a:rPr lang="en-US" sz="2800" err="1">
                <a:latin typeface="Calibri"/>
                <a:ea typeface="Calibri"/>
                <a:cs typeface="Calibri"/>
              </a:rPr>
              <a:t>Globaal</a:t>
            </a:r>
            <a:r>
              <a:rPr lang="en-US" sz="2800" dirty="0">
                <a:latin typeface="Calibri"/>
                <a:ea typeface="Calibri"/>
                <a:cs typeface="Calibri"/>
              </a:rPr>
              <a:t> </a:t>
            </a:r>
            <a:r>
              <a:rPr lang="en-US" sz="2800" err="1">
                <a:latin typeface="Calibri"/>
                <a:ea typeface="Calibri"/>
                <a:cs typeface="Calibri"/>
              </a:rPr>
              <a:t>lezen</a:t>
            </a:r>
            <a:r>
              <a:rPr lang="en-US" sz="2800">
                <a:latin typeface="Calibri"/>
                <a:ea typeface="Calibri"/>
                <a:cs typeface="Calibri"/>
              </a:rPr>
              <a:t> </a:t>
            </a:r>
            <a:endParaRPr lang="en-US" sz="2800">
              <a:latin typeface="Calibri" panose="020F0502020204030204" pitchFamily="34" charset="0"/>
              <a:ea typeface="Calibri"/>
              <a:cs typeface="Calibri" panose="020F0502020204030204" pitchFamily="34" charset="0"/>
            </a:endParaRPr>
          </a:p>
          <a:p>
            <a:r>
              <a:rPr lang="en-US" sz="2800" dirty="0" err="1">
                <a:latin typeface="Calibri"/>
                <a:ea typeface="Calibri"/>
                <a:cs typeface="Calibri"/>
              </a:rPr>
              <a:t>Intensief</a:t>
            </a:r>
            <a:r>
              <a:rPr lang="en-US" sz="2800" dirty="0">
                <a:latin typeface="Calibri"/>
                <a:ea typeface="Calibri"/>
                <a:cs typeface="Calibri"/>
              </a:rPr>
              <a:t> </a:t>
            </a:r>
            <a:r>
              <a:rPr lang="en-US" sz="2800" dirty="0" err="1">
                <a:latin typeface="Calibri"/>
                <a:ea typeface="Calibri"/>
                <a:cs typeface="Calibri"/>
              </a:rPr>
              <a:t>lezen</a:t>
            </a:r>
            <a:r>
              <a:rPr lang="en-US" sz="2800" dirty="0">
                <a:latin typeface="Calibri"/>
                <a:ea typeface="Calibri"/>
                <a:cs typeface="Calibri"/>
              </a:rPr>
              <a:t> </a:t>
            </a:r>
            <a:endParaRPr lang="en-US" sz="2800">
              <a:latin typeface="Calibri" panose="020F0502020204030204" pitchFamily="34" charset="0"/>
              <a:ea typeface="Calibri"/>
              <a:cs typeface="Calibri" panose="020F0502020204030204" pitchFamily="34" charset="0"/>
            </a:endParaRPr>
          </a:p>
          <a:p>
            <a:r>
              <a:rPr lang="en-US" sz="2800" dirty="0" err="1">
                <a:latin typeface="Calibri"/>
                <a:ea typeface="Calibri"/>
                <a:cs typeface="Calibri"/>
              </a:rPr>
              <a:t>Zoekend</a:t>
            </a:r>
            <a:r>
              <a:rPr lang="en-US" sz="2800" dirty="0">
                <a:latin typeface="Calibri"/>
                <a:ea typeface="Calibri"/>
                <a:cs typeface="Calibri"/>
              </a:rPr>
              <a:t> </a:t>
            </a:r>
            <a:r>
              <a:rPr lang="en-US" sz="2800" dirty="0" err="1">
                <a:latin typeface="Calibri"/>
                <a:ea typeface="Calibri"/>
                <a:cs typeface="Calibri"/>
              </a:rPr>
              <a:t>lezen</a:t>
            </a:r>
            <a:r>
              <a:rPr lang="en-US" sz="2800" dirty="0">
                <a:latin typeface="Calibri"/>
                <a:ea typeface="Calibri"/>
                <a:cs typeface="Calibri"/>
              </a:rPr>
              <a:t> </a:t>
            </a:r>
          </a:p>
          <a:p>
            <a:r>
              <a:rPr lang="en-US" sz="2800" dirty="0">
                <a:latin typeface="Calibri"/>
                <a:ea typeface="Calibri"/>
                <a:cs typeface="Calibri"/>
              </a:rPr>
              <a:t>Lerend </a:t>
            </a:r>
            <a:r>
              <a:rPr lang="en-US" sz="2800" dirty="0" err="1">
                <a:latin typeface="Calibri"/>
                <a:ea typeface="Calibri"/>
                <a:cs typeface="Calibri"/>
              </a:rPr>
              <a:t>lezen</a:t>
            </a:r>
            <a:r>
              <a:rPr lang="en-US" sz="2800" dirty="0">
                <a:latin typeface="Calibri"/>
                <a:ea typeface="Calibri"/>
                <a:cs typeface="Calibri"/>
              </a:rPr>
              <a:t> </a:t>
            </a:r>
          </a:p>
          <a:p>
            <a:r>
              <a:rPr lang="en-US" sz="2800" dirty="0" err="1">
                <a:latin typeface="Calibri"/>
                <a:ea typeface="Calibri"/>
                <a:cs typeface="Calibri"/>
              </a:rPr>
              <a:t>Kritisch</a:t>
            </a:r>
            <a:r>
              <a:rPr lang="en-US" sz="2800" dirty="0">
                <a:latin typeface="Calibri"/>
                <a:ea typeface="Calibri"/>
                <a:cs typeface="Calibri"/>
              </a:rPr>
              <a:t> </a:t>
            </a:r>
            <a:r>
              <a:rPr lang="en-US" sz="2800" dirty="0" err="1">
                <a:latin typeface="Calibri"/>
                <a:ea typeface="Calibri"/>
                <a:cs typeface="Calibri"/>
              </a:rPr>
              <a:t>lezen</a:t>
            </a:r>
            <a:r>
              <a:rPr lang="en-US" sz="2800" dirty="0">
                <a:latin typeface="Calibri"/>
                <a:ea typeface="Calibri"/>
                <a:cs typeface="Calibri"/>
              </a:rPr>
              <a:t> </a:t>
            </a:r>
          </a:p>
        </p:txBody>
      </p:sp>
      <p:cxnSp>
        <p:nvCxnSpPr>
          <p:cNvPr id="18" name="Straight Connector 17">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2"/>
                </a:gs>
                <a:gs pos="100000">
                  <a:schemeClr val="accent4"/>
                </a:gs>
              </a:gsLst>
              <a:lin ang="54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6455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10926-2177-4785-99E5-80A010D29EBF}"/>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H17 </a:t>
            </a:r>
            <a:r>
              <a:rPr lang="en-US" dirty="0" err="1">
                <a:latin typeface="Calibri" panose="020F0502020204030204" pitchFamily="34" charset="0"/>
                <a:cs typeface="Calibri" panose="020F0502020204030204" pitchFamily="34" charset="0"/>
              </a:rPr>
              <a:t>Globaal</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lezen</a:t>
            </a:r>
            <a:endParaRPr lang="en-US"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D6EA605E-3AB9-49F0-9C24-A3A9A4C3BD6D}"/>
              </a:ext>
            </a:extLst>
          </p:cNvPr>
          <p:cNvSpPr>
            <a:spLocks noGrp="1"/>
          </p:cNvSpPr>
          <p:nvPr>
            <p:ph idx="1"/>
          </p:nvPr>
        </p:nvSpPr>
        <p:spPr/>
        <p:txBody>
          <a:bodyPr vert="horz" lIns="91440" tIns="45720" rIns="91440" bIns="45720" rtlCol="0" anchor="t">
            <a:normAutofit fontScale="70000" lnSpcReduction="20000"/>
          </a:bodyPr>
          <a:lstStyle/>
          <a:p>
            <a:pPr marL="0" indent="0">
              <a:buNone/>
            </a:pPr>
            <a:r>
              <a:rPr lang="en-US" sz="3000" i="1" dirty="0">
                <a:latin typeface="Calibri" panose="020F0502020204030204" pitchFamily="34" charset="0"/>
                <a:ea typeface="+mn-lt"/>
                <a:cs typeface="Calibri" panose="020F0502020204030204" pitchFamily="34" charset="0"/>
              </a:rPr>
              <a:t>Je </a:t>
            </a:r>
            <a:r>
              <a:rPr lang="en-US" sz="3000" i="1" dirty="0" err="1">
                <a:latin typeface="Calibri" panose="020F0502020204030204" pitchFamily="34" charset="0"/>
                <a:ea typeface="+mn-lt"/>
                <a:cs typeface="Calibri" panose="020F0502020204030204" pitchFamily="34" charset="0"/>
              </a:rPr>
              <a:t>leert</a:t>
            </a:r>
            <a:r>
              <a:rPr lang="en-US" sz="3000" i="1" dirty="0">
                <a:latin typeface="Calibri" panose="020F0502020204030204" pitchFamily="34" charset="0"/>
                <a:ea typeface="+mn-lt"/>
                <a:cs typeface="Calibri" panose="020F0502020204030204" pitchFamily="34" charset="0"/>
              </a:rPr>
              <a:t> wat </a:t>
            </a:r>
            <a:r>
              <a:rPr lang="en-US" sz="3000" i="1" dirty="0" err="1">
                <a:latin typeface="Calibri" panose="020F0502020204030204" pitchFamily="34" charset="0"/>
                <a:ea typeface="+mn-lt"/>
                <a:cs typeface="Calibri" panose="020F0502020204030204" pitchFamily="34" charset="0"/>
              </a:rPr>
              <a:t>leesstrategieën</a:t>
            </a:r>
            <a:r>
              <a:rPr lang="en-US" sz="3000" i="1" dirty="0">
                <a:latin typeface="Calibri" panose="020F0502020204030204" pitchFamily="34" charset="0"/>
                <a:ea typeface="+mn-lt"/>
                <a:cs typeface="Calibri" panose="020F0502020204030204" pitchFamily="34" charset="0"/>
              </a:rPr>
              <a:t> </a:t>
            </a:r>
            <a:r>
              <a:rPr lang="en-US" sz="3000" i="1" dirty="0" err="1">
                <a:latin typeface="Calibri" panose="020F0502020204030204" pitchFamily="34" charset="0"/>
                <a:ea typeface="+mn-lt"/>
                <a:cs typeface="Calibri" panose="020F0502020204030204" pitchFamily="34" charset="0"/>
              </a:rPr>
              <a:t>zijn</a:t>
            </a:r>
            <a:r>
              <a:rPr lang="en-US" sz="3000" i="1" dirty="0">
                <a:latin typeface="Calibri" panose="020F0502020204030204" pitchFamily="34" charset="0"/>
                <a:ea typeface="+mn-lt"/>
                <a:cs typeface="Calibri" panose="020F0502020204030204" pitchFamily="34" charset="0"/>
              </a:rPr>
              <a:t> </a:t>
            </a:r>
            <a:r>
              <a:rPr lang="en-US" sz="3000" i="1" dirty="0" err="1">
                <a:latin typeface="Calibri" panose="020F0502020204030204" pitchFamily="34" charset="0"/>
                <a:ea typeface="+mn-lt"/>
                <a:cs typeface="Calibri" panose="020F0502020204030204" pitchFamily="34" charset="0"/>
              </a:rPr>
              <a:t>en</a:t>
            </a:r>
            <a:r>
              <a:rPr lang="en-US" sz="3000" i="1" dirty="0">
                <a:latin typeface="Calibri" panose="020F0502020204030204" pitchFamily="34" charset="0"/>
                <a:ea typeface="+mn-lt"/>
                <a:cs typeface="Calibri" panose="020F0502020204030204" pitchFamily="34" charset="0"/>
              </a:rPr>
              <a:t> hoe je </a:t>
            </a:r>
            <a:r>
              <a:rPr lang="en-US" sz="3000" i="1" dirty="0" err="1">
                <a:latin typeface="Calibri" panose="020F0502020204030204" pitchFamily="34" charset="0"/>
                <a:ea typeface="+mn-lt"/>
                <a:cs typeface="Calibri" panose="020F0502020204030204" pitchFamily="34" charset="0"/>
              </a:rPr>
              <a:t>globaal</a:t>
            </a:r>
            <a:r>
              <a:rPr lang="en-US" sz="3000" i="1" dirty="0">
                <a:latin typeface="Calibri" panose="020F0502020204030204" pitchFamily="34" charset="0"/>
                <a:ea typeface="+mn-lt"/>
                <a:cs typeface="Calibri" panose="020F0502020204030204" pitchFamily="34" charset="0"/>
              </a:rPr>
              <a:t> </a:t>
            </a:r>
            <a:r>
              <a:rPr lang="en-US" sz="3000" i="1" dirty="0" err="1">
                <a:latin typeface="Calibri" panose="020F0502020204030204" pitchFamily="34" charset="0"/>
                <a:ea typeface="+mn-lt"/>
                <a:cs typeface="Calibri" panose="020F0502020204030204" pitchFamily="34" charset="0"/>
              </a:rPr>
              <a:t>een</a:t>
            </a:r>
            <a:r>
              <a:rPr lang="en-US" sz="3000" i="1" dirty="0">
                <a:latin typeface="Calibri" panose="020F0502020204030204" pitchFamily="34" charset="0"/>
                <a:ea typeface="+mn-lt"/>
                <a:cs typeface="Calibri" panose="020F0502020204030204" pitchFamily="34" charset="0"/>
              </a:rPr>
              <a:t> </a:t>
            </a:r>
            <a:r>
              <a:rPr lang="en-US" sz="3000" i="1" dirty="0" err="1">
                <a:latin typeface="Calibri" panose="020F0502020204030204" pitchFamily="34" charset="0"/>
                <a:ea typeface="+mn-lt"/>
                <a:cs typeface="Calibri" panose="020F0502020204030204" pitchFamily="34" charset="0"/>
              </a:rPr>
              <a:t>tekst</a:t>
            </a:r>
            <a:r>
              <a:rPr lang="en-US" sz="3000" i="1" dirty="0">
                <a:latin typeface="Calibri" panose="020F0502020204030204" pitchFamily="34" charset="0"/>
                <a:ea typeface="+mn-lt"/>
                <a:cs typeface="Calibri" panose="020F0502020204030204" pitchFamily="34" charset="0"/>
              </a:rPr>
              <a:t> </a:t>
            </a:r>
            <a:r>
              <a:rPr lang="en-US" sz="3000" i="1" dirty="0" err="1">
                <a:latin typeface="Calibri" panose="020F0502020204030204" pitchFamily="34" charset="0"/>
                <a:ea typeface="+mn-lt"/>
                <a:cs typeface="Calibri" panose="020F0502020204030204" pitchFamily="34" charset="0"/>
              </a:rPr>
              <a:t>kunt</a:t>
            </a:r>
            <a:r>
              <a:rPr lang="en-US" sz="3000" i="1" dirty="0">
                <a:latin typeface="Calibri" panose="020F0502020204030204" pitchFamily="34" charset="0"/>
                <a:ea typeface="+mn-lt"/>
                <a:cs typeface="Calibri" panose="020F0502020204030204" pitchFamily="34" charset="0"/>
              </a:rPr>
              <a:t> </a:t>
            </a:r>
            <a:r>
              <a:rPr lang="en-US" sz="3000" i="1" dirty="0" err="1">
                <a:latin typeface="Calibri" panose="020F0502020204030204" pitchFamily="34" charset="0"/>
                <a:ea typeface="+mn-lt"/>
                <a:cs typeface="Calibri" panose="020F0502020204030204" pitchFamily="34" charset="0"/>
              </a:rPr>
              <a:t>lezen</a:t>
            </a:r>
            <a:r>
              <a:rPr lang="en-US" sz="3000" i="1" dirty="0">
                <a:latin typeface="Calibri" panose="020F0502020204030204" pitchFamily="34" charset="0"/>
                <a:ea typeface="+mn-lt"/>
                <a:cs typeface="Calibri" panose="020F0502020204030204" pitchFamily="34" charset="0"/>
              </a:rPr>
              <a:t>. </a:t>
            </a:r>
          </a:p>
          <a:p>
            <a:pPr marL="0" indent="0">
              <a:buNone/>
            </a:pPr>
            <a:endParaRPr lang="en-US" sz="3000" dirty="0">
              <a:latin typeface="Calibri" panose="020F0502020204030204" pitchFamily="34" charset="0"/>
              <a:ea typeface="+mn-lt"/>
              <a:cs typeface="Calibri" panose="020F0502020204030204" pitchFamily="34" charset="0"/>
            </a:endParaRPr>
          </a:p>
          <a:p>
            <a:pPr marL="0" indent="0">
              <a:buNone/>
            </a:pPr>
            <a:r>
              <a:rPr lang="en-US" sz="3000" dirty="0">
                <a:latin typeface="Calibri" panose="020F0502020204030204" pitchFamily="34" charset="0"/>
                <a:ea typeface="+mn-lt"/>
                <a:cs typeface="Calibri" panose="020F0502020204030204" pitchFamily="34" charset="0"/>
              </a:rPr>
              <a:t>Als je </a:t>
            </a:r>
            <a:r>
              <a:rPr lang="en-US" sz="3000" dirty="0" err="1">
                <a:latin typeface="Calibri" panose="020F0502020204030204" pitchFamily="34" charset="0"/>
                <a:ea typeface="+mn-lt"/>
                <a:cs typeface="Calibri" panose="020F0502020204030204" pitchFamily="34" charset="0"/>
              </a:rPr>
              <a:t>snel</a:t>
            </a:r>
            <a:r>
              <a:rPr lang="en-US" sz="3000" dirty="0">
                <a:latin typeface="Calibri" panose="020F0502020204030204" pitchFamily="34" charset="0"/>
                <a:ea typeface="+mn-lt"/>
                <a:cs typeface="Calibri" panose="020F0502020204030204" pitchFamily="34" charset="0"/>
              </a:rPr>
              <a:t> wilt </a:t>
            </a:r>
            <a:r>
              <a:rPr lang="en-US" sz="3000" dirty="0" err="1">
                <a:latin typeface="Calibri" panose="020F0502020204030204" pitchFamily="34" charset="0"/>
                <a:ea typeface="+mn-lt"/>
                <a:cs typeface="Calibri" panose="020F0502020204030204" pitchFamily="34" charset="0"/>
              </a:rPr>
              <a:t>weten</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waarover</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een</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tekst</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gaat</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en</a:t>
            </a:r>
            <a:r>
              <a:rPr lang="en-US" sz="3000" dirty="0">
                <a:latin typeface="Calibri" panose="020F0502020204030204" pitchFamily="34" charset="0"/>
                <a:ea typeface="+mn-lt"/>
                <a:cs typeface="Calibri" panose="020F0502020204030204" pitchFamily="34" charset="0"/>
              </a:rPr>
              <a:t> of </a:t>
            </a:r>
            <a:r>
              <a:rPr lang="en-US" sz="3000" dirty="0" err="1">
                <a:latin typeface="Calibri" panose="020F0502020204030204" pitchFamily="34" charset="0"/>
                <a:ea typeface="+mn-lt"/>
                <a:cs typeface="Calibri" panose="020F0502020204030204" pitchFamily="34" charset="0"/>
              </a:rPr>
              <a:t>deze</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interessant</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voor</a:t>
            </a:r>
            <a:r>
              <a:rPr lang="en-US" sz="3000" dirty="0">
                <a:latin typeface="Calibri" panose="020F0502020204030204" pitchFamily="34" charset="0"/>
                <a:ea typeface="+mn-lt"/>
                <a:cs typeface="Calibri" panose="020F0502020204030204" pitchFamily="34" charset="0"/>
              </a:rPr>
              <a:t> je is, </a:t>
            </a:r>
            <a:r>
              <a:rPr lang="en-US" sz="3000" dirty="0" err="1">
                <a:latin typeface="Calibri" panose="020F0502020204030204" pitchFamily="34" charset="0"/>
                <a:ea typeface="+mn-lt"/>
                <a:cs typeface="Calibri" panose="020F0502020204030204" pitchFamily="34" charset="0"/>
              </a:rPr>
              <a:t>kun</a:t>
            </a:r>
            <a:r>
              <a:rPr lang="en-US" sz="3000" dirty="0">
                <a:latin typeface="Calibri" panose="020F0502020204030204" pitchFamily="34" charset="0"/>
                <a:ea typeface="+mn-lt"/>
                <a:cs typeface="Calibri" panose="020F0502020204030204" pitchFamily="34" charset="0"/>
              </a:rPr>
              <a:t> je </a:t>
            </a:r>
            <a:r>
              <a:rPr lang="en-US" sz="3000" dirty="0" err="1">
                <a:latin typeface="Calibri" panose="020F0502020204030204" pitchFamily="34" charset="0"/>
                <a:ea typeface="+mn-lt"/>
                <a:cs typeface="Calibri" panose="020F0502020204030204" pitchFamily="34" charset="0"/>
              </a:rPr>
              <a:t>een</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tekst</a:t>
            </a:r>
            <a:r>
              <a:rPr lang="en-US" sz="3000" dirty="0">
                <a:latin typeface="Calibri" panose="020F0502020204030204" pitchFamily="34" charset="0"/>
                <a:ea typeface="+mn-lt"/>
                <a:cs typeface="Calibri" panose="020F0502020204030204" pitchFamily="34" charset="0"/>
              </a:rPr>
              <a:t> </a:t>
            </a:r>
            <a:r>
              <a:rPr lang="en-US" sz="3000" b="1" dirty="0" err="1">
                <a:latin typeface="Calibri" panose="020F0502020204030204" pitchFamily="34" charset="0"/>
                <a:ea typeface="+mn-lt"/>
                <a:cs typeface="Calibri" panose="020F0502020204030204" pitchFamily="34" charset="0"/>
              </a:rPr>
              <a:t>globaal</a:t>
            </a:r>
            <a:r>
              <a:rPr lang="en-US" sz="3000" dirty="0">
                <a:latin typeface="Calibri" panose="020F0502020204030204" pitchFamily="34" charset="0"/>
                <a:ea typeface="+mn-lt"/>
                <a:cs typeface="Calibri" panose="020F0502020204030204" pitchFamily="34" charset="0"/>
              </a:rPr>
              <a:t> </a:t>
            </a:r>
            <a:r>
              <a:rPr lang="en-US" sz="3000" b="1" dirty="0" err="1">
                <a:latin typeface="Calibri" panose="020F0502020204030204" pitchFamily="34" charset="0"/>
                <a:ea typeface="+mn-lt"/>
                <a:cs typeface="Calibri" panose="020F0502020204030204" pitchFamily="34" charset="0"/>
              </a:rPr>
              <a:t>lezen</a:t>
            </a:r>
            <a:r>
              <a:rPr lang="en-US" sz="3000" dirty="0">
                <a:latin typeface="Calibri" panose="020F0502020204030204" pitchFamily="34" charset="0"/>
                <a:ea typeface="+mn-lt"/>
                <a:cs typeface="Calibri" panose="020F0502020204030204" pitchFamily="34" charset="0"/>
              </a:rPr>
              <a:t>. </a:t>
            </a:r>
          </a:p>
          <a:p>
            <a:pPr marL="0" indent="0">
              <a:buNone/>
            </a:pPr>
            <a:endParaRPr lang="en-US" sz="3000" dirty="0">
              <a:latin typeface="Calibri" panose="020F0502020204030204" pitchFamily="34" charset="0"/>
              <a:ea typeface="+mn-lt"/>
              <a:cs typeface="Calibri" panose="020F0502020204030204" pitchFamily="34" charset="0"/>
            </a:endParaRPr>
          </a:p>
          <a:p>
            <a:pPr marL="514350" indent="-514350">
              <a:buAutoNum type="arabicPeriod"/>
            </a:pPr>
            <a:r>
              <a:rPr lang="en-US" sz="3000" dirty="0">
                <a:latin typeface="Calibri" panose="020F0502020204030204" pitchFamily="34" charset="0"/>
                <a:ea typeface="+mn-lt"/>
                <a:cs typeface="Calibri" panose="020F0502020204030204" pitchFamily="34" charset="0"/>
              </a:rPr>
              <a:t>Lees de </a:t>
            </a:r>
            <a:r>
              <a:rPr lang="en-US" sz="3000" dirty="0" err="1">
                <a:latin typeface="Calibri" panose="020F0502020204030204" pitchFamily="34" charset="0"/>
                <a:ea typeface="+mn-lt"/>
                <a:cs typeface="Calibri" panose="020F0502020204030204" pitchFamily="34" charset="0"/>
              </a:rPr>
              <a:t>titel</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inleiding</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tussenkopjes</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eerste</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zinnen</a:t>
            </a:r>
            <a:r>
              <a:rPr lang="en-US" sz="3000" dirty="0">
                <a:latin typeface="Calibri" panose="020F0502020204030204" pitchFamily="34" charset="0"/>
                <a:ea typeface="+mn-lt"/>
                <a:cs typeface="Calibri" panose="020F0502020204030204" pitchFamily="34" charset="0"/>
              </a:rPr>
              <a:t> van </a:t>
            </a:r>
            <a:r>
              <a:rPr lang="en-US" sz="3000" dirty="0" err="1">
                <a:latin typeface="Calibri" panose="020F0502020204030204" pitchFamily="34" charset="0"/>
                <a:ea typeface="+mn-lt"/>
                <a:cs typeface="Calibri" panose="020F0502020204030204" pitchFamily="34" charset="0"/>
              </a:rPr>
              <a:t>alinea’s</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en</a:t>
            </a:r>
            <a:r>
              <a:rPr lang="en-US" sz="3000" dirty="0">
                <a:latin typeface="Calibri" panose="020F0502020204030204" pitchFamily="34" charset="0"/>
                <a:ea typeface="+mn-lt"/>
                <a:cs typeface="Calibri" panose="020F0502020204030204" pitchFamily="34" charset="0"/>
              </a:rPr>
              <a:t> de </a:t>
            </a:r>
            <a:r>
              <a:rPr lang="en-US" sz="3000" dirty="0" err="1">
                <a:latin typeface="Calibri" panose="020F0502020204030204" pitchFamily="34" charset="0"/>
                <a:ea typeface="+mn-lt"/>
                <a:cs typeface="Calibri" panose="020F0502020204030204" pitchFamily="34" charset="0"/>
              </a:rPr>
              <a:t>slotalinea</a:t>
            </a:r>
            <a:r>
              <a:rPr lang="en-US" sz="3000" dirty="0">
                <a:latin typeface="Calibri" panose="020F0502020204030204" pitchFamily="34" charset="0"/>
                <a:ea typeface="+mn-lt"/>
                <a:cs typeface="Calibri" panose="020F0502020204030204" pitchFamily="34" charset="0"/>
              </a:rPr>
              <a:t>.</a:t>
            </a:r>
            <a:endParaRPr lang="en-US" sz="3000" dirty="0">
              <a:latin typeface="Calibri" panose="020F0502020204030204" pitchFamily="34" charset="0"/>
              <a:cs typeface="Calibri" panose="020F0502020204030204" pitchFamily="34" charset="0"/>
            </a:endParaRPr>
          </a:p>
          <a:p>
            <a:pPr marL="514350" indent="-514350">
              <a:buAutoNum type="arabicPeriod"/>
            </a:pPr>
            <a:r>
              <a:rPr lang="en-US" sz="3000" dirty="0" err="1">
                <a:latin typeface="Calibri" panose="020F0502020204030204" pitchFamily="34" charset="0"/>
                <a:ea typeface="+mn-lt"/>
                <a:cs typeface="Calibri" panose="020F0502020204030204" pitchFamily="34" charset="0"/>
              </a:rPr>
              <a:t>Bekijk</a:t>
            </a:r>
            <a:r>
              <a:rPr lang="en-US" sz="3000" dirty="0">
                <a:latin typeface="Calibri" panose="020F0502020204030204" pitchFamily="34" charset="0"/>
                <a:ea typeface="+mn-lt"/>
                <a:cs typeface="Calibri" panose="020F0502020204030204" pitchFamily="34" charset="0"/>
              </a:rPr>
              <a:t> de </a:t>
            </a:r>
            <a:r>
              <a:rPr lang="en-US" sz="3000" dirty="0" err="1">
                <a:latin typeface="Calibri" panose="020F0502020204030204" pitchFamily="34" charset="0"/>
                <a:ea typeface="+mn-lt"/>
                <a:cs typeface="Calibri" panose="020F0502020204030204" pitchFamily="34" charset="0"/>
              </a:rPr>
              <a:t>afbeeldingen</a:t>
            </a:r>
            <a:r>
              <a:rPr lang="en-US" sz="3000" dirty="0">
                <a:latin typeface="Calibri" panose="020F0502020204030204" pitchFamily="34" charset="0"/>
                <a:ea typeface="+mn-lt"/>
                <a:cs typeface="Calibri" panose="020F0502020204030204" pitchFamily="34" charset="0"/>
              </a:rPr>
              <a:t>.</a:t>
            </a:r>
          </a:p>
          <a:p>
            <a:pPr marL="514350" indent="-514350">
              <a:buAutoNum type="arabicPeriod"/>
            </a:pPr>
            <a:r>
              <a:rPr lang="en-US" sz="3000" dirty="0" err="1">
                <a:latin typeface="Calibri" panose="020F0502020204030204" pitchFamily="34" charset="0"/>
                <a:ea typeface="+mn-lt"/>
                <a:cs typeface="Calibri" panose="020F0502020204030204" pitchFamily="34" charset="0"/>
              </a:rPr>
              <a:t>Bedenk</a:t>
            </a:r>
            <a:r>
              <a:rPr lang="en-US" sz="3000" dirty="0">
                <a:latin typeface="Calibri" panose="020F0502020204030204" pitchFamily="34" charset="0"/>
                <a:ea typeface="+mn-lt"/>
                <a:cs typeface="Calibri" panose="020F0502020204030204" pitchFamily="34" charset="0"/>
              </a:rPr>
              <a:t>: </a:t>
            </a:r>
          </a:p>
          <a:p>
            <a:pPr lvl="1"/>
            <a:r>
              <a:rPr lang="en-US" sz="3000" dirty="0">
                <a:latin typeface="Calibri" panose="020F0502020204030204" pitchFamily="34" charset="0"/>
                <a:ea typeface="+mn-lt"/>
                <a:cs typeface="Calibri" panose="020F0502020204030204" pitchFamily="34" charset="0"/>
              </a:rPr>
              <a:t>Wat </a:t>
            </a:r>
            <a:r>
              <a:rPr lang="en-US" sz="3000" dirty="0" err="1">
                <a:latin typeface="Calibri" panose="020F0502020204030204" pitchFamily="34" charset="0"/>
                <a:ea typeface="+mn-lt"/>
                <a:cs typeface="Calibri" panose="020F0502020204030204" pitchFamily="34" charset="0"/>
              </a:rPr>
              <a:t>weet</a:t>
            </a:r>
            <a:r>
              <a:rPr lang="en-US" sz="3000" dirty="0">
                <a:latin typeface="Calibri" panose="020F0502020204030204" pitchFamily="34" charset="0"/>
                <a:ea typeface="+mn-lt"/>
                <a:cs typeface="Calibri" panose="020F0502020204030204" pitchFamily="34" charset="0"/>
              </a:rPr>
              <a:t> je al over het </a:t>
            </a:r>
            <a:r>
              <a:rPr lang="en-US" sz="3000" dirty="0" err="1">
                <a:latin typeface="Calibri" panose="020F0502020204030204" pitchFamily="34" charset="0"/>
                <a:ea typeface="+mn-lt"/>
                <a:cs typeface="Calibri" panose="020F0502020204030204" pitchFamily="34" charset="0"/>
              </a:rPr>
              <a:t>onderwerp</a:t>
            </a:r>
            <a:r>
              <a:rPr lang="en-US" sz="3000" dirty="0">
                <a:latin typeface="Calibri" panose="020F0502020204030204" pitchFamily="34" charset="0"/>
                <a:ea typeface="+mn-lt"/>
                <a:cs typeface="Calibri" panose="020F0502020204030204" pitchFamily="34" charset="0"/>
              </a:rPr>
              <a:t>? </a:t>
            </a:r>
          </a:p>
          <a:p>
            <a:pPr lvl="1"/>
            <a:r>
              <a:rPr lang="en-US" sz="3000" dirty="0" err="1">
                <a:latin typeface="Calibri" panose="020F0502020204030204" pitchFamily="34" charset="0"/>
                <a:ea typeface="+mn-lt"/>
                <a:cs typeface="Calibri" panose="020F0502020204030204" pitchFamily="34" charset="0"/>
              </a:rPr>
              <a:t>Waar</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zou</a:t>
            </a:r>
            <a:r>
              <a:rPr lang="en-US" sz="3000" dirty="0">
                <a:latin typeface="Calibri" panose="020F0502020204030204" pitchFamily="34" charset="0"/>
                <a:ea typeface="+mn-lt"/>
                <a:cs typeface="Calibri" panose="020F0502020204030204" pitchFamily="34" charset="0"/>
              </a:rPr>
              <a:t> de </a:t>
            </a:r>
            <a:r>
              <a:rPr lang="en-US" sz="3000" dirty="0" err="1">
                <a:latin typeface="Calibri" panose="020F0502020204030204" pitchFamily="34" charset="0"/>
                <a:ea typeface="+mn-lt"/>
                <a:cs typeface="Calibri" panose="020F0502020204030204" pitchFamily="34" charset="0"/>
              </a:rPr>
              <a:t>tekst</a:t>
            </a:r>
            <a:r>
              <a:rPr lang="en-US" sz="3000" dirty="0">
                <a:latin typeface="Calibri" panose="020F0502020204030204" pitchFamily="34" charset="0"/>
                <a:ea typeface="+mn-lt"/>
                <a:cs typeface="Calibri" panose="020F0502020204030204" pitchFamily="34" charset="0"/>
              </a:rPr>
              <a:t> over </a:t>
            </a:r>
            <a:r>
              <a:rPr lang="en-US" sz="3000" dirty="0" err="1">
                <a:latin typeface="Calibri" panose="020F0502020204030204" pitchFamily="34" charset="0"/>
                <a:ea typeface="+mn-lt"/>
                <a:cs typeface="Calibri" panose="020F0502020204030204" pitchFamily="34" charset="0"/>
              </a:rPr>
              <a:t>kunnen</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gaan</a:t>
            </a:r>
            <a:r>
              <a:rPr lang="en-US" sz="3000" dirty="0">
                <a:latin typeface="Calibri" panose="020F0502020204030204" pitchFamily="34" charset="0"/>
                <a:ea typeface="+mn-lt"/>
                <a:cs typeface="Calibri" panose="020F0502020204030204" pitchFamily="34" charset="0"/>
              </a:rPr>
              <a:t>?</a:t>
            </a:r>
          </a:p>
          <a:p>
            <a:pPr lvl="1"/>
            <a:r>
              <a:rPr lang="en-US" sz="3000" dirty="0" err="1">
                <a:latin typeface="Calibri" panose="020F0502020204030204" pitchFamily="34" charset="0"/>
                <a:ea typeface="+mn-lt"/>
                <a:cs typeface="Calibri" panose="020F0502020204030204" pitchFamily="34" charset="0"/>
              </a:rPr>
              <a:t>Belangrijkste</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boodschap</a:t>
            </a:r>
            <a:r>
              <a:rPr lang="en-US" sz="3000" dirty="0">
                <a:latin typeface="Calibri" panose="020F0502020204030204" pitchFamily="34" charset="0"/>
                <a:ea typeface="+mn-lt"/>
                <a:cs typeface="Calibri" panose="020F0502020204030204" pitchFamily="34" charset="0"/>
              </a:rPr>
              <a:t> van de </a:t>
            </a:r>
            <a:r>
              <a:rPr lang="en-US" sz="3000" dirty="0" err="1">
                <a:latin typeface="Calibri" panose="020F0502020204030204" pitchFamily="34" charset="0"/>
                <a:ea typeface="+mn-lt"/>
                <a:cs typeface="Calibri" panose="020F0502020204030204" pitchFamily="34" charset="0"/>
              </a:rPr>
              <a:t>tekst</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staat</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vaak</a:t>
            </a:r>
            <a:r>
              <a:rPr lang="en-US" sz="3000" dirty="0">
                <a:latin typeface="Calibri" panose="020F0502020204030204" pitchFamily="34" charset="0"/>
                <a:ea typeface="+mn-lt"/>
                <a:cs typeface="Calibri" panose="020F0502020204030204" pitchFamily="34" charset="0"/>
              </a:rPr>
              <a:t> in de </a:t>
            </a:r>
            <a:r>
              <a:rPr lang="en-US" sz="3000" dirty="0" err="1">
                <a:latin typeface="Calibri" panose="020F0502020204030204" pitchFamily="34" charset="0"/>
                <a:ea typeface="+mn-lt"/>
                <a:cs typeface="Calibri" panose="020F0502020204030204" pitchFamily="34" charset="0"/>
              </a:rPr>
              <a:t>inleiding</a:t>
            </a:r>
            <a:r>
              <a:rPr lang="en-US" sz="3000" dirty="0">
                <a:latin typeface="Calibri" panose="020F0502020204030204" pitchFamily="34" charset="0"/>
                <a:ea typeface="+mn-lt"/>
                <a:cs typeface="Calibri" panose="020F0502020204030204" pitchFamily="34" charset="0"/>
              </a:rPr>
              <a:t> of </a:t>
            </a:r>
            <a:r>
              <a:rPr lang="en-US" sz="3000" dirty="0" err="1">
                <a:latin typeface="Calibri" panose="020F0502020204030204" pitchFamily="34" charset="0"/>
                <a:ea typeface="+mn-lt"/>
                <a:cs typeface="Calibri" panose="020F0502020204030204" pitchFamily="34" charset="0"/>
              </a:rPr>
              <a:t>slotalinea</a:t>
            </a:r>
            <a:r>
              <a:rPr lang="en-US" sz="3000" dirty="0">
                <a:latin typeface="Calibri" panose="020F0502020204030204" pitchFamily="34" charset="0"/>
                <a:ea typeface="+mn-lt"/>
                <a:cs typeface="Calibri" panose="020F0502020204030204" pitchFamily="34" charset="0"/>
              </a:rPr>
              <a:t>. </a:t>
            </a:r>
            <a:endParaRPr lang="en-US" sz="3000" dirty="0">
              <a:latin typeface="Calibri" panose="020F0502020204030204" pitchFamily="34" charset="0"/>
              <a:cs typeface="Calibri" panose="020F0502020204030204" pitchFamily="34" charset="0"/>
            </a:endParaRPr>
          </a:p>
          <a:p>
            <a:endParaRPr lang="en-US" dirty="0"/>
          </a:p>
          <a:p>
            <a:r>
              <a:rPr lang="en-US" dirty="0" err="1">
                <a:latin typeface="Calibri" panose="020F0502020204030204" pitchFamily="34" charset="0"/>
                <a:ea typeface="+mn-lt"/>
                <a:cs typeface="Calibri" panose="020F0502020204030204" pitchFamily="34" charset="0"/>
              </a:rPr>
              <a:t>Voorbeelden</a:t>
            </a:r>
            <a:r>
              <a:rPr lang="en-US" dirty="0">
                <a:latin typeface="Calibri" panose="020F0502020204030204" pitchFamily="34" charset="0"/>
                <a:ea typeface="+mn-lt"/>
                <a:cs typeface="Calibri" panose="020F0502020204030204" pitchFamily="34" charset="0"/>
              </a:rPr>
              <a:t> van </a:t>
            </a:r>
            <a:r>
              <a:rPr lang="en-US" dirty="0" err="1">
                <a:latin typeface="Calibri" panose="020F0502020204030204" pitchFamily="34" charset="0"/>
                <a:ea typeface="+mn-lt"/>
                <a:cs typeface="Calibri" panose="020F0502020204030204" pitchFamily="34" charset="0"/>
              </a:rPr>
              <a:t>globaal</a:t>
            </a:r>
            <a:r>
              <a:rPr lang="en-US" dirty="0">
                <a:latin typeface="Calibri" panose="020F0502020204030204" pitchFamily="34" charset="0"/>
                <a:ea typeface="+mn-lt"/>
                <a:cs typeface="Calibri" panose="020F0502020204030204" pitchFamily="34" charset="0"/>
              </a:rPr>
              <a:t> </a:t>
            </a:r>
            <a:r>
              <a:rPr lang="en-US" dirty="0" err="1">
                <a:latin typeface="Calibri" panose="020F0502020204030204" pitchFamily="34" charset="0"/>
                <a:ea typeface="+mn-lt"/>
                <a:cs typeface="Calibri" panose="020F0502020204030204" pitchFamily="34" charset="0"/>
              </a:rPr>
              <a:t>lezen</a:t>
            </a:r>
            <a:r>
              <a:rPr lang="en-US" dirty="0">
                <a:latin typeface="Calibri" panose="020F0502020204030204" pitchFamily="34" charset="0"/>
                <a:ea typeface="+mn-lt"/>
                <a:cs typeface="Calibri" panose="020F0502020204030204" pitchFamily="34" charset="0"/>
              </a:rPr>
              <a:t> (</a:t>
            </a:r>
            <a:r>
              <a:rPr lang="en-US" dirty="0" err="1">
                <a:latin typeface="Calibri" panose="020F0502020204030204" pitchFamily="34" charset="0"/>
                <a:ea typeface="+mn-lt"/>
                <a:cs typeface="Calibri" panose="020F0502020204030204" pitchFamily="34" charset="0"/>
              </a:rPr>
              <a:t>wanneer</a:t>
            </a:r>
            <a:r>
              <a:rPr lang="en-US" dirty="0">
                <a:latin typeface="Calibri" panose="020F0502020204030204" pitchFamily="34" charset="0"/>
                <a:ea typeface="+mn-lt"/>
                <a:cs typeface="Calibri" panose="020F0502020204030204" pitchFamily="34" charset="0"/>
              </a:rPr>
              <a:t>?)</a:t>
            </a:r>
            <a:endParaRPr lang="en-US" dirty="0">
              <a:latin typeface="Calibri" panose="020F0502020204030204" pitchFamily="34" charset="0"/>
              <a:cs typeface="Calibri" panose="020F0502020204030204" pitchFamily="34" charset="0"/>
            </a:endParaRPr>
          </a:p>
          <a:p>
            <a:endParaRPr lang="en-US" dirty="0"/>
          </a:p>
        </p:txBody>
      </p:sp>
    </p:spTree>
    <p:extLst>
      <p:ext uri="{BB962C8B-B14F-4D97-AF65-F5344CB8AC3E}">
        <p14:creationId xmlns:p14="http://schemas.microsoft.com/office/powerpoint/2010/main" val="22269059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B7918-1149-4176-AE8E-EE7E23CB7061}"/>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H17 </a:t>
            </a:r>
            <a:r>
              <a:rPr lang="en-US" dirty="0" err="1">
                <a:latin typeface="Calibri" panose="020F0502020204030204" pitchFamily="34" charset="0"/>
                <a:cs typeface="Calibri" panose="020F0502020204030204" pitchFamily="34" charset="0"/>
              </a:rPr>
              <a:t>Intensief</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lezen</a:t>
            </a:r>
            <a:endParaRPr lang="en-US"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D96EF32D-470F-406D-AE09-7C426D9875F0}"/>
              </a:ext>
            </a:extLst>
          </p:cNvPr>
          <p:cNvSpPr>
            <a:spLocks noGrp="1"/>
          </p:cNvSpPr>
          <p:nvPr>
            <p:ph idx="1"/>
          </p:nvPr>
        </p:nvSpPr>
        <p:spPr/>
        <p:txBody>
          <a:bodyPr vert="horz" lIns="91440" tIns="45720" rIns="91440" bIns="45720" rtlCol="0" anchor="t">
            <a:normAutofit fontScale="92500" lnSpcReduction="20000"/>
          </a:bodyPr>
          <a:lstStyle/>
          <a:p>
            <a:pPr marL="0" indent="0">
              <a:buNone/>
            </a:pPr>
            <a:r>
              <a:rPr lang="en-US" sz="3200" i="1" dirty="0">
                <a:latin typeface="Calibri" panose="020F0502020204030204" pitchFamily="34" charset="0"/>
                <a:ea typeface="+mn-lt"/>
                <a:cs typeface="Calibri" panose="020F0502020204030204" pitchFamily="34" charset="0"/>
              </a:rPr>
              <a:t>Je </a:t>
            </a:r>
            <a:r>
              <a:rPr lang="en-US" sz="3200" i="1" dirty="0" err="1">
                <a:latin typeface="Calibri" panose="020F0502020204030204" pitchFamily="34" charset="0"/>
                <a:ea typeface="+mn-lt"/>
                <a:cs typeface="Calibri" panose="020F0502020204030204" pitchFamily="34" charset="0"/>
              </a:rPr>
              <a:t>leert</a:t>
            </a:r>
            <a:r>
              <a:rPr lang="en-US" sz="3200" i="1" dirty="0">
                <a:latin typeface="Calibri" panose="020F0502020204030204" pitchFamily="34" charset="0"/>
                <a:ea typeface="+mn-lt"/>
                <a:cs typeface="Calibri" panose="020F0502020204030204" pitchFamily="34" charset="0"/>
              </a:rPr>
              <a:t> wat </a:t>
            </a:r>
            <a:r>
              <a:rPr lang="en-US" sz="3200" i="1" dirty="0" err="1">
                <a:latin typeface="Calibri" panose="020F0502020204030204" pitchFamily="34" charset="0"/>
                <a:ea typeface="+mn-lt"/>
                <a:cs typeface="Calibri" panose="020F0502020204030204" pitchFamily="34" charset="0"/>
              </a:rPr>
              <a:t>leesstrategieën</a:t>
            </a:r>
            <a:r>
              <a:rPr lang="en-US" sz="3200" i="1" dirty="0">
                <a:latin typeface="Calibri" panose="020F0502020204030204" pitchFamily="34" charset="0"/>
                <a:ea typeface="+mn-lt"/>
                <a:cs typeface="Calibri" panose="020F0502020204030204" pitchFamily="34" charset="0"/>
              </a:rPr>
              <a:t> </a:t>
            </a:r>
            <a:r>
              <a:rPr lang="en-US" sz="3200" i="1" dirty="0" err="1">
                <a:latin typeface="Calibri" panose="020F0502020204030204" pitchFamily="34" charset="0"/>
                <a:ea typeface="+mn-lt"/>
                <a:cs typeface="Calibri" panose="020F0502020204030204" pitchFamily="34" charset="0"/>
              </a:rPr>
              <a:t>zijn</a:t>
            </a:r>
            <a:r>
              <a:rPr lang="en-US" sz="3200" i="1" dirty="0">
                <a:latin typeface="Calibri" panose="020F0502020204030204" pitchFamily="34" charset="0"/>
                <a:ea typeface="+mn-lt"/>
                <a:cs typeface="Calibri" panose="020F0502020204030204" pitchFamily="34" charset="0"/>
              </a:rPr>
              <a:t> </a:t>
            </a:r>
            <a:r>
              <a:rPr lang="en-US" sz="3200" i="1" dirty="0" err="1">
                <a:latin typeface="Calibri" panose="020F0502020204030204" pitchFamily="34" charset="0"/>
                <a:ea typeface="+mn-lt"/>
                <a:cs typeface="Calibri" panose="020F0502020204030204" pitchFamily="34" charset="0"/>
              </a:rPr>
              <a:t>en</a:t>
            </a:r>
            <a:r>
              <a:rPr lang="en-US" sz="3200" i="1" dirty="0">
                <a:latin typeface="Calibri" panose="020F0502020204030204" pitchFamily="34" charset="0"/>
                <a:ea typeface="+mn-lt"/>
                <a:cs typeface="Calibri" panose="020F0502020204030204" pitchFamily="34" charset="0"/>
              </a:rPr>
              <a:t> hoe je </a:t>
            </a:r>
            <a:r>
              <a:rPr lang="en-US" sz="3200" i="1" dirty="0" err="1">
                <a:latin typeface="Calibri" panose="020F0502020204030204" pitchFamily="34" charset="0"/>
                <a:ea typeface="+mn-lt"/>
                <a:cs typeface="Calibri" panose="020F0502020204030204" pitchFamily="34" charset="0"/>
              </a:rPr>
              <a:t>intensief</a:t>
            </a:r>
            <a:r>
              <a:rPr lang="en-US" sz="3200" i="1" dirty="0">
                <a:latin typeface="Calibri" panose="020F0502020204030204" pitchFamily="34" charset="0"/>
                <a:ea typeface="+mn-lt"/>
                <a:cs typeface="Calibri" panose="020F0502020204030204" pitchFamily="34" charset="0"/>
              </a:rPr>
              <a:t> </a:t>
            </a:r>
            <a:r>
              <a:rPr lang="en-US" sz="3200" i="1" dirty="0" err="1">
                <a:latin typeface="Calibri" panose="020F0502020204030204" pitchFamily="34" charset="0"/>
                <a:ea typeface="+mn-lt"/>
                <a:cs typeface="Calibri" panose="020F0502020204030204" pitchFamily="34" charset="0"/>
              </a:rPr>
              <a:t>een</a:t>
            </a:r>
            <a:r>
              <a:rPr lang="en-US" sz="3200" i="1" dirty="0">
                <a:latin typeface="Calibri" panose="020F0502020204030204" pitchFamily="34" charset="0"/>
                <a:ea typeface="+mn-lt"/>
                <a:cs typeface="Calibri" panose="020F0502020204030204" pitchFamily="34" charset="0"/>
              </a:rPr>
              <a:t> </a:t>
            </a:r>
            <a:r>
              <a:rPr lang="en-US" sz="3200" i="1" dirty="0" err="1">
                <a:latin typeface="Calibri" panose="020F0502020204030204" pitchFamily="34" charset="0"/>
                <a:ea typeface="+mn-lt"/>
                <a:cs typeface="Calibri" panose="020F0502020204030204" pitchFamily="34" charset="0"/>
              </a:rPr>
              <a:t>tekst</a:t>
            </a:r>
            <a:r>
              <a:rPr lang="en-US" sz="3200" i="1" dirty="0">
                <a:latin typeface="Calibri" panose="020F0502020204030204" pitchFamily="34" charset="0"/>
                <a:ea typeface="+mn-lt"/>
                <a:cs typeface="Calibri" panose="020F0502020204030204" pitchFamily="34" charset="0"/>
              </a:rPr>
              <a:t> </a:t>
            </a:r>
            <a:r>
              <a:rPr lang="en-US" sz="3200" i="1" dirty="0" err="1">
                <a:latin typeface="Calibri" panose="020F0502020204030204" pitchFamily="34" charset="0"/>
                <a:ea typeface="+mn-lt"/>
                <a:cs typeface="Calibri" panose="020F0502020204030204" pitchFamily="34" charset="0"/>
              </a:rPr>
              <a:t>kunt</a:t>
            </a:r>
            <a:r>
              <a:rPr lang="en-US" sz="3200" i="1" dirty="0">
                <a:latin typeface="Calibri" panose="020F0502020204030204" pitchFamily="34" charset="0"/>
                <a:ea typeface="+mn-lt"/>
                <a:cs typeface="Calibri" panose="020F0502020204030204" pitchFamily="34" charset="0"/>
              </a:rPr>
              <a:t> </a:t>
            </a:r>
            <a:r>
              <a:rPr lang="en-US" sz="3200" i="1" dirty="0" err="1">
                <a:latin typeface="Calibri" panose="020F0502020204030204" pitchFamily="34" charset="0"/>
                <a:ea typeface="+mn-lt"/>
                <a:cs typeface="Calibri" panose="020F0502020204030204" pitchFamily="34" charset="0"/>
              </a:rPr>
              <a:t>lezen</a:t>
            </a:r>
            <a:r>
              <a:rPr lang="en-US" sz="3200" i="1" dirty="0">
                <a:latin typeface="Calibri" panose="020F0502020204030204" pitchFamily="34" charset="0"/>
                <a:ea typeface="+mn-lt"/>
                <a:cs typeface="Calibri" panose="020F0502020204030204" pitchFamily="34" charset="0"/>
              </a:rPr>
              <a:t>. </a:t>
            </a:r>
          </a:p>
          <a:p>
            <a:pPr marL="0" indent="0">
              <a:buNone/>
            </a:pPr>
            <a:endParaRPr lang="en-US" dirty="0">
              <a:latin typeface="Calibri" panose="020F0502020204030204" pitchFamily="34" charset="0"/>
              <a:ea typeface="+mn-lt"/>
              <a:cs typeface="Calibri" panose="020F0502020204030204" pitchFamily="34" charset="0"/>
            </a:endParaRPr>
          </a:p>
          <a:p>
            <a:pPr marL="0" indent="0">
              <a:buNone/>
            </a:pPr>
            <a:r>
              <a:rPr lang="en-US" dirty="0">
                <a:latin typeface="Calibri" panose="020F0502020204030204" pitchFamily="34" charset="0"/>
                <a:ea typeface="+mn-lt"/>
                <a:cs typeface="Calibri" panose="020F0502020204030204" pitchFamily="34" charset="0"/>
              </a:rPr>
              <a:t>Je </a:t>
            </a:r>
            <a:r>
              <a:rPr lang="en-US" dirty="0" err="1">
                <a:latin typeface="Calibri" panose="020F0502020204030204" pitchFamily="34" charset="0"/>
                <a:ea typeface="+mn-lt"/>
                <a:cs typeface="Calibri" panose="020F0502020204030204" pitchFamily="34" charset="0"/>
              </a:rPr>
              <a:t>gaat</a:t>
            </a:r>
            <a:r>
              <a:rPr lang="en-US" dirty="0">
                <a:latin typeface="Calibri" panose="020F0502020204030204" pitchFamily="34" charset="0"/>
                <a:ea typeface="+mn-lt"/>
                <a:cs typeface="Calibri" panose="020F0502020204030204" pitchFamily="34" charset="0"/>
              </a:rPr>
              <a:t> </a:t>
            </a:r>
            <a:r>
              <a:rPr lang="en-US" dirty="0" err="1">
                <a:latin typeface="Calibri" panose="020F0502020204030204" pitchFamily="34" charset="0"/>
                <a:ea typeface="+mn-lt"/>
                <a:cs typeface="Calibri" panose="020F0502020204030204" pitchFamily="34" charset="0"/>
              </a:rPr>
              <a:t>een</a:t>
            </a:r>
            <a:r>
              <a:rPr lang="en-US" dirty="0">
                <a:latin typeface="Calibri" panose="020F0502020204030204" pitchFamily="34" charset="0"/>
                <a:ea typeface="+mn-lt"/>
                <a:cs typeface="Calibri" panose="020F0502020204030204" pitchFamily="34" charset="0"/>
              </a:rPr>
              <a:t> </a:t>
            </a:r>
            <a:r>
              <a:rPr lang="en-US" dirty="0" err="1">
                <a:latin typeface="Calibri" panose="020F0502020204030204" pitchFamily="34" charset="0"/>
                <a:ea typeface="+mn-lt"/>
                <a:cs typeface="Calibri" panose="020F0502020204030204" pitchFamily="34" charset="0"/>
              </a:rPr>
              <a:t>tekst</a:t>
            </a:r>
            <a:r>
              <a:rPr lang="en-US" dirty="0">
                <a:latin typeface="Calibri" panose="020F0502020204030204" pitchFamily="34" charset="0"/>
                <a:ea typeface="+mn-lt"/>
                <a:cs typeface="Calibri" panose="020F0502020204030204" pitchFamily="34" charset="0"/>
              </a:rPr>
              <a:t> </a:t>
            </a:r>
            <a:r>
              <a:rPr lang="en-US" b="1" dirty="0" err="1">
                <a:latin typeface="Calibri" panose="020F0502020204030204" pitchFamily="34" charset="0"/>
                <a:ea typeface="+mn-lt"/>
                <a:cs typeface="Calibri" panose="020F0502020204030204" pitchFamily="34" charset="0"/>
              </a:rPr>
              <a:t>intensief</a:t>
            </a:r>
            <a:r>
              <a:rPr lang="en-US" dirty="0">
                <a:latin typeface="Calibri" panose="020F0502020204030204" pitchFamily="34" charset="0"/>
                <a:ea typeface="+mn-lt"/>
                <a:cs typeface="Calibri" panose="020F0502020204030204" pitchFamily="34" charset="0"/>
              </a:rPr>
              <a:t> </a:t>
            </a:r>
            <a:r>
              <a:rPr lang="en-US" b="1" dirty="0" err="1">
                <a:latin typeface="Calibri" panose="020F0502020204030204" pitchFamily="34" charset="0"/>
                <a:ea typeface="+mn-lt"/>
                <a:cs typeface="Calibri" panose="020F0502020204030204" pitchFamily="34" charset="0"/>
              </a:rPr>
              <a:t>lezen</a:t>
            </a:r>
            <a:r>
              <a:rPr lang="en-US" dirty="0">
                <a:latin typeface="Calibri" panose="020F0502020204030204" pitchFamily="34" charset="0"/>
                <a:ea typeface="+mn-lt"/>
                <a:cs typeface="Calibri" panose="020F0502020204030204" pitchFamily="34" charset="0"/>
              </a:rPr>
              <a:t> </a:t>
            </a:r>
            <a:r>
              <a:rPr lang="en-US" dirty="0" err="1">
                <a:latin typeface="Calibri" panose="020F0502020204030204" pitchFamily="34" charset="0"/>
                <a:ea typeface="+mn-lt"/>
                <a:cs typeface="Calibri" panose="020F0502020204030204" pitchFamily="34" charset="0"/>
              </a:rPr>
              <a:t>als</a:t>
            </a:r>
            <a:r>
              <a:rPr lang="en-US" dirty="0">
                <a:latin typeface="Calibri" panose="020F0502020204030204" pitchFamily="34" charset="0"/>
                <a:ea typeface="+mn-lt"/>
                <a:cs typeface="Calibri" panose="020F0502020204030204" pitchFamily="34" charset="0"/>
              </a:rPr>
              <a:t> je </a:t>
            </a:r>
            <a:r>
              <a:rPr lang="en-US" dirty="0" err="1">
                <a:latin typeface="Calibri" panose="020F0502020204030204" pitchFamily="34" charset="0"/>
                <a:ea typeface="+mn-lt"/>
                <a:cs typeface="Calibri" panose="020F0502020204030204" pitchFamily="34" charset="0"/>
              </a:rPr>
              <a:t>deze</a:t>
            </a:r>
            <a:r>
              <a:rPr lang="en-US" dirty="0">
                <a:latin typeface="Calibri" panose="020F0502020204030204" pitchFamily="34" charset="0"/>
                <a:ea typeface="+mn-lt"/>
                <a:cs typeface="Calibri" panose="020F0502020204030204" pitchFamily="34" charset="0"/>
              </a:rPr>
              <a:t> </a:t>
            </a:r>
            <a:r>
              <a:rPr lang="en-US" dirty="0" err="1">
                <a:latin typeface="Calibri" panose="020F0502020204030204" pitchFamily="34" charset="0"/>
                <a:ea typeface="+mn-lt"/>
                <a:cs typeface="Calibri" panose="020F0502020204030204" pitchFamily="34" charset="0"/>
              </a:rPr>
              <a:t>goed</a:t>
            </a:r>
            <a:r>
              <a:rPr lang="en-US" dirty="0">
                <a:latin typeface="Calibri" panose="020F0502020204030204" pitchFamily="34" charset="0"/>
                <a:ea typeface="+mn-lt"/>
                <a:cs typeface="Calibri" panose="020F0502020204030204" pitchFamily="34" charset="0"/>
              </a:rPr>
              <a:t> wilt </a:t>
            </a:r>
            <a:r>
              <a:rPr lang="en-US" dirty="0" err="1">
                <a:latin typeface="Calibri" panose="020F0502020204030204" pitchFamily="34" charset="0"/>
                <a:ea typeface="+mn-lt"/>
                <a:cs typeface="Calibri" panose="020F0502020204030204" pitchFamily="34" charset="0"/>
              </a:rPr>
              <a:t>begrijpen</a:t>
            </a:r>
            <a:r>
              <a:rPr lang="en-US" dirty="0">
                <a:latin typeface="Calibri" panose="020F0502020204030204" pitchFamily="34" charset="0"/>
                <a:ea typeface="+mn-lt"/>
                <a:cs typeface="Calibri" panose="020F0502020204030204" pitchFamily="34" charset="0"/>
              </a:rPr>
              <a:t>. </a:t>
            </a:r>
          </a:p>
          <a:p>
            <a:endParaRPr lang="en-US" dirty="0">
              <a:latin typeface="Calibri" panose="020F0502020204030204" pitchFamily="34" charset="0"/>
              <a:ea typeface="+mn-lt"/>
              <a:cs typeface="Calibri" panose="020F0502020204030204" pitchFamily="34" charset="0"/>
            </a:endParaRPr>
          </a:p>
          <a:p>
            <a:r>
              <a:rPr lang="en-US" dirty="0">
                <a:latin typeface="Calibri" panose="020F0502020204030204" pitchFamily="34" charset="0"/>
                <a:ea typeface="+mn-lt"/>
                <a:cs typeface="Calibri" panose="020F0502020204030204" pitchFamily="34" charset="0"/>
              </a:rPr>
              <a:t>Lees de </a:t>
            </a:r>
            <a:r>
              <a:rPr lang="en-US" dirty="0" err="1">
                <a:latin typeface="Calibri" panose="020F0502020204030204" pitchFamily="34" charset="0"/>
                <a:ea typeface="+mn-lt"/>
                <a:cs typeface="Calibri" panose="020F0502020204030204" pitchFamily="34" charset="0"/>
              </a:rPr>
              <a:t>tekst</a:t>
            </a:r>
            <a:r>
              <a:rPr lang="en-US" dirty="0">
                <a:latin typeface="Calibri" panose="020F0502020204030204" pitchFamily="34" charset="0"/>
                <a:ea typeface="+mn-lt"/>
                <a:cs typeface="Calibri" panose="020F0502020204030204" pitchFamily="34" charset="0"/>
              </a:rPr>
              <a:t> van begin tot </a:t>
            </a:r>
            <a:r>
              <a:rPr lang="en-US" dirty="0" err="1">
                <a:latin typeface="Calibri" panose="020F0502020204030204" pitchFamily="34" charset="0"/>
                <a:ea typeface="+mn-lt"/>
                <a:cs typeface="Calibri" panose="020F0502020204030204" pitchFamily="34" charset="0"/>
              </a:rPr>
              <a:t>eind</a:t>
            </a:r>
            <a:r>
              <a:rPr lang="en-US" dirty="0">
                <a:latin typeface="Calibri" panose="020F0502020204030204" pitchFamily="34" charset="0"/>
                <a:ea typeface="+mn-lt"/>
                <a:cs typeface="Calibri" panose="020F0502020204030204" pitchFamily="34" charset="0"/>
              </a:rPr>
              <a:t>.</a:t>
            </a:r>
            <a:endParaRPr lang="en-US" dirty="0">
              <a:latin typeface="Calibri" panose="020F0502020204030204" pitchFamily="34" charset="0"/>
              <a:cs typeface="Calibri" panose="020F0502020204030204" pitchFamily="34" charset="0"/>
            </a:endParaRPr>
          </a:p>
          <a:p>
            <a:r>
              <a:rPr lang="en-US" dirty="0" err="1">
                <a:latin typeface="Calibri" panose="020F0502020204030204" pitchFamily="34" charset="0"/>
                <a:ea typeface="+mn-lt"/>
                <a:cs typeface="Calibri" panose="020F0502020204030204" pitchFamily="34" charset="0"/>
              </a:rPr>
              <a:t>Probeer</a:t>
            </a:r>
            <a:r>
              <a:rPr lang="en-US" dirty="0">
                <a:latin typeface="Calibri" panose="020F0502020204030204" pitchFamily="34" charset="0"/>
                <a:ea typeface="+mn-lt"/>
                <a:cs typeface="Calibri" panose="020F0502020204030204" pitchFamily="34" charset="0"/>
              </a:rPr>
              <a:t> </a:t>
            </a:r>
            <a:r>
              <a:rPr lang="en-US" dirty="0" err="1">
                <a:latin typeface="Calibri" panose="020F0502020204030204" pitchFamily="34" charset="0"/>
                <a:ea typeface="+mn-lt"/>
                <a:cs typeface="Calibri" panose="020F0502020204030204" pitchFamily="34" charset="0"/>
              </a:rPr>
              <a:t>elke</a:t>
            </a:r>
            <a:r>
              <a:rPr lang="en-US" dirty="0">
                <a:latin typeface="Calibri" panose="020F0502020204030204" pitchFamily="34" charset="0"/>
                <a:ea typeface="+mn-lt"/>
                <a:cs typeface="Calibri" panose="020F0502020204030204" pitchFamily="34" charset="0"/>
              </a:rPr>
              <a:t> zin </a:t>
            </a:r>
            <a:r>
              <a:rPr lang="en-US" dirty="0" err="1">
                <a:latin typeface="Calibri" panose="020F0502020204030204" pitchFamily="34" charset="0"/>
                <a:ea typeface="+mn-lt"/>
                <a:cs typeface="Calibri" panose="020F0502020204030204" pitchFamily="34" charset="0"/>
              </a:rPr>
              <a:t>te</a:t>
            </a:r>
            <a:r>
              <a:rPr lang="en-US" dirty="0">
                <a:latin typeface="Calibri" panose="020F0502020204030204" pitchFamily="34" charset="0"/>
                <a:ea typeface="+mn-lt"/>
                <a:cs typeface="Calibri" panose="020F0502020204030204" pitchFamily="34" charset="0"/>
              </a:rPr>
              <a:t> </a:t>
            </a:r>
            <a:r>
              <a:rPr lang="en-US" dirty="0" err="1">
                <a:latin typeface="Calibri" panose="020F0502020204030204" pitchFamily="34" charset="0"/>
                <a:ea typeface="+mn-lt"/>
                <a:cs typeface="Calibri" panose="020F0502020204030204" pitchFamily="34" charset="0"/>
              </a:rPr>
              <a:t>begrijpen</a:t>
            </a:r>
            <a:r>
              <a:rPr lang="en-US" dirty="0">
                <a:latin typeface="Calibri" panose="020F0502020204030204" pitchFamily="34" charset="0"/>
                <a:ea typeface="+mn-lt"/>
                <a:cs typeface="Calibri" panose="020F0502020204030204" pitchFamily="34" charset="0"/>
              </a:rPr>
              <a:t>.</a:t>
            </a:r>
            <a:endParaRPr lang="en-US" dirty="0">
              <a:latin typeface="Calibri" panose="020F0502020204030204" pitchFamily="34" charset="0"/>
              <a:cs typeface="Calibri" panose="020F0502020204030204" pitchFamily="34" charset="0"/>
            </a:endParaRPr>
          </a:p>
          <a:p>
            <a:r>
              <a:rPr lang="en-US" dirty="0" err="1">
                <a:latin typeface="Calibri" panose="020F0502020204030204" pitchFamily="34" charset="0"/>
                <a:ea typeface="+mn-lt"/>
                <a:cs typeface="Calibri" panose="020F0502020204030204" pitchFamily="34" charset="0"/>
              </a:rPr>
              <a:t>Zoek</a:t>
            </a:r>
            <a:r>
              <a:rPr lang="en-US" dirty="0">
                <a:latin typeface="Calibri" panose="020F0502020204030204" pitchFamily="34" charset="0"/>
                <a:ea typeface="+mn-lt"/>
                <a:cs typeface="Calibri" panose="020F0502020204030204" pitchFamily="34" charset="0"/>
              </a:rPr>
              <a:t> </a:t>
            </a:r>
            <a:r>
              <a:rPr lang="en-US" dirty="0" err="1">
                <a:latin typeface="Calibri" panose="020F0502020204030204" pitchFamily="34" charset="0"/>
                <a:ea typeface="+mn-lt"/>
                <a:cs typeface="Calibri" panose="020F0502020204030204" pitchFamily="34" charset="0"/>
              </a:rPr>
              <a:t>onbekende</a:t>
            </a:r>
            <a:r>
              <a:rPr lang="en-US" dirty="0">
                <a:latin typeface="Calibri" panose="020F0502020204030204" pitchFamily="34" charset="0"/>
                <a:ea typeface="+mn-lt"/>
                <a:cs typeface="Calibri" panose="020F0502020204030204" pitchFamily="34" charset="0"/>
              </a:rPr>
              <a:t> </a:t>
            </a:r>
            <a:r>
              <a:rPr lang="en-US" dirty="0" err="1">
                <a:latin typeface="Calibri" panose="020F0502020204030204" pitchFamily="34" charset="0"/>
                <a:ea typeface="+mn-lt"/>
                <a:cs typeface="Calibri" panose="020F0502020204030204" pitchFamily="34" charset="0"/>
              </a:rPr>
              <a:t>woorden</a:t>
            </a:r>
            <a:r>
              <a:rPr lang="en-US" dirty="0">
                <a:latin typeface="Calibri" panose="020F0502020204030204" pitchFamily="34" charset="0"/>
                <a:ea typeface="+mn-lt"/>
                <a:cs typeface="Calibri" panose="020F0502020204030204" pitchFamily="34" charset="0"/>
              </a:rPr>
              <a:t> op. </a:t>
            </a:r>
          </a:p>
          <a:p>
            <a:endParaRPr lang="en-US" dirty="0">
              <a:latin typeface="Calibri" panose="020F0502020204030204" pitchFamily="34" charset="0"/>
              <a:ea typeface="+mn-lt"/>
              <a:cs typeface="Calibri" panose="020F0502020204030204" pitchFamily="34" charset="0"/>
            </a:endParaRPr>
          </a:p>
          <a:p>
            <a:r>
              <a:rPr lang="en-US" dirty="0" err="1">
                <a:latin typeface="Calibri" panose="020F0502020204030204" pitchFamily="34" charset="0"/>
                <a:ea typeface="+mn-lt"/>
                <a:cs typeface="Calibri" panose="020F0502020204030204" pitchFamily="34" charset="0"/>
              </a:rPr>
              <a:t>Voorbeelden</a:t>
            </a:r>
            <a:r>
              <a:rPr lang="en-US" dirty="0">
                <a:latin typeface="Calibri" panose="020F0502020204030204" pitchFamily="34" charset="0"/>
                <a:ea typeface="+mn-lt"/>
                <a:cs typeface="Calibri" panose="020F0502020204030204" pitchFamily="34" charset="0"/>
              </a:rPr>
              <a:t> van </a:t>
            </a:r>
            <a:r>
              <a:rPr lang="en-US" dirty="0" err="1">
                <a:latin typeface="Calibri" panose="020F0502020204030204" pitchFamily="34" charset="0"/>
                <a:ea typeface="+mn-lt"/>
                <a:cs typeface="Calibri" panose="020F0502020204030204" pitchFamily="34" charset="0"/>
              </a:rPr>
              <a:t>intensief</a:t>
            </a:r>
            <a:r>
              <a:rPr lang="en-US" dirty="0">
                <a:latin typeface="Calibri" panose="020F0502020204030204" pitchFamily="34" charset="0"/>
                <a:ea typeface="+mn-lt"/>
                <a:cs typeface="Calibri" panose="020F0502020204030204" pitchFamily="34" charset="0"/>
              </a:rPr>
              <a:t> </a:t>
            </a:r>
            <a:r>
              <a:rPr lang="en-US" dirty="0" err="1">
                <a:latin typeface="Calibri" panose="020F0502020204030204" pitchFamily="34" charset="0"/>
                <a:ea typeface="+mn-lt"/>
                <a:cs typeface="Calibri" panose="020F0502020204030204" pitchFamily="34" charset="0"/>
              </a:rPr>
              <a:t>lezen</a:t>
            </a:r>
            <a:r>
              <a:rPr lang="en-US" dirty="0">
                <a:latin typeface="Calibri" panose="020F0502020204030204" pitchFamily="34" charset="0"/>
                <a:ea typeface="+mn-lt"/>
                <a:cs typeface="Calibri" panose="020F0502020204030204" pitchFamily="34" charset="0"/>
              </a:rPr>
              <a:t> (</a:t>
            </a:r>
            <a:r>
              <a:rPr lang="en-US" dirty="0" err="1">
                <a:latin typeface="Calibri" panose="020F0502020204030204" pitchFamily="34" charset="0"/>
                <a:ea typeface="+mn-lt"/>
                <a:cs typeface="Calibri" panose="020F0502020204030204" pitchFamily="34" charset="0"/>
              </a:rPr>
              <a:t>wanneer</a:t>
            </a:r>
            <a:r>
              <a:rPr lang="en-US" dirty="0">
                <a:latin typeface="Calibri" panose="020F0502020204030204" pitchFamily="34" charset="0"/>
                <a:ea typeface="+mn-lt"/>
                <a:cs typeface="Calibri" panose="020F0502020204030204" pitchFamily="34" charset="0"/>
              </a:rPr>
              <a:t>?)</a:t>
            </a:r>
            <a:endParaRPr lang="en-US" dirty="0">
              <a:latin typeface="Calibri" panose="020F0502020204030204" pitchFamily="34" charset="0"/>
              <a:cs typeface="Calibri" panose="020F0502020204030204" pitchFamily="34" charset="0"/>
            </a:endParaRP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9906947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10926-2177-4785-99E5-80A010D29EBF}"/>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H18 </a:t>
            </a:r>
            <a:r>
              <a:rPr lang="en-US" dirty="0" err="1">
                <a:latin typeface="Calibri" panose="020F0502020204030204" pitchFamily="34" charset="0"/>
                <a:cs typeface="Calibri" panose="020F0502020204030204" pitchFamily="34" charset="0"/>
              </a:rPr>
              <a:t>Zoekend</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lezen</a:t>
            </a:r>
            <a:endParaRPr lang="en-US"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D6EA605E-3AB9-49F0-9C24-A3A9A4C3BD6D}"/>
              </a:ext>
            </a:extLst>
          </p:cNvPr>
          <p:cNvSpPr>
            <a:spLocks noGrp="1"/>
          </p:cNvSpPr>
          <p:nvPr>
            <p:ph idx="1"/>
          </p:nvPr>
        </p:nvSpPr>
        <p:spPr>
          <a:xfrm>
            <a:off x="838200" y="1526959"/>
            <a:ext cx="10515600" cy="4965916"/>
          </a:xfrm>
        </p:spPr>
        <p:txBody>
          <a:bodyPr vert="horz" lIns="91440" tIns="45720" rIns="91440" bIns="45720" rtlCol="0" anchor="t">
            <a:normAutofit fontScale="77500" lnSpcReduction="20000"/>
          </a:bodyPr>
          <a:lstStyle/>
          <a:p>
            <a:pPr marL="0" indent="0">
              <a:buNone/>
            </a:pPr>
            <a:r>
              <a:rPr lang="en-US" sz="2800" i="1" dirty="0">
                <a:latin typeface="Calibri" panose="020F0502020204030204" pitchFamily="34" charset="0"/>
                <a:ea typeface="+mn-lt"/>
                <a:cs typeface="Calibri" panose="020F0502020204030204" pitchFamily="34" charset="0"/>
              </a:rPr>
              <a:t>Je </a:t>
            </a:r>
            <a:r>
              <a:rPr lang="en-US" sz="2800" i="1" dirty="0" err="1">
                <a:latin typeface="Calibri" panose="020F0502020204030204" pitchFamily="34" charset="0"/>
                <a:ea typeface="+mn-lt"/>
                <a:cs typeface="Calibri" panose="020F0502020204030204" pitchFamily="34" charset="0"/>
              </a:rPr>
              <a:t>leert</a:t>
            </a:r>
            <a:r>
              <a:rPr lang="en-US" sz="2800" i="1" dirty="0">
                <a:latin typeface="Calibri" panose="020F0502020204030204" pitchFamily="34" charset="0"/>
                <a:ea typeface="+mn-lt"/>
                <a:cs typeface="Calibri" panose="020F0502020204030204" pitchFamily="34" charset="0"/>
              </a:rPr>
              <a:t> wat </a:t>
            </a:r>
            <a:r>
              <a:rPr lang="en-US" sz="2800" i="1" dirty="0" err="1">
                <a:latin typeface="Calibri" panose="020F0502020204030204" pitchFamily="34" charset="0"/>
                <a:ea typeface="+mn-lt"/>
                <a:cs typeface="Calibri" panose="020F0502020204030204" pitchFamily="34" charset="0"/>
              </a:rPr>
              <a:t>leesstrategieën</a:t>
            </a:r>
            <a:r>
              <a:rPr lang="en-US" sz="2800" i="1" dirty="0">
                <a:latin typeface="Calibri" panose="020F0502020204030204" pitchFamily="34" charset="0"/>
                <a:ea typeface="+mn-lt"/>
                <a:cs typeface="Calibri" panose="020F0502020204030204" pitchFamily="34" charset="0"/>
              </a:rPr>
              <a:t> </a:t>
            </a:r>
            <a:r>
              <a:rPr lang="en-US" sz="2800" i="1" dirty="0" err="1">
                <a:latin typeface="Calibri" panose="020F0502020204030204" pitchFamily="34" charset="0"/>
                <a:ea typeface="+mn-lt"/>
                <a:cs typeface="Calibri" panose="020F0502020204030204" pitchFamily="34" charset="0"/>
              </a:rPr>
              <a:t>zijn</a:t>
            </a:r>
            <a:r>
              <a:rPr lang="en-US" sz="2800" i="1" dirty="0">
                <a:latin typeface="Calibri" panose="020F0502020204030204" pitchFamily="34" charset="0"/>
                <a:ea typeface="+mn-lt"/>
                <a:cs typeface="Calibri" panose="020F0502020204030204" pitchFamily="34" charset="0"/>
              </a:rPr>
              <a:t> </a:t>
            </a:r>
            <a:r>
              <a:rPr lang="en-US" sz="2800" i="1" dirty="0" err="1">
                <a:latin typeface="Calibri" panose="020F0502020204030204" pitchFamily="34" charset="0"/>
                <a:ea typeface="+mn-lt"/>
                <a:cs typeface="Calibri" panose="020F0502020204030204" pitchFamily="34" charset="0"/>
              </a:rPr>
              <a:t>en</a:t>
            </a:r>
            <a:r>
              <a:rPr lang="en-US" sz="2800" i="1" dirty="0">
                <a:latin typeface="Calibri" panose="020F0502020204030204" pitchFamily="34" charset="0"/>
                <a:ea typeface="+mn-lt"/>
                <a:cs typeface="Calibri" panose="020F0502020204030204" pitchFamily="34" charset="0"/>
              </a:rPr>
              <a:t> hoe je </a:t>
            </a:r>
            <a:r>
              <a:rPr lang="en-US" sz="2800" i="1" dirty="0" err="1">
                <a:latin typeface="Calibri" panose="020F0502020204030204" pitchFamily="34" charset="0"/>
                <a:ea typeface="+mn-lt"/>
                <a:cs typeface="Calibri" panose="020F0502020204030204" pitchFamily="34" charset="0"/>
              </a:rPr>
              <a:t>zoekend</a:t>
            </a:r>
            <a:r>
              <a:rPr lang="en-US" sz="2800" i="1" dirty="0">
                <a:latin typeface="Calibri" panose="020F0502020204030204" pitchFamily="34" charset="0"/>
                <a:ea typeface="+mn-lt"/>
                <a:cs typeface="Calibri" panose="020F0502020204030204" pitchFamily="34" charset="0"/>
              </a:rPr>
              <a:t> </a:t>
            </a:r>
            <a:r>
              <a:rPr lang="en-US" sz="2800" i="1" dirty="0" err="1">
                <a:latin typeface="Calibri" panose="020F0502020204030204" pitchFamily="34" charset="0"/>
                <a:ea typeface="+mn-lt"/>
                <a:cs typeface="Calibri" panose="020F0502020204030204" pitchFamily="34" charset="0"/>
              </a:rPr>
              <a:t>een</a:t>
            </a:r>
            <a:r>
              <a:rPr lang="en-US" sz="2800" i="1" dirty="0">
                <a:latin typeface="Calibri" panose="020F0502020204030204" pitchFamily="34" charset="0"/>
                <a:ea typeface="+mn-lt"/>
                <a:cs typeface="Calibri" panose="020F0502020204030204" pitchFamily="34" charset="0"/>
              </a:rPr>
              <a:t> </a:t>
            </a:r>
            <a:r>
              <a:rPr lang="en-US" sz="2800" i="1" dirty="0" err="1">
                <a:latin typeface="Calibri" panose="020F0502020204030204" pitchFamily="34" charset="0"/>
                <a:ea typeface="+mn-lt"/>
                <a:cs typeface="Calibri" panose="020F0502020204030204" pitchFamily="34" charset="0"/>
              </a:rPr>
              <a:t>tekst</a:t>
            </a:r>
            <a:r>
              <a:rPr lang="en-US" sz="2800" i="1" dirty="0">
                <a:latin typeface="Calibri" panose="020F0502020204030204" pitchFamily="34" charset="0"/>
                <a:ea typeface="+mn-lt"/>
                <a:cs typeface="Calibri" panose="020F0502020204030204" pitchFamily="34" charset="0"/>
              </a:rPr>
              <a:t> </a:t>
            </a:r>
            <a:r>
              <a:rPr lang="en-US" sz="2800" i="1" dirty="0" err="1">
                <a:latin typeface="Calibri" panose="020F0502020204030204" pitchFamily="34" charset="0"/>
                <a:ea typeface="+mn-lt"/>
                <a:cs typeface="Calibri" panose="020F0502020204030204" pitchFamily="34" charset="0"/>
              </a:rPr>
              <a:t>kunt</a:t>
            </a:r>
            <a:r>
              <a:rPr lang="en-US" sz="2800" i="1" dirty="0">
                <a:latin typeface="Calibri" panose="020F0502020204030204" pitchFamily="34" charset="0"/>
                <a:ea typeface="+mn-lt"/>
                <a:cs typeface="Calibri" panose="020F0502020204030204" pitchFamily="34" charset="0"/>
              </a:rPr>
              <a:t> </a:t>
            </a:r>
            <a:r>
              <a:rPr lang="en-US" sz="2800" i="1" dirty="0" err="1">
                <a:latin typeface="Calibri" panose="020F0502020204030204" pitchFamily="34" charset="0"/>
                <a:ea typeface="+mn-lt"/>
                <a:cs typeface="Calibri" panose="020F0502020204030204" pitchFamily="34" charset="0"/>
              </a:rPr>
              <a:t>lezen</a:t>
            </a:r>
            <a:r>
              <a:rPr lang="en-US" sz="2800" i="1" dirty="0">
                <a:latin typeface="Calibri" panose="020F0502020204030204" pitchFamily="34" charset="0"/>
                <a:ea typeface="+mn-lt"/>
                <a:cs typeface="Calibri" panose="020F0502020204030204" pitchFamily="34" charset="0"/>
              </a:rPr>
              <a:t>. </a:t>
            </a:r>
          </a:p>
          <a:p>
            <a:pPr marL="0" indent="0">
              <a:buNone/>
            </a:pPr>
            <a:endParaRPr lang="en-US" sz="3000" dirty="0">
              <a:latin typeface="Calibri" panose="020F0502020204030204" pitchFamily="34" charset="0"/>
              <a:ea typeface="+mn-lt"/>
              <a:cs typeface="Calibri" panose="020F0502020204030204" pitchFamily="34" charset="0"/>
            </a:endParaRPr>
          </a:p>
          <a:p>
            <a:pPr marL="0" indent="0">
              <a:buNone/>
            </a:pPr>
            <a:r>
              <a:rPr lang="en-US" sz="3000" dirty="0">
                <a:latin typeface="Calibri" panose="020F0502020204030204" pitchFamily="34" charset="0"/>
                <a:ea typeface="+mn-lt"/>
                <a:cs typeface="Calibri" panose="020F0502020204030204" pitchFamily="34" charset="0"/>
              </a:rPr>
              <a:t>Als je in </a:t>
            </a:r>
            <a:r>
              <a:rPr lang="en-US" sz="3000" dirty="0" err="1">
                <a:latin typeface="Calibri" panose="020F0502020204030204" pitchFamily="34" charset="0"/>
                <a:ea typeface="+mn-lt"/>
                <a:cs typeface="Calibri" panose="020F0502020204030204" pitchFamily="34" charset="0"/>
              </a:rPr>
              <a:t>een</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tekst</a:t>
            </a:r>
            <a:r>
              <a:rPr lang="en-US" sz="3000" dirty="0">
                <a:latin typeface="Calibri" panose="020F0502020204030204" pitchFamily="34" charset="0"/>
                <a:ea typeface="+mn-lt"/>
                <a:cs typeface="Calibri" panose="020F0502020204030204" pitchFamily="34" charset="0"/>
              </a:rPr>
              <a:t> op </a:t>
            </a:r>
            <a:r>
              <a:rPr lang="en-US" sz="3000" dirty="0" err="1">
                <a:latin typeface="Calibri" panose="020F0502020204030204" pitchFamily="34" charset="0"/>
                <a:ea typeface="+mn-lt"/>
                <a:cs typeface="Calibri" panose="020F0502020204030204" pitchFamily="34" charset="0"/>
              </a:rPr>
              <a:t>zoek</a:t>
            </a:r>
            <a:r>
              <a:rPr lang="en-US" sz="3000" dirty="0">
                <a:latin typeface="Calibri" panose="020F0502020204030204" pitchFamily="34" charset="0"/>
                <a:ea typeface="+mn-lt"/>
                <a:cs typeface="Calibri" panose="020F0502020204030204" pitchFamily="34" charset="0"/>
              </a:rPr>
              <a:t> bent </a:t>
            </a:r>
            <a:r>
              <a:rPr lang="en-US" sz="3000" dirty="0" err="1">
                <a:latin typeface="Calibri" panose="020F0502020204030204" pitchFamily="34" charset="0"/>
                <a:ea typeface="+mn-lt"/>
                <a:cs typeface="Calibri" panose="020F0502020204030204" pitchFamily="34" charset="0"/>
              </a:rPr>
              <a:t>naar</a:t>
            </a:r>
            <a:r>
              <a:rPr lang="en-US" sz="3000" dirty="0">
                <a:latin typeface="Calibri" panose="020F0502020204030204" pitchFamily="34" charset="0"/>
                <a:ea typeface="+mn-lt"/>
                <a:cs typeface="Calibri" panose="020F0502020204030204" pitchFamily="34" charset="0"/>
              </a:rPr>
              <a:t> heel </a:t>
            </a:r>
            <a:r>
              <a:rPr lang="en-US" sz="3000" dirty="0" err="1">
                <a:latin typeface="Calibri" panose="020F0502020204030204" pitchFamily="34" charset="0"/>
                <a:ea typeface="+mn-lt"/>
                <a:cs typeface="Calibri" panose="020F0502020204030204" pitchFamily="34" charset="0"/>
              </a:rPr>
              <a:t>specifieke</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informatie</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gebruik</a:t>
            </a:r>
            <a:r>
              <a:rPr lang="en-US" sz="3000" dirty="0">
                <a:latin typeface="Calibri" panose="020F0502020204030204" pitchFamily="34" charset="0"/>
                <a:ea typeface="+mn-lt"/>
                <a:cs typeface="Calibri" panose="020F0502020204030204" pitchFamily="34" charset="0"/>
              </a:rPr>
              <a:t> je de </a:t>
            </a:r>
            <a:r>
              <a:rPr lang="en-US" sz="3000" dirty="0" err="1">
                <a:latin typeface="Calibri" panose="020F0502020204030204" pitchFamily="34" charset="0"/>
                <a:ea typeface="+mn-lt"/>
                <a:cs typeface="Calibri" panose="020F0502020204030204" pitchFamily="34" charset="0"/>
              </a:rPr>
              <a:t>strategie</a:t>
            </a:r>
            <a:r>
              <a:rPr lang="en-US" sz="3000" dirty="0">
                <a:latin typeface="Calibri" panose="020F0502020204030204" pitchFamily="34" charset="0"/>
                <a:ea typeface="+mn-lt"/>
                <a:cs typeface="Calibri" panose="020F0502020204030204" pitchFamily="34" charset="0"/>
              </a:rPr>
              <a:t> </a:t>
            </a:r>
            <a:r>
              <a:rPr lang="en-US" sz="3000" b="1" dirty="0" err="1">
                <a:latin typeface="Calibri" panose="020F0502020204030204" pitchFamily="34" charset="0"/>
                <a:ea typeface="+mn-lt"/>
                <a:cs typeface="Calibri" panose="020F0502020204030204" pitchFamily="34" charset="0"/>
              </a:rPr>
              <a:t>zoekend</a:t>
            </a:r>
            <a:r>
              <a:rPr lang="en-US" sz="3000" b="1" dirty="0">
                <a:latin typeface="Calibri" panose="020F0502020204030204" pitchFamily="34" charset="0"/>
                <a:ea typeface="+mn-lt"/>
                <a:cs typeface="Calibri" panose="020F0502020204030204" pitchFamily="34" charset="0"/>
              </a:rPr>
              <a:t> </a:t>
            </a:r>
            <a:r>
              <a:rPr lang="en-US" sz="3000" b="1" dirty="0" err="1">
                <a:latin typeface="Calibri" panose="020F0502020204030204" pitchFamily="34" charset="0"/>
                <a:ea typeface="+mn-lt"/>
                <a:cs typeface="Calibri" panose="020F0502020204030204" pitchFamily="34" charset="0"/>
              </a:rPr>
              <a:t>lezen</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Deze</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strategie</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kun</a:t>
            </a:r>
            <a:r>
              <a:rPr lang="en-US" sz="3000" dirty="0">
                <a:latin typeface="Calibri" panose="020F0502020204030204" pitchFamily="34" charset="0"/>
                <a:ea typeface="+mn-lt"/>
                <a:cs typeface="Calibri" panose="020F0502020204030204" pitchFamily="34" charset="0"/>
              </a:rPr>
              <a:t> je </a:t>
            </a:r>
            <a:r>
              <a:rPr lang="en-US" sz="3000" dirty="0" err="1">
                <a:latin typeface="Calibri" panose="020F0502020204030204" pitchFamily="34" charset="0"/>
                <a:ea typeface="+mn-lt"/>
                <a:cs typeface="Calibri" panose="020F0502020204030204" pitchFamily="34" charset="0"/>
              </a:rPr>
              <a:t>ook</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gebruiken</a:t>
            </a:r>
            <a:r>
              <a:rPr lang="en-US" sz="3000" dirty="0">
                <a:latin typeface="Calibri" panose="020F0502020204030204" pitchFamily="34" charset="0"/>
                <a:ea typeface="+mn-lt"/>
                <a:cs typeface="Calibri" panose="020F0502020204030204" pitchFamily="34" charset="0"/>
              </a:rPr>
              <a:t> om </a:t>
            </a:r>
            <a:r>
              <a:rPr lang="en-US" sz="3000" dirty="0" err="1">
                <a:latin typeface="Calibri" panose="020F0502020204030204" pitchFamily="34" charset="0"/>
                <a:ea typeface="+mn-lt"/>
                <a:cs typeface="Calibri" panose="020F0502020204030204" pitchFamily="34" charset="0"/>
              </a:rPr>
              <a:t>geschikte</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teksten</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te</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vinden</a:t>
            </a:r>
            <a:r>
              <a:rPr lang="en-US" sz="3000" dirty="0">
                <a:latin typeface="Calibri" panose="020F0502020204030204" pitchFamily="34" charset="0"/>
                <a:ea typeface="+mn-lt"/>
                <a:cs typeface="Calibri" panose="020F0502020204030204" pitchFamily="34" charset="0"/>
              </a:rPr>
              <a:t>. </a:t>
            </a:r>
          </a:p>
          <a:p>
            <a:pPr marL="0" indent="0">
              <a:buNone/>
            </a:pPr>
            <a:endParaRPr lang="en-US" sz="3000" dirty="0">
              <a:latin typeface="Calibri" panose="020F0502020204030204" pitchFamily="34" charset="0"/>
              <a:ea typeface="+mn-lt"/>
              <a:cs typeface="Calibri" panose="020F0502020204030204" pitchFamily="34" charset="0"/>
            </a:endParaRPr>
          </a:p>
          <a:p>
            <a:pPr marL="0" indent="0">
              <a:buNone/>
            </a:pPr>
            <a:r>
              <a:rPr lang="en-US" sz="3000" b="1" dirty="0" err="1">
                <a:latin typeface="Calibri" panose="020F0502020204030204" pitchFamily="34" charset="0"/>
                <a:ea typeface="+mn-lt"/>
                <a:cs typeface="Calibri" panose="020F0502020204030204" pitchFamily="34" charset="0"/>
              </a:rPr>
              <a:t>Bij</a:t>
            </a:r>
            <a:r>
              <a:rPr lang="en-US" sz="3000" b="1" dirty="0">
                <a:latin typeface="Calibri" panose="020F0502020204030204" pitchFamily="34" charset="0"/>
                <a:ea typeface="+mn-lt"/>
                <a:cs typeface="Calibri" panose="020F0502020204030204" pitchFamily="34" charset="0"/>
              </a:rPr>
              <a:t> </a:t>
            </a:r>
            <a:r>
              <a:rPr lang="en-US" sz="3000" b="1" dirty="0" err="1">
                <a:latin typeface="Calibri" panose="020F0502020204030204" pitchFamily="34" charset="0"/>
                <a:ea typeface="+mn-lt"/>
                <a:cs typeface="Calibri" panose="020F0502020204030204" pitchFamily="34" charset="0"/>
              </a:rPr>
              <a:t>zoekend</a:t>
            </a:r>
            <a:r>
              <a:rPr lang="en-US" sz="3000" b="1" dirty="0">
                <a:latin typeface="Calibri" panose="020F0502020204030204" pitchFamily="34" charset="0"/>
                <a:ea typeface="+mn-lt"/>
                <a:cs typeface="Calibri" panose="020F0502020204030204" pitchFamily="34" charset="0"/>
              </a:rPr>
              <a:t> </a:t>
            </a:r>
            <a:r>
              <a:rPr lang="en-US" sz="3000" b="1" dirty="0" err="1">
                <a:latin typeface="Calibri" panose="020F0502020204030204" pitchFamily="34" charset="0"/>
                <a:ea typeface="+mn-lt"/>
                <a:cs typeface="Calibri" panose="020F0502020204030204" pitchFamily="34" charset="0"/>
              </a:rPr>
              <a:t>lezen</a:t>
            </a:r>
            <a:r>
              <a:rPr lang="en-US" sz="3000" b="1" dirty="0">
                <a:latin typeface="Calibri" panose="020F0502020204030204" pitchFamily="34" charset="0"/>
                <a:ea typeface="+mn-lt"/>
                <a:cs typeface="Calibri" panose="020F0502020204030204" pitchFamily="34" charset="0"/>
              </a:rPr>
              <a:t>: </a:t>
            </a:r>
          </a:p>
          <a:p>
            <a:pPr marL="514350" indent="-514350">
              <a:buAutoNum type="arabicPeriod"/>
            </a:pPr>
            <a:r>
              <a:rPr lang="en-US" sz="3000" dirty="0" err="1">
                <a:latin typeface="Calibri" panose="020F0502020204030204" pitchFamily="34" charset="0"/>
                <a:ea typeface="+mn-lt"/>
                <a:cs typeface="Calibri" panose="020F0502020204030204" pitchFamily="34" charset="0"/>
              </a:rPr>
              <a:t>Bedenk</a:t>
            </a:r>
            <a:r>
              <a:rPr lang="en-US" sz="3000" dirty="0">
                <a:latin typeface="Calibri" panose="020F0502020204030204" pitchFamily="34" charset="0"/>
                <a:ea typeface="+mn-lt"/>
                <a:cs typeface="Calibri" panose="020F0502020204030204" pitchFamily="34" charset="0"/>
              </a:rPr>
              <a:t> je </a:t>
            </a:r>
            <a:r>
              <a:rPr lang="en-US" sz="3000" dirty="0" err="1">
                <a:latin typeface="Calibri" panose="020F0502020204030204" pitchFamily="34" charset="0"/>
                <a:ea typeface="+mn-lt"/>
                <a:cs typeface="Calibri" panose="020F0502020204030204" pitchFamily="34" charset="0"/>
              </a:rPr>
              <a:t>eerst</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welke</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trefwoorden</a:t>
            </a:r>
            <a:r>
              <a:rPr lang="en-US" sz="3000" dirty="0">
                <a:latin typeface="Calibri" panose="020F0502020204030204" pitchFamily="34" charset="0"/>
                <a:ea typeface="+mn-lt"/>
                <a:cs typeface="Calibri" panose="020F0502020204030204" pitchFamily="34" charset="0"/>
              </a:rPr>
              <a:t>/</a:t>
            </a:r>
            <a:r>
              <a:rPr lang="en-US" sz="3000" dirty="0" err="1">
                <a:latin typeface="Calibri" panose="020F0502020204030204" pitchFamily="34" charset="0"/>
                <a:ea typeface="+mn-lt"/>
                <a:cs typeface="Calibri" panose="020F0502020204030204" pitchFamily="34" charset="0"/>
              </a:rPr>
              <a:t>steekwoorden</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kunnen</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leiden</a:t>
            </a:r>
            <a:r>
              <a:rPr lang="en-US" sz="3000" dirty="0">
                <a:latin typeface="Calibri" panose="020F0502020204030204" pitchFamily="34" charset="0"/>
                <a:ea typeface="+mn-lt"/>
                <a:cs typeface="Calibri" panose="020F0502020204030204" pitchFamily="34" charset="0"/>
              </a:rPr>
              <a:t> tot het </a:t>
            </a:r>
            <a:r>
              <a:rPr lang="en-US" sz="3000" dirty="0" err="1">
                <a:latin typeface="Calibri" panose="020F0502020204030204" pitchFamily="34" charset="0"/>
                <a:ea typeface="+mn-lt"/>
                <a:cs typeface="Calibri" panose="020F0502020204030204" pitchFamily="34" charset="0"/>
              </a:rPr>
              <a:t>antwoord</a:t>
            </a:r>
            <a:r>
              <a:rPr lang="en-US" sz="3000" dirty="0">
                <a:latin typeface="Calibri" panose="020F0502020204030204" pitchFamily="34" charset="0"/>
                <a:ea typeface="+mn-lt"/>
                <a:cs typeface="Calibri" panose="020F0502020204030204" pitchFamily="34" charset="0"/>
              </a:rPr>
              <a:t> op je </a:t>
            </a:r>
            <a:r>
              <a:rPr lang="en-US" sz="3000" dirty="0" err="1">
                <a:latin typeface="Calibri" panose="020F0502020204030204" pitchFamily="34" charset="0"/>
                <a:ea typeface="+mn-lt"/>
                <a:cs typeface="Calibri" panose="020F0502020204030204" pitchFamily="34" charset="0"/>
              </a:rPr>
              <a:t>vraag</a:t>
            </a:r>
            <a:r>
              <a:rPr lang="en-US" sz="3000" dirty="0">
                <a:latin typeface="Calibri" panose="020F0502020204030204" pitchFamily="34" charset="0"/>
                <a:ea typeface="+mn-lt"/>
                <a:cs typeface="Calibri" panose="020F0502020204030204" pitchFamily="34" charset="0"/>
              </a:rPr>
              <a:t>. </a:t>
            </a:r>
            <a:endParaRPr lang="en-US" sz="3000" dirty="0">
              <a:latin typeface="Calibri" panose="020F0502020204030204" pitchFamily="34" charset="0"/>
              <a:cs typeface="Calibri" panose="020F0502020204030204" pitchFamily="34" charset="0"/>
            </a:endParaRPr>
          </a:p>
          <a:p>
            <a:pPr marL="514350" indent="-514350">
              <a:buAutoNum type="arabicPeriod"/>
            </a:pPr>
            <a:r>
              <a:rPr lang="en-US" sz="3000" dirty="0" err="1">
                <a:latin typeface="Calibri" panose="020F0502020204030204" pitchFamily="34" charset="0"/>
                <a:ea typeface="+mn-lt"/>
                <a:cs typeface="Calibri" panose="020F0502020204030204" pitchFamily="34" charset="0"/>
              </a:rPr>
              <a:t>Zoek</a:t>
            </a:r>
            <a:r>
              <a:rPr lang="en-US" sz="3000" dirty="0">
                <a:latin typeface="Calibri" panose="020F0502020204030204" pitchFamily="34" charset="0"/>
                <a:ea typeface="+mn-lt"/>
                <a:cs typeface="Calibri" panose="020F0502020204030204" pitchFamily="34" charset="0"/>
              </a:rPr>
              <a:t> met </a:t>
            </a:r>
            <a:r>
              <a:rPr lang="en-US" sz="3000" dirty="0" err="1">
                <a:latin typeface="Calibri" panose="020F0502020204030204" pitchFamily="34" charset="0"/>
                <a:ea typeface="+mn-lt"/>
                <a:cs typeface="Calibri" panose="020F0502020204030204" pitchFamily="34" charset="0"/>
              </a:rPr>
              <a:t>deze</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trefwoorden</a:t>
            </a:r>
            <a:r>
              <a:rPr lang="en-US" sz="3000" dirty="0">
                <a:latin typeface="Calibri" panose="020F0502020204030204" pitchFamily="34" charset="0"/>
                <a:ea typeface="+mn-lt"/>
                <a:cs typeface="Calibri" panose="020F0502020204030204" pitchFamily="34" charset="0"/>
              </a:rPr>
              <a:t> op internet of in de </a:t>
            </a:r>
            <a:r>
              <a:rPr lang="en-US" sz="3000" dirty="0" err="1">
                <a:latin typeface="Calibri" panose="020F0502020204030204" pitchFamily="34" charset="0"/>
                <a:ea typeface="+mn-lt"/>
                <a:cs typeface="Calibri" panose="020F0502020204030204" pitchFamily="34" charset="0"/>
              </a:rPr>
              <a:t>catalogus</a:t>
            </a:r>
            <a:r>
              <a:rPr lang="en-US" sz="3000" dirty="0">
                <a:latin typeface="Calibri" panose="020F0502020204030204" pitchFamily="34" charset="0"/>
                <a:ea typeface="+mn-lt"/>
                <a:cs typeface="Calibri" panose="020F0502020204030204" pitchFamily="34" charset="0"/>
              </a:rPr>
              <a:t> van de </a:t>
            </a:r>
            <a:r>
              <a:rPr lang="en-US" sz="3000" dirty="0" err="1">
                <a:latin typeface="Calibri" panose="020F0502020204030204" pitchFamily="34" charset="0"/>
                <a:ea typeface="+mn-lt"/>
                <a:cs typeface="Calibri" panose="020F0502020204030204" pitchFamily="34" charset="0"/>
              </a:rPr>
              <a:t>bibliotheek</a:t>
            </a:r>
            <a:r>
              <a:rPr lang="en-US" sz="3000" dirty="0">
                <a:latin typeface="Calibri" panose="020F0502020204030204" pitchFamily="34" charset="0"/>
                <a:ea typeface="+mn-lt"/>
                <a:cs typeface="Calibri" panose="020F0502020204030204" pitchFamily="34" charset="0"/>
              </a:rPr>
              <a:t>.</a:t>
            </a:r>
          </a:p>
          <a:p>
            <a:pPr marL="514350" indent="-514350">
              <a:buAutoNum type="arabicPeriod"/>
            </a:pPr>
            <a:r>
              <a:rPr lang="en-US" sz="3000" dirty="0">
                <a:latin typeface="Calibri" panose="020F0502020204030204" pitchFamily="34" charset="0"/>
                <a:ea typeface="+mn-lt"/>
                <a:cs typeface="Calibri" panose="020F0502020204030204" pitchFamily="34" charset="0"/>
              </a:rPr>
              <a:t>Scan door de </a:t>
            </a:r>
            <a:r>
              <a:rPr lang="en-US" sz="3000" dirty="0" err="1">
                <a:latin typeface="Calibri" panose="020F0502020204030204" pitchFamily="34" charset="0"/>
                <a:ea typeface="+mn-lt"/>
                <a:cs typeface="Calibri" panose="020F0502020204030204" pitchFamily="34" charset="0"/>
              </a:rPr>
              <a:t>zoekresultaten</a:t>
            </a:r>
            <a:r>
              <a:rPr lang="en-US" sz="3000" dirty="0">
                <a:latin typeface="Calibri" panose="020F0502020204030204" pitchFamily="34" charset="0"/>
                <a:ea typeface="+mn-lt"/>
                <a:cs typeface="Calibri" panose="020F0502020204030204" pitchFamily="34" charset="0"/>
              </a:rPr>
              <a:t> op </a:t>
            </a:r>
            <a:r>
              <a:rPr lang="en-US" sz="3000" dirty="0" err="1">
                <a:latin typeface="Calibri" panose="020F0502020204030204" pitchFamily="34" charset="0"/>
                <a:ea typeface="+mn-lt"/>
                <a:cs typeface="Calibri" panose="020F0502020204030204" pitchFamily="34" charset="0"/>
              </a:rPr>
              <a:t>zoek</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naar</a:t>
            </a:r>
            <a:r>
              <a:rPr lang="en-US" sz="3000" dirty="0">
                <a:latin typeface="Calibri" panose="020F0502020204030204" pitchFamily="34" charset="0"/>
                <a:ea typeface="+mn-lt"/>
                <a:cs typeface="Calibri" panose="020F0502020204030204" pitchFamily="34" charset="0"/>
              </a:rPr>
              <a:t> de </a:t>
            </a:r>
            <a:r>
              <a:rPr lang="en-US" sz="3000" dirty="0" err="1">
                <a:latin typeface="Calibri" panose="020F0502020204030204" pitchFamily="34" charset="0"/>
                <a:ea typeface="+mn-lt"/>
                <a:cs typeface="Calibri" panose="020F0502020204030204" pitchFamily="34" charset="0"/>
              </a:rPr>
              <a:t>juiste</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trefwoorden</a:t>
            </a:r>
            <a:r>
              <a:rPr lang="en-US" sz="3000" dirty="0">
                <a:latin typeface="Calibri" panose="020F0502020204030204" pitchFamily="34" charset="0"/>
                <a:ea typeface="+mn-lt"/>
                <a:cs typeface="Calibri" panose="020F0502020204030204" pitchFamily="34" charset="0"/>
              </a:rPr>
              <a:t>. </a:t>
            </a:r>
          </a:p>
          <a:p>
            <a:pPr marL="514350" indent="-514350">
              <a:buAutoNum type="arabicPeriod"/>
            </a:pPr>
            <a:r>
              <a:rPr lang="en-US" sz="3000" dirty="0">
                <a:latin typeface="Calibri" panose="020F0502020204030204" pitchFamily="34" charset="0"/>
                <a:ea typeface="+mn-lt"/>
                <a:cs typeface="Calibri" panose="020F0502020204030204" pitchFamily="34" charset="0"/>
              </a:rPr>
              <a:t>Als je </a:t>
            </a:r>
            <a:r>
              <a:rPr lang="en-US" sz="3000" dirty="0" err="1">
                <a:latin typeface="Calibri" panose="020F0502020204030204" pitchFamily="34" charset="0"/>
                <a:ea typeface="+mn-lt"/>
                <a:cs typeface="Calibri" panose="020F0502020204030204" pitchFamily="34" charset="0"/>
              </a:rPr>
              <a:t>een</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tekst</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hebt</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gevonden</a:t>
            </a:r>
            <a:r>
              <a:rPr lang="en-US" sz="3000" dirty="0">
                <a:latin typeface="Calibri" panose="020F0502020204030204" pitchFamily="34" charset="0"/>
                <a:ea typeface="+mn-lt"/>
                <a:cs typeface="Calibri" panose="020F0502020204030204" pitchFamily="34" charset="0"/>
              </a:rPr>
              <a:t>, ga je op </a:t>
            </a:r>
            <a:r>
              <a:rPr lang="en-US" sz="3000" dirty="0" err="1">
                <a:latin typeface="Calibri" panose="020F0502020204030204" pitchFamily="34" charset="0"/>
                <a:ea typeface="+mn-lt"/>
                <a:cs typeface="Calibri" panose="020F0502020204030204" pitchFamily="34" charset="0"/>
              </a:rPr>
              <a:t>zoek</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naar</a:t>
            </a:r>
            <a:r>
              <a:rPr lang="en-US" sz="3000" dirty="0">
                <a:latin typeface="Calibri" panose="020F0502020204030204" pitchFamily="34" charset="0"/>
                <a:ea typeface="+mn-lt"/>
                <a:cs typeface="Calibri" panose="020F0502020204030204" pitchFamily="34" charset="0"/>
              </a:rPr>
              <a:t> de </a:t>
            </a:r>
            <a:r>
              <a:rPr lang="en-US" sz="3000" dirty="0" err="1">
                <a:latin typeface="Calibri" panose="020F0502020204030204" pitchFamily="34" charset="0"/>
                <a:ea typeface="+mn-lt"/>
                <a:cs typeface="Calibri" panose="020F0502020204030204" pitchFamily="34" charset="0"/>
              </a:rPr>
              <a:t>trefwoorden</a:t>
            </a:r>
            <a:r>
              <a:rPr lang="en-US" sz="3000" dirty="0">
                <a:latin typeface="Calibri" panose="020F0502020204030204" pitchFamily="34" charset="0"/>
                <a:ea typeface="+mn-lt"/>
                <a:cs typeface="Calibri" panose="020F0502020204030204" pitchFamily="34" charset="0"/>
              </a:rPr>
              <a:t> door de </a:t>
            </a:r>
            <a:r>
              <a:rPr lang="en-US" sz="3000" dirty="0" err="1">
                <a:latin typeface="Calibri" panose="020F0502020204030204" pitchFamily="34" charset="0"/>
                <a:ea typeface="+mn-lt"/>
                <a:cs typeface="Calibri" panose="020F0502020204030204" pitchFamily="34" charset="0"/>
              </a:rPr>
              <a:t>inhoudsopgave</a:t>
            </a:r>
            <a:r>
              <a:rPr lang="en-US" sz="3000" dirty="0">
                <a:latin typeface="Calibri" panose="020F0502020204030204" pitchFamily="34" charset="0"/>
                <a:ea typeface="+mn-lt"/>
                <a:cs typeface="Calibri" panose="020F0502020204030204" pitchFamily="34" charset="0"/>
              </a:rPr>
              <a:t>, de (</a:t>
            </a:r>
            <a:r>
              <a:rPr lang="en-US" sz="3000" dirty="0" err="1">
                <a:latin typeface="Calibri" panose="020F0502020204030204" pitchFamily="34" charset="0"/>
                <a:ea typeface="+mn-lt"/>
                <a:cs typeface="Calibri" panose="020F0502020204030204" pitchFamily="34" charset="0"/>
              </a:rPr>
              <a:t>tussen</a:t>
            </a:r>
            <a:r>
              <a:rPr lang="en-US" sz="3000" dirty="0">
                <a:latin typeface="Calibri" panose="020F0502020204030204" pitchFamily="34" charset="0"/>
                <a:ea typeface="+mn-lt"/>
                <a:cs typeface="Calibri" panose="020F0502020204030204" pitchFamily="34" charset="0"/>
              </a:rPr>
              <a:t>)kopjes </a:t>
            </a:r>
            <a:r>
              <a:rPr lang="en-US" sz="3000" dirty="0" err="1">
                <a:latin typeface="Calibri" panose="020F0502020204030204" pitchFamily="34" charset="0"/>
                <a:ea typeface="+mn-lt"/>
                <a:cs typeface="Calibri" panose="020F0502020204030204" pitchFamily="34" charset="0"/>
              </a:rPr>
              <a:t>en</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eventuele</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vetgedrukte</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begrippen</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te</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scannen</a:t>
            </a:r>
            <a:r>
              <a:rPr lang="en-US" sz="3000" dirty="0">
                <a:latin typeface="Calibri" panose="020F0502020204030204" pitchFamily="34" charset="0"/>
                <a:ea typeface="+mn-lt"/>
                <a:cs typeface="Calibri" panose="020F0502020204030204" pitchFamily="34" charset="0"/>
              </a:rPr>
              <a:t>. </a:t>
            </a:r>
          </a:p>
          <a:p>
            <a:pPr marL="0" indent="0">
              <a:buNone/>
            </a:pPr>
            <a:endParaRPr lang="en-US" dirty="0"/>
          </a:p>
        </p:txBody>
      </p:sp>
    </p:spTree>
    <p:extLst>
      <p:ext uri="{BB962C8B-B14F-4D97-AF65-F5344CB8AC3E}">
        <p14:creationId xmlns:p14="http://schemas.microsoft.com/office/powerpoint/2010/main" val="23818136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10926-2177-4785-99E5-80A010D29EBF}"/>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H18 </a:t>
            </a:r>
            <a:r>
              <a:rPr lang="en-US" dirty="0" err="1">
                <a:latin typeface="Calibri" panose="020F0502020204030204" pitchFamily="34" charset="0"/>
                <a:cs typeface="Calibri" panose="020F0502020204030204" pitchFamily="34" charset="0"/>
              </a:rPr>
              <a:t>Lerend</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lezen</a:t>
            </a:r>
            <a:endParaRPr lang="en-US"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D6EA605E-3AB9-49F0-9C24-A3A9A4C3BD6D}"/>
              </a:ext>
            </a:extLst>
          </p:cNvPr>
          <p:cNvSpPr>
            <a:spLocks noGrp="1"/>
          </p:cNvSpPr>
          <p:nvPr>
            <p:ph idx="1"/>
          </p:nvPr>
        </p:nvSpPr>
        <p:spPr>
          <a:xfrm>
            <a:off x="838200" y="1474788"/>
            <a:ext cx="10515600" cy="5018087"/>
          </a:xfrm>
        </p:spPr>
        <p:txBody>
          <a:bodyPr vert="horz" lIns="91440" tIns="45720" rIns="91440" bIns="45720" rtlCol="0" anchor="t">
            <a:normAutofit fontScale="92500" lnSpcReduction="20000"/>
          </a:bodyPr>
          <a:lstStyle/>
          <a:p>
            <a:pPr marL="0" indent="0">
              <a:buNone/>
            </a:pPr>
            <a:r>
              <a:rPr lang="en-US" sz="2800" i="1" dirty="0">
                <a:latin typeface="Calibri" panose="020F0502020204030204" pitchFamily="34" charset="0"/>
                <a:ea typeface="+mn-lt"/>
                <a:cs typeface="Calibri" panose="020F0502020204030204" pitchFamily="34" charset="0"/>
              </a:rPr>
              <a:t>Je </a:t>
            </a:r>
            <a:r>
              <a:rPr lang="en-US" sz="2800" i="1" dirty="0" err="1">
                <a:latin typeface="Calibri" panose="020F0502020204030204" pitchFamily="34" charset="0"/>
                <a:ea typeface="+mn-lt"/>
                <a:cs typeface="Calibri" panose="020F0502020204030204" pitchFamily="34" charset="0"/>
              </a:rPr>
              <a:t>leert</a:t>
            </a:r>
            <a:r>
              <a:rPr lang="en-US" sz="2800" i="1" dirty="0">
                <a:latin typeface="Calibri" panose="020F0502020204030204" pitchFamily="34" charset="0"/>
                <a:ea typeface="+mn-lt"/>
                <a:cs typeface="Calibri" panose="020F0502020204030204" pitchFamily="34" charset="0"/>
              </a:rPr>
              <a:t> wat </a:t>
            </a:r>
            <a:r>
              <a:rPr lang="en-US" sz="2800" i="1" dirty="0" err="1">
                <a:latin typeface="Calibri" panose="020F0502020204030204" pitchFamily="34" charset="0"/>
                <a:ea typeface="+mn-lt"/>
                <a:cs typeface="Calibri" panose="020F0502020204030204" pitchFamily="34" charset="0"/>
              </a:rPr>
              <a:t>leesstrategieën</a:t>
            </a:r>
            <a:r>
              <a:rPr lang="en-US" sz="2800" i="1" dirty="0">
                <a:latin typeface="Calibri" panose="020F0502020204030204" pitchFamily="34" charset="0"/>
                <a:ea typeface="+mn-lt"/>
                <a:cs typeface="Calibri" panose="020F0502020204030204" pitchFamily="34" charset="0"/>
              </a:rPr>
              <a:t> </a:t>
            </a:r>
            <a:r>
              <a:rPr lang="en-US" sz="2800" i="1" dirty="0" err="1">
                <a:latin typeface="Calibri" panose="020F0502020204030204" pitchFamily="34" charset="0"/>
                <a:ea typeface="+mn-lt"/>
                <a:cs typeface="Calibri" panose="020F0502020204030204" pitchFamily="34" charset="0"/>
              </a:rPr>
              <a:t>zijn</a:t>
            </a:r>
            <a:r>
              <a:rPr lang="en-US" sz="2800" i="1" dirty="0">
                <a:latin typeface="Calibri" panose="020F0502020204030204" pitchFamily="34" charset="0"/>
                <a:ea typeface="+mn-lt"/>
                <a:cs typeface="Calibri" panose="020F0502020204030204" pitchFamily="34" charset="0"/>
              </a:rPr>
              <a:t> </a:t>
            </a:r>
            <a:r>
              <a:rPr lang="en-US" sz="2800" i="1" dirty="0" err="1">
                <a:latin typeface="Calibri" panose="020F0502020204030204" pitchFamily="34" charset="0"/>
                <a:ea typeface="+mn-lt"/>
                <a:cs typeface="Calibri" panose="020F0502020204030204" pitchFamily="34" charset="0"/>
              </a:rPr>
              <a:t>en</a:t>
            </a:r>
            <a:r>
              <a:rPr lang="en-US" sz="2800" i="1" dirty="0">
                <a:latin typeface="Calibri" panose="020F0502020204030204" pitchFamily="34" charset="0"/>
                <a:ea typeface="+mn-lt"/>
                <a:cs typeface="Calibri" panose="020F0502020204030204" pitchFamily="34" charset="0"/>
              </a:rPr>
              <a:t> hoe je </a:t>
            </a:r>
            <a:r>
              <a:rPr lang="en-US" sz="2800" i="1" dirty="0" err="1">
                <a:latin typeface="Calibri" panose="020F0502020204030204" pitchFamily="34" charset="0"/>
                <a:ea typeface="+mn-lt"/>
                <a:cs typeface="Calibri" panose="020F0502020204030204" pitchFamily="34" charset="0"/>
              </a:rPr>
              <a:t>lerend</a:t>
            </a:r>
            <a:r>
              <a:rPr lang="en-US" sz="2800" i="1" dirty="0">
                <a:latin typeface="Calibri" panose="020F0502020204030204" pitchFamily="34" charset="0"/>
                <a:ea typeface="+mn-lt"/>
                <a:cs typeface="Calibri" panose="020F0502020204030204" pitchFamily="34" charset="0"/>
              </a:rPr>
              <a:t> </a:t>
            </a:r>
            <a:r>
              <a:rPr lang="en-US" sz="2800" i="1" dirty="0" err="1">
                <a:latin typeface="Calibri" panose="020F0502020204030204" pitchFamily="34" charset="0"/>
                <a:ea typeface="+mn-lt"/>
                <a:cs typeface="Calibri" panose="020F0502020204030204" pitchFamily="34" charset="0"/>
              </a:rPr>
              <a:t>een</a:t>
            </a:r>
            <a:r>
              <a:rPr lang="en-US" sz="2800" i="1" dirty="0">
                <a:latin typeface="Calibri" panose="020F0502020204030204" pitchFamily="34" charset="0"/>
                <a:ea typeface="+mn-lt"/>
                <a:cs typeface="Calibri" panose="020F0502020204030204" pitchFamily="34" charset="0"/>
              </a:rPr>
              <a:t> </a:t>
            </a:r>
            <a:r>
              <a:rPr lang="en-US" sz="2800" i="1" dirty="0" err="1">
                <a:latin typeface="Calibri" panose="020F0502020204030204" pitchFamily="34" charset="0"/>
                <a:ea typeface="+mn-lt"/>
                <a:cs typeface="Calibri" panose="020F0502020204030204" pitchFamily="34" charset="0"/>
              </a:rPr>
              <a:t>tekst</a:t>
            </a:r>
            <a:r>
              <a:rPr lang="en-US" sz="2800" i="1" dirty="0">
                <a:latin typeface="Calibri" panose="020F0502020204030204" pitchFamily="34" charset="0"/>
                <a:ea typeface="+mn-lt"/>
                <a:cs typeface="Calibri" panose="020F0502020204030204" pitchFamily="34" charset="0"/>
              </a:rPr>
              <a:t> </a:t>
            </a:r>
            <a:r>
              <a:rPr lang="en-US" sz="2800" i="1" dirty="0" err="1">
                <a:latin typeface="Calibri" panose="020F0502020204030204" pitchFamily="34" charset="0"/>
                <a:ea typeface="+mn-lt"/>
                <a:cs typeface="Calibri" panose="020F0502020204030204" pitchFamily="34" charset="0"/>
              </a:rPr>
              <a:t>kunt</a:t>
            </a:r>
            <a:r>
              <a:rPr lang="en-US" sz="2800" i="1" dirty="0">
                <a:latin typeface="Calibri" panose="020F0502020204030204" pitchFamily="34" charset="0"/>
                <a:ea typeface="+mn-lt"/>
                <a:cs typeface="Calibri" panose="020F0502020204030204" pitchFamily="34" charset="0"/>
              </a:rPr>
              <a:t> </a:t>
            </a:r>
            <a:r>
              <a:rPr lang="en-US" sz="2800" i="1" dirty="0" err="1">
                <a:latin typeface="Calibri" panose="020F0502020204030204" pitchFamily="34" charset="0"/>
                <a:ea typeface="+mn-lt"/>
                <a:cs typeface="Calibri" panose="020F0502020204030204" pitchFamily="34" charset="0"/>
              </a:rPr>
              <a:t>lezen</a:t>
            </a:r>
            <a:r>
              <a:rPr lang="en-US" sz="2800" i="1" dirty="0">
                <a:latin typeface="Calibri" panose="020F0502020204030204" pitchFamily="34" charset="0"/>
                <a:ea typeface="+mn-lt"/>
                <a:cs typeface="Calibri" panose="020F0502020204030204" pitchFamily="34" charset="0"/>
              </a:rPr>
              <a:t>. </a:t>
            </a:r>
          </a:p>
          <a:p>
            <a:pPr marL="0" indent="0">
              <a:buNone/>
            </a:pPr>
            <a:endParaRPr lang="en-US" sz="3000" dirty="0">
              <a:latin typeface="Calibri" panose="020F0502020204030204" pitchFamily="34" charset="0"/>
              <a:ea typeface="+mn-lt"/>
              <a:cs typeface="Calibri" panose="020F0502020204030204" pitchFamily="34" charset="0"/>
            </a:endParaRPr>
          </a:p>
          <a:p>
            <a:pPr marL="0" indent="0">
              <a:buNone/>
            </a:pPr>
            <a:r>
              <a:rPr lang="en-US" sz="3000" dirty="0">
                <a:latin typeface="Calibri" panose="020F0502020204030204" pitchFamily="34" charset="0"/>
                <a:ea typeface="+mn-lt"/>
                <a:cs typeface="Calibri" panose="020F0502020204030204" pitchFamily="34" charset="0"/>
              </a:rPr>
              <a:t>Als </a:t>
            </a:r>
            <a:r>
              <a:rPr lang="en-US" sz="3000" dirty="0" err="1">
                <a:latin typeface="Calibri" panose="020F0502020204030204" pitchFamily="34" charset="0"/>
                <a:ea typeface="+mn-lt"/>
                <a:cs typeface="Calibri" panose="020F0502020204030204" pitchFamily="34" charset="0"/>
              </a:rPr>
              <a:t>belangrijke</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informatie</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uit</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een</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tekst</a:t>
            </a:r>
            <a:r>
              <a:rPr lang="en-US" sz="3000" dirty="0">
                <a:latin typeface="Calibri" panose="020F0502020204030204" pitchFamily="34" charset="0"/>
                <a:ea typeface="+mn-lt"/>
                <a:cs typeface="Calibri" panose="020F0502020204030204" pitchFamily="34" charset="0"/>
              </a:rPr>
              <a:t> wilt </a:t>
            </a:r>
            <a:r>
              <a:rPr lang="en-US" sz="3000" dirty="0" err="1">
                <a:latin typeface="Calibri" panose="020F0502020204030204" pitchFamily="34" charset="0"/>
                <a:ea typeface="+mn-lt"/>
                <a:cs typeface="Calibri" panose="020F0502020204030204" pitchFamily="34" charset="0"/>
              </a:rPr>
              <a:t>onthouden</a:t>
            </a:r>
            <a:r>
              <a:rPr lang="en-US" sz="3000" dirty="0">
                <a:latin typeface="Calibri" panose="020F0502020204030204" pitchFamily="34" charset="0"/>
                <a:ea typeface="+mn-lt"/>
                <a:cs typeface="Calibri" panose="020F0502020204030204" pitchFamily="34" charset="0"/>
              </a:rPr>
              <a:t>, dan </a:t>
            </a:r>
            <a:r>
              <a:rPr lang="en-US" sz="3000" dirty="0" err="1">
                <a:latin typeface="Calibri" panose="020F0502020204030204" pitchFamily="34" charset="0"/>
                <a:ea typeface="+mn-lt"/>
                <a:cs typeface="Calibri" panose="020F0502020204030204" pitchFamily="34" charset="0"/>
              </a:rPr>
              <a:t>gebruik</a:t>
            </a:r>
            <a:r>
              <a:rPr lang="en-US" sz="3000" dirty="0">
                <a:latin typeface="Calibri" panose="020F0502020204030204" pitchFamily="34" charset="0"/>
                <a:ea typeface="+mn-lt"/>
                <a:cs typeface="Calibri" panose="020F0502020204030204" pitchFamily="34" charset="0"/>
              </a:rPr>
              <a:t> je de </a:t>
            </a:r>
            <a:r>
              <a:rPr lang="en-US" sz="3000" dirty="0" err="1">
                <a:latin typeface="Calibri" panose="020F0502020204030204" pitchFamily="34" charset="0"/>
                <a:ea typeface="+mn-lt"/>
                <a:cs typeface="Calibri" panose="020F0502020204030204" pitchFamily="34" charset="0"/>
              </a:rPr>
              <a:t>strategie</a:t>
            </a:r>
            <a:r>
              <a:rPr lang="en-US" sz="3000" dirty="0">
                <a:latin typeface="Calibri" panose="020F0502020204030204" pitchFamily="34" charset="0"/>
                <a:ea typeface="+mn-lt"/>
                <a:cs typeface="Calibri" panose="020F0502020204030204" pitchFamily="34" charset="0"/>
              </a:rPr>
              <a:t> </a:t>
            </a:r>
            <a:r>
              <a:rPr lang="en-US" sz="3000" b="1" dirty="0" err="1">
                <a:latin typeface="Calibri" panose="020F0502020204030204" pitchFamily="34" charset="0"/>
                <a:ea typeface="+mn-lt"/>
                <a:cs typeface="Calibri" panose="020F0502020204030204" pitchFamily="34" charset="0"/>
              </a:rPr>
              <a:t>lerend</a:t>
            </a:r>
            <a:r>
              <a:rPr lang="en-US" sz="3000" b="1" dirty="0">
                <a:latin typeface="Calibri" panose="020F0502020204030204" pitchFamily="34" charset="0"/>
                <a:ea typeface="+mn-lt"/>
                <a:cs typeface="Calibri" panose="020F0502020204030204" pitchFamily="34" charset="0"/>
              </a:rPr>
              <a:t> </a:t>
            </a:r>
            <a:r>
              <a:rPr lang="en-US" sz="3000" b="1" dirty="0" err="1">
                <a:latin typeface="Calibri" panose="020F0502020204030204" pitchFamily="34" charset="0"/>
                <a:ea typeface="+mn-lt"/>
                <a:cs typeface="Calibri" panose="020F0502020204030204" pitchFamily="34" charset="0"/>
              </a:rPr>
              <a:t>lezen</a:t>
            </a:r>
            <a:r>
              <a:rPr lang="en-US" sz="3000" dirty="0">
                <a:latin typeface="Calibri" panose="020F0502020204030204" pitchFamily="34" charset="0"/>
                <a:ea typeface="+mn-lt"/>
                <a:cs typeface="Calibri" panose="020F0502020204030204" pitchFamily="34" charset="0"/>
              </a:rPr>
              <a:t>. </a:t>
            </a:r>
          </a:p>
          <a:p>
            <a:pPr marL="0" indent="0">
              <a:buNone/>
            </a:pPr>
            <a:endParaRPr lang="en-US" sz="3000" b="1" dirty="0">
              <a:latin typeface="Calibri" panose="020F0502020204030204" pitchFamily="34" charset="0"/>
              <a:ea typeface="+mn-lt"/>
              <a:cs typeface="Calibri" panose="020F0502020204030204" pitchFamily="34" charset="0"/>
            </a:endParaRPr>
          </a:p>
          <a:p>
            <a:pPr marL="0" indent="0">
              <a:buNone/>
            </a:pPr>
            <a:r>
              <a:rPr lang="en-US" sz="3000" b="1" dirty="0" err="1">
                <a:latin typeface="Calibri" panose="020F0502020204030204" pitchFamily="34" charset="0"/>
                <a:ea typeface="+mn-lt"/>
                <a:cs typeface="Calibri" panose="020F0502020204030204" pitchFamily="34" charset="0"/>
              </a:rPr>
              <a:t>Bij</a:t>
            </a:r>
            <a:r>
              <a:rPr lang="en-US" sz="3000" b="1" dirty="0">
                <a:latin typeface="Calibri" panose="020F0502020204030204" pitchFamily="34" charset="0"/>
                <a:ea typeface="+mn-lt"/>
                <a:cs typeface="Calibri" panose="020F0502020204030204" pitchFamily="34" charset="0"/>
              </a:rPr>
              <a:t> </a:t>
            </a:r>
            <a:r>
              <a:rPr lang="en-US" sz="3000" b="1" dirty="0" err="1">
                <a:latin typeface="Calibri" panose="020F0502020204030204" pitchFamily="34" charset="0"/>
                <a:ea typeface="+mn-lt"/>
                <a:cs typeface="Calibri" panose="020F0502020204030204" pitchFamily="34" charset="0"/>
              </a:rPr>
              <a:t>lerend</a:t>
            </a:r>
            <a:r>
              <a:rPr lang="en-US" sz="3000" b="1" dirty="0">
                <a:latin typeface="Calibri" panose="020F0502020204030204" pitchFamily="34" charset="0"/>
                <a:ea typeface="+mn-lt"/>
                <a:cs typeface="Calibri" panose="020F0502020204030204" pitchFamily="34" charset="0"/>
              </a:rPr>
              <a:t> </a:t>
            </a:r>
            <a:r>
              <a:rPr lang="en-US" sz="3000" b="1" dirty="0" err="1">
                <a:latin typeface="Calibri" panose="020F0502020204030204" pitchFamily="34" charset="0"/>
                <a:ea typeface="+mn-lt"/>
                <a:cs typeface="Calibri" panose="020F0502020204030204" pitchFamily="34" charset="0"/>
              </a:rPr>
              <a:t>lezen</a:t>
            </a:r>
            <a:r>
              <a:rPr lang="en-US" sz="3000" b="1" dirty="0">
                <a:latin typeface="Calibri" panose="020F0502020204030204" pitchFamily="34" charset="0"/>
                <a:ea typeface="+mn-lt"/>
                <a:cs typeface="Calibri" panose="020F0502020204030204" pitchFamily="34" charset="0"/>
              </a:rPr>
              <a:t>: </a:t>
            </a:r>
          </a:p>
          <a:p>
            <a:pPr marL="514350" indent="-514350">
              <a:buAutoNum type="arabicPeriod"/>
            </a:pPr>
            <a:r>
              <a:rPr lang="en-US" sz="3000" dirty="0">
                <a:latin typeface="Calibri" panose="020F0502020204030204" pitchFamily="34" charset="0"/>
                <a:ea typeface="+mn-lt"/>
                <a:cs typeface="Calibri" panose="020F0502020204030204" pitchFamily="34" charset="0"/>
              </a:rPr>
              <a:t>Lees je de </a:t>
            </a:r>
            <a:r>
              <a:rPr lang="en-US" sz="3000" dirty="0" err="1">
                <a:latin typeface="Calibri" panose="020F0502020204030204" pitchFamily="34" charset="0"/>
                <a:ea typeface="+mn-lt"/>
                <a:cs typeface="Calibri" panose="020F0502020204030204" pitchFamily="34" charset="0"/>
              </a:rPr>
              <a:t>tekst</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eerst</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globaal</a:t>
            </a:r>
            <a:r>
              <a:rPr lang="en-US" sz="3000" dirty="0">
                <a:latin typeface="Calibri" panose="020F0502020204030204" pitchFamily="34" charset="0"/>
                <a:ea typeface="+mn-lt"/>
                <a:cs typeface="Calibri" panose="020F0502020204030204" pitchFamily="34" charset="0"/>
              </a:rPr>
              <a:t>.</a:t>
            </a:r>
          </a:p>
          <a:p>
            <a:pPr lvl="1"/>
            <a:r>
              <a:rPr lang="en-US" sz="2600" dirty="0">
                <a:latin typeface="Calibri" panose="020F0502020204030204" pitchFamily="34" charset="0"/>
                <a:cs typeface="Calibri" panose="020F0502020204030204" pitchFamily="34" charset="0"/>
              </a:rPr>
              <a:t>Kopjes </a:t>
            </a:r>
            <a:r>
              <a:rPr lang="en-US" sz="2600" dirty="0" err="1">
                <a:latin typeface="Calibri" panose="020F0502020204030204" pitchFamily="34" charset="0"/>
                <a:cs typeface="Calibri" panose="020F0502020204030204" pitchFamily="34" charset="0"/>
              </a:rPr>
              <a:t>en</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inhoudsopgave</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lezen</a:t>
            </a:r>
            <a:endParaRPr lang="en-US" sz="2600" dirty="0">
              <a:latin typeface="Calibri" panose="020F0502020204030204" pitchFamily="34" charset="0"/>
              <a:cs typeface="Calibri" panose="020F0502020204030204" pitchFamily="34" charset="0"/>
            </a:endParaRPr>
          </a:p>
          <a:p>
            <a:pPr lvl="1"/>
            <a:r>
              <a:rPr lang="en-US" sz="2600" dirty="0" err="1">
                <a:latin typeface="Calibri" panose="020F0502020204030204" pitchFamily="34" charset="0"/>
                <a:cs typeface="Calibri" panose="020F0502020204030204" pitchFamily="34" charset="0"/>
              </a:rPr>
              <a:t>Eerste</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en</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laatste</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alinea</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lezen</a:t>
            </a:r>
            <a:endParaRPr lang="en-US" sz="2600" dirty="0">
              <a:latin typeface="Calibri" panose="020F0502020204030204" pitchFamily="34" charset="0"/>
              <a:cs typeface="Calibri" panose="020F0502020204030204" pitchFamily="34" charset="0"/>
            </a:endParaRPr>
          </a:p>
          <a:p>
            <a:pPr marL="514350" indent="-514350">
              <a:buAutoNum type="arabicPeriod"/>
            </a:pPr>
            <a:r>
              <a:rPr lang="en-US" sz="3000" dirty="0">
                <a:latin typeface="Calibri" panose="020F0502020204030204" pitchFamily="34" charset="0"/>
                <a:ea typeface="+mn-lt"/>
                <a:cs typeface="Calibri" panose="020F0502020204030204" pitchFamily="34" charset="0"/>
              </a:rPr>
              <a:t>Lees je de </a:t>
            </a:r>
            <a:r>
              <a:rPr lang="en-US" sz="3000" dirty="0" err="1">
                <a:latin typeface="Calibri" panose="020F0502020204030204" pitchFamily="34" charset="0"/>
                <a:ea typeface="+mn-lt"/>
                <a:cs typeface="Calibri" panose="020F0502020204030204" pitchFamily="34" charset="0"/>
              </a:rPr>
              <a:t>tekst</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erna</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intensief</a:t>
            </a:r>
            <a:endParaRPr lang="en-US" sz="3000" dirty="0">
              <a:latin typeface="Calibri" panose="020F0502020204030204" pitchFamily="34" charset="0"/>
              <a:ea typeface="+mn-lt"/>
              <a:cs typeface="Calibri" panose="020F0502020204030204" pitchFamily="34" charset="0"/>
            </a:endParaRPr>
          </a:p>
          <a:p>
            <a:pPr lvl="1"/>
            <a:r>
              <a:rPr lang="en-US" sz="2600" dirty="0">
                <a:latin typeface="Calibri" panose="020F0502020204030204" pitchFamily="34" charset="0"/>
                <a:ea typeface="+mn-lt"/>
                <a:cs typeface="Calibri" panose="020F0502020204030204" pitchFamily="34" charset="0"/>
              </a:rPr>
              <a:t>Je </a:t>
            </a:r>
            <a:r>
              <a:rPr lang="en-US" sz="2600" dirty="0" err="1">
                <a:latin typeface="Calibri" panose="020F0502020204030204" pitchFamily="34" charset="0"/>
                <a:ea typeface="+mn-lt"/>
                <a:cs typeface="Calibri" panose="020F0502020204030204" pitchFamily="34" charset="0"/>
              </a:rPr>
              <a:t>probeert</a:t>
            </a:r>
            <a:r>
              <a:rPr lang="en-US" sz="2600" dirty="0">
                <a:latin typeface="Calibri" panose="020F0502020204030204" pitchFamily="34" charset="0"/>
                <a:ea typeface="+mn-lt"/>
                <a:cs typeface="Calibri" panose="020F0502020204030204" pitchFamily="34" charset="0"/>
              </a:rPr>
              <a:t> details </a:t>
            </a:r>
            <a:r>
              <a:rPr lang="en-US" sz="2600" dirty="0" err="1">
                <a:latin typeface="Calibri" panose="020F0502020204030204" pitchFamily="34" charset="0"/>
                <a:ea typeface="+mn-lt"/>
                <a:cs typeface="Calibri" panose="020F0502020204030204" pitchFamily="34" charset="0"/>
              </a:rPr>
              <a:t>en</a:t>
            </a:r>
            <a:r>
              <a:rPr lang="en-US" sz="2600" dirty="0">
                <a:latin typeface="Calibri" panose="020F0502020204030204" pitchFamily="34" charset="0"/>
                <a:ea typeface="+mn-lt"/>
                <a:cs typeface="Calibri" panose="020F0502020204030204" pitchFamily="34" charset="0"/>
              </a:rPr>
              <a:t> </a:t>
            </a:r>
            <a:r>
              <a:rPr lang="en-US" sz="2600" dirty="0" err="1">
                <a:latin typeface="Calibri" panose="020F0502020204030204" pitchFamily="34" charset="0"/>
                <a:ea typeface="+mn-lt"/>
                <a:cs typeface="Calibri" panose="020F0502020204030204" pitchFamily="34" charset="0"/>
              </a:rPr>
              <a:t>begrippen</a:t>
            </a:r>
            <a:r>
              <a:rPr lang="en-US" sz="2600" dirty="0">
                <a:latin typeface="Calibri" panose="020F0502020204030204" pitchFamily="34" charset="0"/>
                <a:ea typeface="+mn-lt"/>
                <a:cs typeface="Calibri" panose="020F0502020204030204" pitchFamily="34" charset="0"/>
              </a:rPr>
              <a:t> </a:t>
            </a:r>
            <a:r>
              <a:rPr lang="en-US" sz="2600" dirty="0" err="1">
                <a:latin typeface="Calibri" panose="020F0502020204030204" pitchFamily="34" charset="0"/>
                <a:ea typeface="+mn-lt"/>
                <a:cs typeface="Calibri" panose="020F0502020204030204" pitchFamily="34" charset="0"/>
              </a:rPr>
              <a:t>te</a:t>
            </a:r>
            <a:r>
              <a:rPr lang="en-US" sz="2600" dirty="0">
                <a:latin typeface="Calibri" panose="020F0502020204030204" pitchFamily="34" charset="0"/>
                <a:ea typeface="+mn-lt"/>
                <a:cs typeface="Calibri" panose="020F0502020204030204" pitchFamily="34" charset="0"/>
              </a:rPr>
              <a:t> </a:t>
            </a:r>
            <a:r>
              <a:rPr lang="en-US" sz="2600" dirty="0" err="1">
                <a:latin typeface="Calibri" panose="020F0502020204030204" pitchFamily="34" charset="0"/>
                <a:ea typeface="+mn-lt"/>
                <a:cs typeface="Calibri" panose="020F0502020204030204" pitchFamily="34" charset="0"/>
              </a:rPr>
              <a:t>begrijpen</a:t>
            </a:r>
            <a:r>
              <a:rPr lang="en-US" sz="2600" dirty="0">
                <a:latin typeface="Calibri" panose="020F0502020204030204" pitchFamily="34" charset="0"/>
                <a:ea typeface="+mn-lt"/>
                <a:cs typeface="Calibri" panose="020F0502020204030204" pitchFamily="34" charset="0"/>
              </a:rPr>
              <a:t>. </a:t>
            </a:r>
          </a:p>
          <a:p>
            <a:pPr marL="514350" indent="-514350">
              <a:buAutoNum type="arabicPeriod"/>
            </a:pPr>
            <a:r>
              <a:rPr lang="en-US" sz="3000" dirty="0">
                <a:latin typeface="Calibri" panose="020F0502020204030204" pitchFamily="34" charset="0"/>
                <a:ea typeface="+mn-lt"/>
                <a:cs typeface="Calibri" panose="020F0502020204030204" pitchFamily="34" charset="0"/>
              </a:rPr>
              <a:t>Vat je </a:t>
            </a:r>
            <a:r>
              <a:rPr lang="en-US" sz="3000" dirty="0" err="1">
                <a:latin typeface="Calibri" panose="020F0502020204030204" pitchFamily="34" charset="0"/>
                <a:ea typeface="+mn-lt"/>
                <a:cs typeface="Calibri" panose="020F0502020204030204" pitchFamily="34" charset="0"/>
              </a:rPr>
              <a:t>daarna</a:t>
            </a:r>
            <a:r>
              <a:rPr lang="en-US" sz="3000" dirty="0">
                <a:latin typeface="Calibri" panose="020F0502020204030204" pitchFamily="34" charset="0"/>
                <a:ea typeface="+mn-lt"/>
                <a:cs typeface="Calibri" panose="020F0502020204030204" pitchFamily="34" charset="0"/>
              </a:rPr>
              <a:t> de </a:t>
            </a:r>
            <a:r>
              <a:rPr lang="en-US" sz="3000" dirty="0" err="1">
                <a:latin typeface="Calibri" panose="020F0502020204030204" pitchFamily="34" charset="0"/>
                <a:ea typeface="+mn-lt"/>
                <a:cs typeface="Calibri" panose="020F0502020204030204" pitchFamily="34" charset="0"/>
              </a:rPr>
              <a:t>tekst</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samen</a:t>
            </a:r>
            <a:r>
              <a:rPr lang="en-US" sz="3000" dirty="0">
                <a:latin typeface="Calibri" panose="020F0502020204030204" pitchFamily="34" charset="0"/>
                <a:ea typeface="+mn-lt"/>
                <a:cs typeface="Calibri" panose="020F0502020204030204" pitchFamily="34" charset="0"/>
              </a:rPr>
              <a:t> of </a:t>
            </a:r>
            <a:r>
              <a:rPr lang="en-US" sz="3000" dirty="0" err="1">
                <a:latin typeface="Calibri" panose="020F0502020204030204" pitchFamily="34" charset="0"/>
                <a:ea typeface="+mn-lt"/>
                <a:cs typeface="Calibri" panose="020F0502020204030204" pitchFamily="34" charset="0"/>
              </a:rPr>
              <a:t>markeer</a:t>
            </a:r>
            <a:r>
              <a:rPr lang="en-US" sz="3000" dirty="0">
                <a:latin typeface="Calibri" panose="020F0502020204030204" pitchFamily="34" charset="0"/>
                <a:ea typeface="+mn-lt"/>
                <a:cs typeface="Calibri" panose="020F0502020204030204" pitchFamily="34" charset="0"/>
              </a:rPr>
              <a:t> je </a:t>
            </a:r>
            <a:r>
              <a:rPr lang="en-US" sz="3000" dirty="0" err="1">
                <a:latin typeface="Calibri" panose="020F0502020204030204" pitchFamily="34" charset="0"/>
                <a:ea typeface="+mn-lt"/>
                <a:cs typeface="Calibri" panose="020F0502020204030204" pitchFamily="34" charset="0"/>
              </a:rPr>
              <a:t>belangrijke</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onderdelen</a:t>
            </a:r>
            <a:r>
              <a:rPr lang="en-US" sz="3000" dirty="0">
                <a:latin typeface="Calibri" panose="020F0502020204030204" pitchFamily="34" charset="0"/>
                <a:ea typeface="+mn-lt"/>
                <a:cs typeface="Calibri" panose="020F0502020204030204" pitchFamily="34" charset="0"/>
              </a:rPr>
              <a:t>. </a:t>
            </a:r>
          </a:p>
          <a:p>
            <a:pPr marL="0" indent="0">
              <a:buNone/>
            </a:pPr>
            <a:endParaRPr lang="en-US" dirty="0"/>
          </a:p>
        </p:txBody>
      </p:sp>
      <p:pic>
        <p:nvPicPr>
          <p:cNvPr id="4" name="Afbeelding 3">
            <a:extLst>
              <a:ext uri="{FF2B5EF4-FFF2-40B4-BE49-F238E27FC236}">
                <a16:creationId xmlns:a16="http://schemas.microsoft.com/office/drawing/2014/main" id="{2810A053-7794-4BC3-96B3-A2C9157D3F8B}"/>
              </a:ext>
            </a:extLst>
          </p:cNvPr>
          <p:cNvPicPr>
            <a:picLocks noChangeAspect="1"/>
          </p:cNvPicPr>
          <p:nvPr/>
        </p:nvPicPr>
        <p:blipFill>
          <a:blip r:embed="rId3"/>
          <a:stretch>
            <a:fillRect/>
          </a:stretch>
        </p:blipFill>
        <p:spPr>
          <a:xfrm>
            <a:off x="8547435" y="2935287"/>
            <a:ext cx="1866900" cy="2447925"/>
          </a:xfrm>
          <a:prstGeom prst="rect">
            <a:avLst/>
          </a:prstGeom>
        </p:spPr>
      </p:pic>
    </p:spTree>
    <p:extLst>
      <p:ext uri="{BB962C8B-B14F-4D97-AF65-F5344CB8AC3E}">
        <p14:creationId xmlns:p14="http://schemas.microsoft.com/office/powerpoint/2010/main" val="18827349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10926-2177-4785-99E5-80A010D29EBF}"/>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H19 </a:t>
            </a:r>
            <a:r>
              <a:rPr lang="en-US" dirty="0" err="1">
                <a:latin typeface="Calibri" panose="020F0502020204030204" pitchFamily="34" charset="0"/>
                <a:cs typeface="Calibri" panose="020F0502020204030204" pitchFamily="34" charset="0"/>
              </a:rPr>
              <a:t>Kritisch</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lezen</a:t>
            </a:r>
            <a:endParaRPr lang="en-US"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D6EA605E-3AB9-49F0-9C24-A3A9A4C3BD6D}"/>
              </a:ext>
            </a:extLst>
          </p:cNvPr>
          <p:cNvSpPr>
            <a:spLocks noGrp="1"/>
          </p:cNvSpPr>
          <p:nvPr>
            <p:ph idx="1"/>
          </p:nvPr>
        </p:nvSpPr>
        <p:spPr>
          <a:xfrm>
            <a:off x="838200" y="1690688"/>
            <a:ext cx="10515600" cy="5167311"/>
          </a:xfrm>
        </p:spPr>
        <p:txBody>
          <a:bodyPr vert="horz" lIns="91440" tIns="45720" rIns="91440" bIns="45720" rtlCol="0" anchor="t">
            <a:normAutofit fontScale="70000" lnSpcReduction="20000"/>
          </a:bodyPr>
          <a:lstStyle/>
          <a:p>
            <a:pPr marL="0" indent="0">
              <a:buNone/>
            </a:pPr>
            <a:r>
              <a:rPr lang="en-US" sz="2800" i="1" dirty="0">
                <a:latin typeface="Calibri" panose="020F0502020204030204" pitchFamily="34" charset="0"/>
                <a:ea typeface="+mn-lt"/>
                <a:cs typeface="Calibri" panose="020F0502020204030204" pitchFamily="34" charset="0"/>
              </a:rPr>
              <a:t>Je </a:t>
            </a:r>
            <a:r>
              <a:rPr lang="en-US" sz="2800" i="1" dirty="0" err="1">
                <a:latin typeface="Calibri" panose="020F0502020204030204" pitchFamily="34" charset="0"/>
                <a:ea typeface="+mn-lt"/>
                <a:cs typeface="Calibri" panose="020F0502020204030204" pitchFamily="34" charset="0"/>
              </a:rPr>
              <a:t>leert</a:t>
            </a:r>
            <a:r>
              <a:rPr lang="en-US" sz="2800" i="1" dirty="0">
                <a:latin typeface="Calibri" panose="020F0502020204030204" pitchFamily="34" charset="0"/>
                <a:ea typeface="+mn-lt"/>
                <a:cs typeface="Calibri" panose="020F0502020204030204" pitchFamily="34" charset="0"/>
              </a:rPr>
              <a:t> wat </a:t>
            </a:r>
            <a:r>
              <a:rPr lang="en-US" sz="2800" i="1" dirty="0" err="1">
                <a:latin typeface="Calibri" panose="020F0502020204030204" pitchFamily="34" charset="0"/>
                <a:ea typeface="+mn-lt"/>
                <a:cs typeface="Calibri" panose="020F0502020204030204" pitchFamily="34" charset="0"/>
              </a:rPr>
              <a:t>leesstrategieën</a:t>
            </a:r>
            <a:r>
              <a:rPr lang="en-US" sz="2800" i="1" dirty="0">
                <a:latin typeface="Calibri" panose="020F0502020204030204" pitchFamily="34" charset="0"/>
                <a:ea typeface="+mn-lt"/>
                <a:cs typeface="Calibri" panose="020F0502020204030204" pitchFamily="34" charset="0"/>
              </a:rPr>
              <a:t> </a:t>
            </a:r>
            <a:r>
              <a:rPr lang="en-US" sz="2800" i="1" dirty="0" err="1">
                <a:latin typeface="Calibri" panose="020F0502020204030204" pitchFamily="34" charset="0"/>
                <a:ea typeface="+mn-lt"/>
                <a:cs typeface="Calibri" panose="020F0502020204030204" pitchFamily="34" charset="0"/>
              </a:rPr>
              <a:t>zijn</a:t>
            </a:r>
            <a:r>
              <a:rPr lang="en-US" sz="2800" i="1" dirty="0">
                <a:latin typeface="Calibri" panose="020F0502020204030204" pitchFamily="34" charset="0"/>
                <a:ea typeface="+mn-lt"/>
                <a:cs typeface="Calibri" panose="020F0502020204030204" pitchFamily="34" charset="0"/>
              </a:rPr>
              <a:t> </a:t>
            </a:r>
            <a:r>
              <a:rPr lang="en-US" sz="2800" i="1" dirty="0" err="1">
                <a:latin typeface="Calibri" panose="020F0502020204030204" pitchFamily="34" charset="0"/>
                <a:ea typeface="+mn-lt"/>
                <a:cs typeface="Calibri" panose="020F0502020204030204" pitchFamily="34" charset="0"/>
              </a:rPr>
              <a:t>en</a:t>
            </a:r>
            <a:r>
              <a:rPr lang="en-US" sz="2800" i="1" dirty="0">
                <a:latin typeface="Calibri" panose="020F0502020204030204" pitchFamily="34" charset="0"/>
                <a:ea typeface="+mn-lt"/>
                <a:cs typeface="Calibri" panose="020F0502020204030204" pitchFamily="34" charset="0"/>
              </a:rPr>
              <a:t> hoe je </a:t>
            </a:r>
            <a:r>
              <a:rPr lang="en-US" sz="2800" i="1" dirty="0" err="1">
                <a:latin typeface="Calibri" panose="020F0502020204030204" pitchFamily="34" charset="0"/>
                <a:ea typeface="+mn-lt"/>
                <a:cs typeface="Calibri" panose="020F0502020204030204" pitchFamily="34" charset="0"/>
              </a:rPr>
              <a:t>kritisch</a:t>
            </a:r>
            <a:r>
              <a:rPr lang="en-US" sz="2800" i="1" dirty="0">
                <a:latin typeface="Calibri" panose="020F0502020204030204" pitchFamily="34" charset="0"/>
                <a:ea typeface="+mn-lt"/>
                <a:cs typeface="Calibri" panose="020F0502020204030204" pitchFamily="34" charset="0"/>
              </a:rPr>
              <a:t> </a:t>
            </a:r>
            <a:r>
              <a:rPr lang="en-US" sz="2800" i="1" dirty="0" err="1">
                <a:latin typeface="Calibri" panose="020F0502020204030204" pitchFamily="34" charset="0"/>
                <a:ea typeface="+mn-lt"/>
                <a:cs typeface="Calibri" panose="020F0502020204030204" pitchFamily="34" charset="0"/>
              </a:rPr>
              <a:t>een</a:t>
            </a:r>
            <a:r>
              <a:rPr lang="en-US" sz="2800" i="1" dirty="0">
                <a:latin typeface="Calibri" panose="020F0502020204030204" pitchFamily="34" charset="0"/>
                <a:ea typeface="+mn-lt"/>
                <a:cs typeface="Calibri" panose="020F0502020204030204" pitchFamily="34" charset="0"/>
              </a:rPr>
              <a:t> </a:t>
            </a:r>
            <a:r>
              <a:rPr lang="en-US" sz="2800" i="1" dirty="0" err="1">
                <a:latin typeface="Calibri" panose="020F0502020204030204" pitchFamily="34" charset="0"/>
                <a:ea typeface="+mn-lt"/>
                <a:cs typeface="Calibri" panose="020F0502020204030204" pitchFamily="34" charset="0"/>
              </a:rPr>
              <a:t>tekst</a:t>
            </a:r>
            <a:r>
              <a:rPr lang="en-US" sz="2800" i="1" dirty="0">
                <a:latin typeface="Calibri" panose="020F0502020204030204" pitchFamily="34" charset="0"/>
                <a:ea typeface="+mn-lt"/>
                <a:cs typeface="Calibri" panose="020F0502020204030204" pitchFamily="34" charset="0"/>
              </a:rPr>
              <a:t> </a:t>
            </a:r>
            <a:r>
              <a:rPr lang="en-US" sz="2800" i="1" dirty="0" err="1">
                <a:latin typeface="Calibri" panose="020F0502020204030204" pitchFamily="34" charset="0"/>
                <a:ea typeface="+mn-lt"/>
                <a:cs typeface="Calibri" panose="020F0502020204030204" pitchFamily="34" charset="0"/>
              </a:rPr>
              <a:t>kunt</a:t>
            </a:r>
            <a:r>
              <a:rPr lang="en-US" sz="2800" i="1" dirty="0">
                <a:latin typeface="Calibri" panose="020F0502020204030204" pitchFamily="34" charset="0"/>
                <a:ea typeface="+mn-lt"/>
                <a:cs typeface="Calibri" panose="020F0502020204030204" pitchFamily="34" charset="0"/>
              </a:rPr>
              <a:t> </a:t>
            </a:r>
            <a:r>
              <a:rPr lang="en-US" sz="2800" i="1" dirty="0" err="1">
                <a:latin typeface="Calibri" panose="020F0502020204030204" pitchFamily="34" charset="0"/>
                <a:ea typeface="+mn-lt"/>
                <a:cs typeface="Calibri" panose="020F0502020204030204" pitchFamily="34" charset="0"/>
              </a:rPr>
              <a:t>lezen</a:t>
            </a:r>
            <a:r>
              <a:rPr lang="en-US" sz="2800" i="1" dirty="0">
                <a:latin typeface="Calibri" panose="020F0502020204030204" pitchFamily="34" charset="0"/>
                <a:ea typeface="+mn-lt"/>
                <a:cs typeface="Calibri" panose="020F0502020204030204" pitchFamily="34" charset="0"/>
              </a:rPr>
              <a:t>. </a:t>
            </a:r>
          </a:p>
          <a:p>
            <a:pPr marL="0" indent="0">
              <a:buNone/>
            </a:pPr>
            <a:endParaRPr lang="en-US" sz="3000" b="1" dirty="0">
              <a:latin typeface="Calibri" panose="020F0502020204030204" pitchFamily="34" charset="0"/>
              <a:ea typeface="+mn-lt"/>
              <a:cs typeface="Calibri" panose="020F0502020204030204" pitchFamily="34" charset="0"/>
            </a:endParaRPr>
          </a:p>
          <a:p>
            <a:pPr marL="0" indent="0">
              <a:buNone/>
            </a:pPr>
            <a:r>
              <a:rPr lang="en-US" sz="3000" b="1" dirty="0" err="1">
                <a:latin typeface="Calibri" panose="020F0502020204030204" pitchFamily="34" charset="0"/>
                <a:ea typeface="+mn-lt"/>
                <a:cs typeface="Calibri" panose="020F0502020204030204" pitchFamily="34" charset="0"/>
              </a:rPr>
              <a:t>Wanneer</a:t>
            </a:r>
            <a:r>
              <a:rPr lang="en-US" sz="3000" b="1" dirty="0">
                <a:latin typeface="Calibri" panose="020F0502020204030204" pitchFamily="34" charset="0"/>
                <a:ea typeface="+mn-lt"/>
                <a:cs typeface="Calibri" panose="020F0502020204030204" pitchFamily="34" charset="0"/>
              </a:rPr>
              <a:t> is </a:t>
            </a:r>
            <a:r>
              <a:rPr lang="en-US" sz="3000" b="1" dirty="0" err="1">
                <a:latin typeface="Calibri" panose="020F0502020204030204" pitchFamily="34" charset="0"/>
                <a:ea typeface="+mn-lt"/>
                <a:cs typeface="Calibri" panose="020F0502020204030204" pitchFamily="34" charset="0"/>
              </a:rPr>
              <a:t>een</a:t>
            </a:r>
            <a:r>
              <a:rPr lang="en-US" sz="3000" b="1" dirty="0">
                <a:latin typeface="Calibri" panose="020F0502020204030204" pitchFamily="34" charset="0"/>
                <a:ea typeface="+mn-lt"/>
                <a:cs typeface="Calibri" panose="020F0502020204030204" pitchFamily="34" charset="0"/>
              </a:rPr>
              <a:t> </a:t>
            </a:r>
            <a:r>
              <a:rPr lang="en-US" sz="3000" b="1" dirty="0" err="1">
                <a:latin typeface="Calibri" panose="020F0502020204030204" pitchFamily="34" charset="0"/>
                <a:ea typeface="+mn-lt"/>
                <a:cs typeface="Calibri" panose="020F0502020204030204" pitchFamily="34" charset="0"/>
              </a:rPr>
              <a:t>tekst</a:t>
            </a:r>
            <a:r>
              <a:rPr lang="en-US" sz="3000" b="1" dirty="0">
                <a:latin typeface="Calibri" panose="020F0502020204030204" pitchFamily="34" charset="0"/>
                <a:ea typeface="+mn-lt"/>
                <a:cs typeface="Calibri" panose="020F0502020204030204" pitchFamily="34" charset="0"/>
              </a:rPr>
              <a:t> </a:t>
            </a:r>
            <a:r>
              <a:rPr lang="en-US" sz="3000" b="1" dirty="0" err="1">
                <a:latin typeface="Calibri" panose="020F0502020204030204" pitchFamily="34" charset="0"/>
                <a:ea typeface="+mn-lt"/>
                <a:cs typeface="Calibri" panose="020F0502020204030204" pitchFamily="34" charset="0"/>
              </a:rPr>
              <a:t>betrouwbaar</a:t>
            </a:r>
            <a:r>
              <a:rPr lang="en-US" sz="3000" b="1" dirty="0">
                <a:latin typeface="Calibri" panose="020F0502020204030204" pitchFamily="34" charset="0"/>
                <a:ea typeface="+mn-lt"/>
                <a:cs typeface="Calibri" panose="020F0502020204030204" pitchFamily="34" charset="0"/>
              </a:rPr>
              <a:t>? </a:t>
            </a:r>
          </a:p>
          <a:p>
            <a:r>
              <a:rPr lang="en-US" sz="3000" dirty="0" err="1">
                <a:latin typeface="Calibri" panose="020F0502020204030204" pitchFamily="34" charset="0"/>
                <a:ea typeface="+mn-lt"/>
                <a:cs typeface="Calibri" panose="020F0502020204030204" pitchFamily="34" charset="0"/>
              </a:rPr>
              <a:t>Welke</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bronnen</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zijn</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betrouwbaar</a:t>
            </a:r>
            <a:r>
              <a:rPr lang="en-US" sz="3000" dirty="0">
                <a:latin typeface="Calibri" panose="020F0502020204030204" pitchFamily="34" charset="0"/>
                <a:ea typeface="+mn-lt"/>
                <a:cs typeface="Calibri" panose="020F0502020204030204" pitchFamily="34" charset="0"/>
              </a:rPr>
              <a:t>? </a:t>
            </a:r>
          </a:p>
          <a:p>
            <a:r>
              <a:rPr lang="en-US" sz="3000" dirty="0" err="1">
                <a:latin typeface="Calibri" panose="020F0502020204030204" pitchFamily="34" charset="0"/>
                <a:ea typeface="+mn-lt"/>
                <a:cs typeface="Calibri" panose="020F0502020204030204" pitchFamily="34" charset="0"/>
              </a:rPr>
              <a:t>Niet</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alles</a:t>
            </a:r>
            <a:r>
              <a:rPr lang="en-US" sz="3000" dirty="0">
                <a:latin typeface="Calibri" panose="020F0502020204030204" pitchFamily="34" charset="0"/>
                <a:ea typeface="+mn-lt"/>
                <a:cs typeface="Calibri" panose="020F0502020204030204" pitchFamily="34" charset="0"/>
              </a:rPr>
              <a:t> is </a:t>
            </a:r>
            <a:r>
              <a:rPr lang="en-US" sz="3000" dirty="0" err="1">
                <a:latin typeface="Calibri" panose="020F0502020204030204" pitchFamily="34" charset="0"/>
                <a:ea typeface="+mn-lt"/>
                <a:cs typeface="Calibri" panose="020F0502020204030204" pitchFamily="34" charset="0"/>
              </a:rPr>
              <a:t>te</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controleren</a:t>
            </a:r>
            <a:r>
              <a:rPr lang="en-US" sz="3000" dirty="0">
                <a:latin typeface="Calibri" panose="020F0502020204030204" pitchFamily="34" charset="0"/>
                <a:ea typeface="+mn-lt"/>
                <a:cs typeface="Calibri" panose="020F0502020204030204" pitchFamily="34" charset="0"/>
              </a:rPr>
              <a:t>. </a:t>
            </a:r>
          </a:p>
          <a:p>
            <a:pPr marL="0" indent="0">
              <a:buNone/>
            </a:pPr>
            <a:endParaRPr lang="en-US" sz="3000" dirty="0">
              <a:latin typeface="Calibri" panose="020F0502020204030204" pitchFamily="34" charset="0"/>
              <a:ea typeface="+mn-lt"/>
              <a:cs typeface="Calibri" panose="020F0502020204030204" pitchFamily="34" charset="0"/>
            </a:endParaRPr>
          </a:p>
          <a:p>
            <a:pPr marL="0" indent="0">
              <a:buNone/>
            </a:pPr>
            <a:r>
              <a:rPr lang="en-US" sz="3000" dirty="0">
                <a:latin typeface="Calibri" panose="020F0502020204030204" pitchFamily="34" charset="0"/>
                <a:ea typeface="+mn-lt"/>
                <a:cs typeface="Calibri" panose="020F0502020204030204" pitchFamily="34" charset="0"/>
              </a:rPr>
              <a:t>Je </a:t>
            </a:r>
            <a:r>
              <a:rPr lang="en-US" sz="3000" dirty="0" err="1">
                <a:latin typeface="Calibri" panose="020F0502020204030204" pitchFamily="34" charset="0"/>
                <a:ea typeface="+mn-lt"/>
                <a:cs typeface="Calibri" panose="020F0502020204030204" pitchFamily="34" charset="0"/>
              </a:rPr>
              <a:t>gaat</a:t>
            </a:r>
            <a:r>
              <a:rPr lang="en-US" sz="3000" dirty="0">
                <a:latin typeface="Calibri" panose="020F0502020204030204" pitchFamily="34" charset="0"/>
                <a:ea typeface="+mn-lt"/>
                <a:cs typeface="Calibri" panose="020F0502020204030204" pitchFamily="34" charset="0"/>
              </a:rPr>
              <a:t> </a:t>
            </a:r>
            <a:r>
              <a:rPr lang="en-US" sz="3000" b="1" dirty="0" err="1">
                <a:latin typeface="Calibri" panose="020F0502020204030204" pitchFamily="34" charset="0"/>
                <a:ea typeface="+mn-lt"/>
                <a:cs typeface="Calibri" panose="020F0502020204030204" pitchFamily="34" charset="0"/>
              </a:rPr>
              <a:t>kritisch</a:t>
            </a:r>
            <a:r>
              <a:rPr lang="en-US" sz="3000" b="1" dirty="0">
                <a:latin typeface="Calibri" panose="020F0502020204030204" pitchFamily="34" charset="0"/>
                <a:ea typeface="+mn-lt"/>
                <a:cs typeface="Calibri" panose="020F0502020204030204" pitchFamily="34" charset="0"/>
              </a:rPr>
              <a:t> </a:t>
            </a:r>
            <a:r>
              <a:rPr lang="en-US" sz="3000" b="1" dirty="0" err="1">
                <a:latin typeface="Calibri" panose="020F0502020204030204" pitchFamily="34" charset="0"/>
                <a:ea typeface="+mn-lt"/>
                <a:cs typeface="Calibri" panose="020F0502020204030204" pitchFamily="34" charset="0"/>
              </a:rPr>
              <a:t>lezen</a:t>
            </a:r>
            <a:r>
              <a:rPr lang="en-US" sz="3000" b="1"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als</a:t>
            </a:r>
            <a:r>
              <a:rPr lang="en-US" sz="3000" dirty="0">
                <a:latin typeface="Calibri" panose="020F0502020204030204" pitchFamily="34" charset="0"/>
                <a:ea typeface="+mn-lt"/>
                <a:cs typeface="Calibri" panose="020F0502020204030204" pitchFamily="34" charset="0"/>
              </a:rPr>
              <a:t> je </a:t>
            </a:r>
            <a:r>
              <a:rPr lang="en-US" sz="3000" dirty="0" err="1">
                <a:latin typeface="Calibri" panose="020F0502020204030204" pitchFamily="34" charset="0"/>
                <a:ea typeface="+mn-lt"/>
                <a:cs typeface="Calibri" panose="020F0502020204030204" pitchFamily="34" charset="0"/>
              </a:rPr>
              <a:t>je</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afvraagt</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wanneer</a:t>
            </a:r>
            <a:r>
              <a:rPr lang="en-US" sz="3000" dirty="0">
                <a:latin typeface="Calibri" panose="020F0502020204030204" pitchFamily="34" charset="0"/>
                <a:ea typeface="+mn-lt"/>
                <a:cs typeface="Calibri" panose="020F0502020204030204" pitchFamily="34" charset="0"/>
              </a:rPr>
              <a:t> de </a:t>
            </a:r>
            <a:r>
              <a:rPr lang="en-US" sz="3000" dirty="0" err="1">
                <a:latin typeface="Calibri" panose="020F0502020204030204" pitchFamily="34" charset="0"/>
                <a:ea typeface="+mn-lt"/>
                <a:cs typeface="Calibri" panose="020F0502020204030204" pitchFamily="34" charset="0"/>
              </a:rPr>
              <a:t>tekst</a:t>
            </a:r>
            <a:r>
              <a:rPr lang="en-US" sz="3000" dirty="0">
                <a:latin typeface="Calibri" panose="020F0502020204030204" pitchFamily="34" charset="0"/>
                <a:ea typeface="+mn-lt"/>
                <a:cs typeface="Calibri" panose="020F0502020204030204" pitchFamily="34" charset="0"/>
              </a:rPr>
              <a:t>/</a:t>
            </a:r>
            <a:r>
              <a:rPr lang="en-US" sz="3000" dirty="0" err="1">
                <a:latin typeface="Calibri" panose="020F0502020204030204" pitchFamily="34" charset="0"/>
                <a:ea typeface="+mn-lt"/>
                <a:cs typeface="Calibri" panose="020F0502020204030204" pitchFamily="34" charset="0"/>
              </a:rPr>
              <a:t>informatie</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betrouwbaar</a:t>
            </a:r>
            <a:r>
              <a:rPr lang="en-US" sz="3000" dirty="0">
                <a:latin typeface="Calibri" panose="020F0502020204030204" pitchFamily="34" charset="0"/>
                <a:ea typeface="+mn-lt"/>
                <a:cs typeface="Calibri" panose="020F0502020204030204" pitchFamily="34" charset="0"/>
              </a:rPr>
              <a:t> is. </a:t>
            </a:r>
          </a:p>
          <a:p>
            <a:pPr marL="0" indent="0">
              <a:buNone/>
            </a:pPr>
            <a:endParaRPr lang="en-US" sz="3000" dirty="0">
              <a:latin typeface="Calibri" panose="020F0502020204030204" pitchFamily="34" charset="0"/>
              <a:ea typeface="+mn-lt"/>
              <a:cs typeface="Calibri" panose="020F0502020204030204" pitchFamily="34" charset="0"/>
            </a:endParaRPr>
          </a:p>
          <a:p>
            <a:pPr marL="0" indent="0">
              <a:buNone/>
            </a:pPr>
            <a:r>
              <a:rPr lang="en-US" sz="3000" dirty="0" err="1">
                <a:latin typeface="Calibri" panose="020F0502020204030204" pitchFamily="34" charset="0"/>
                <a:ea typeface="+mn-lt"/>
                <a:cs typeface="Calibri" panose="020F0502020204030204" pitchFamily="34" charset="0"/>
              </a:rPr>
              <a:t>Bij</a:t>
            </a:r>
            <a:r>
              <a:rPr lang="en-US" sz="3000" dirty="0">
                <a:latin typeface="Calibri" panose="020F0502020204030204" pitchFamily="34" charset="0"/>
                <a:ea typeface="+mn-lt"/>
                <a:cs typeface="Calibri" panose="020F0502020204030204" pitchFamily="34" charset="0"/>
              </a:rPr>
              <a:t> </a:t>
            </a:r>
            <a:r>
              <a:rPr lang="en-US" sz="3000" b="1" dirty="0" err="1">
                <a:latin typeface="Calibri" panose="020F0502020204030204" pitchFamily="34" charset="0"/>
                <a:ea typeface="+mn-lt"/>
                <a:cs typeface="Calibri" panose="020F0502020204030204" pitchFamily="34" charset="0"/>
              </a:rPr>
              <a:t>kritisch</a:t>
            </a:r>
            <a:r>
              <a:rPr lang="en-US" sz="3000" b="1" dirty="0">
                <a:latin typeface="Calibri" panose="020F0502020204030204" pitchFamily="34" charset="0"/>
                <a:ea typeface="+mn-lt"/>
                <a:cs typeface="Calibri" panose="020F0502020204030204" pitchFamily="34" charset="0"/>
              </a:rPr>
              <a:t> </a:t>
            </a:r>
            <a:r>
              <a:rPr lang="en-US" sz="3000" b="1" dirty="0" err="1">
                <a:latin typeface="Calibri" panose="020F0502020204030204" pitchFamily="34" charset="0"/>
                <a:ea typeface="+mn-lt"/>
                <a:cs typeface="Calibri" panose="020F0502020204030204" pitchFamily="34" charset="0"/>
              </a:rPr>
              <a:t>lezen</a:t>
            </a:r>
            <a:r>
              <a:rPr lang="en-US" sz="3000" dirty="0">
                <a:latin typeface="Calibri" panose="020F0502020204030204" pitchFamily="34" charset="0"/>
                <a:ea typeface="+mn-lt"/>
                <a:cs typeface="Calibri" panose="020F0502020204030204" pitchFamily="34" charset="0"/>
              </a:rPr>
              <a:t>: </a:t>
            </a:r>
          </a:p>
          <a:p>
            <a:r>
              <a:rPr lang="en-US" sz="3000" dirty="0" err="1">
                <a:latin typeface="Calibri" panose="020F0502020204030204" pitchFamily="34" charset="0"/>
                <a:ea typeface="+mn-lt"/>
                <a:cs typeface="Calibri" panose="020F0502020204030204" pitchFamily="34" charset="0"/>
              </a:rPr>
              <a:t>Vraag</a:t>
            </a:r>
            <a:r>
              <a:rPr lang="en-US" sz="3000" dirty="0">
                <a:latin typeface="Calibri" panose="020F0502020204030204" pitchFamily="34" charset="0"/>
                <a:ea typeface="+mn-lt"/>
                <a:cs typeface="Calibri" panose="020F0502020204030204" pitchFamily="34" charset="0"/>
              </a:rPr>
              <a:t> je </a:t>
            </a:r>
            <a:r>
              <a:rPr lang="en-US" sz="3000" dirty="0" err="1">
                <a:latin typeface="Calibri" panose="020F0502020204030204" pitchFamily="34" charset="0"/>
                <a:ea typeface="+mn-lt"/>
                <a:cs typeface="Calibri" panose="020F0502020204030204" pitchFamily="34" charset="0"/>
              </a:rPr>
              <a:t>je</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af</a:t>
            </a:r>
            <a:r>
              <a:rPr lang="en-US" sz="3000" dirty="0">
                <a:latin typeface="Calibri" panose="020F0502020204030204" pitchFamily="34" charset="0"/>
                <a:ea typeface="+mn-lt"/>
                <a:cs typeface="Calibri" panose="020F0502020204030204" pitchFamily="34" charset="0"/>
              </a:rPr>
              <a:t> wat het </a:t>
            </a:r>
            <a:r>
              <a:rPr lang="en-US" sz="3000" dirty="0" err="1">
                <a:latin typeface="Calibri" panose="020F0502020204030204" pitchFamily="34" charset="0"/>
                <a:ea typeface="+mn-lt"/>
                <a:cs typeface="Calibri" panose="020F0502020204030204" pitchFamily="34" charset="0"/>
              </a:rPr>
              <a:t>doel</a:t>
            </a:r>
            <a:r>
              <a:rPr lang="en-US" sz="3000" dirty="0">
                <a:latin typeface="Calibri" panose="020F0502020204030204" pitchFamily="34" charset="0"/>
                <a:ea typeface="+mn-lt"/>
                <a:cs typeface="Calibri" panose="020F0502020204030204" pitchFamily="34" charset="0"/>
              </a:rPr>
              <a:t> van de </a:t>
            </a:r>
            <a:r>
              <a:rPr lang="en-US" sz="3000" dirty="0" err="1">
                <a:latin typeface="Calibri" panose="020F0502020204030204" pitchFamily="34" charset="0"/>
                <a:ea typeface="+mn-lt"/>
                <a:cs typeface="Calibri" panose="020F0502020204030204" pitchFamily="34" charset="0"/>
              </a:rPr>
              <a:t>schrijver</a:t>
            </a:r>
            <a:r>
              <a:rPr lang="en-US" sz="3000" dirty="0">
                <a:latin typeface="Calibri" panose="020F0502020204030204" pitchFamily="34" charset="0"/>
                <a:ea typeface="+mn-lt"/>
                <a:cs typeface="Calibri" panose="020F0502020204030204" pitchFamily="34" charset="0"/>
              </a:rPr>
              <a:t> is (</a:t>
            </a:r>
            <a:r>
              <a:rPr lang="en-US" sz="3000" dirty="0" err="1">
                <a:latin typeface="Calibri" panose="020F0502020204030204" pitchFamily="34" charset="0"/>
                <a:ea typeface="+mn-lt"/>
                <a:cs typeface="Calibri" panose="020F0502020204030204" pitchFamily="34" charset="0"/>
              </a:rPr>
              <a:t>informeren</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overtuigen</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overhalen</a:t>
            </a:r>
            <a:r>
              <a:rPr lang="en-US" sz="3000" dirty="0">
                <a:latin typeface="Calibri" panose="020F0502020204030204" pitchFamily="34" charset="0"/>
                <a:ea typeface="+mn-lt"/>
                <a:cs typeface="Calibri" panose="020F0502020204030204" pitchFamily="34" charset="0"/>
              </a:rPr>
              <a:t>).</a:t>
            </a:r>
          </a:p>
          <a:p>
            <a:r>
              <a:rPr lang="en-US" sz="3000" dirty="0" err="1">
                <a:latin typeface="Calibri" panose="020F0502020204030204" pitchFamily="34" charset="0"/>
                <a:ea typeface="+mn-lt"/>
                <a:cs typeface="Calibri" panose="020F0502020204030204" pitchFamily="34" charset="0"/>
              </a:rPr>
              <a:t>Vraag</a:t>
            </a:r>
            <a:r>
              <a:rPr lang="en-US" sz="3000" dirty="0">
                <a:latin typeface="Calibri" panose="020F0502020204030204" pitchFamily="34" charset="0"/>
                <a:ea typeface="+mn-lt"/>
                <a:cs typeface="Calibri" panose="020F0502020204030204" pitchFamily="34" charset="0"/>
              </a:rPr>
              <a:t> je </a:t>
            </a:r>
            <a:r>
              <a:rPr lang="en-US" sz="3000" dirty="0" err="1">
                <a:latin typeface="Calibri" panose="020F0502020204030204" pitchFamily="34" charset="0"/>
                <a:ea typeface="+mn-lt"/>
                <a:cs typeface="Calibri" panose="020F0502020204030204" pitchFamily="34" charset="0"/>
              </a:rPr>
              <a:t>je</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af</a:t>
            </a:r>
            <a:r>
              <a:rPr lang="en-US" sz="3000" dirty="0">
                <a:latin typeface="Calibri" panose="020F0502020204030204" pitchFamily="34" charset="0"/>
                <a:ea typeface="+mn-lt"/>
                <a:cs typeface="Calibri" panose="020F0502020204030204" pitchFamily="34" charset="0"/>
              </a:rPr>
              <a:t> of het </a:t>
            </a:r>
            <a:r>
              <a:rPr lang="en-US" sz="3000" dirty="0" err="1">
                <a:latin typeface="Calibri" panose="020F0502020204030204" pitchFamily="34" charset="0"/>
                <a:ea typeface="+mn-lt"/>
                <a:cs typeface="Calibri" panose="020F0502020204030204" pitchFamily="34" charset="0"/>
              </a:rPr>
              <a:t>klopt</a:t>
            </a:r>
            <a:r>
              <a:rPr lang="en-US" sz="3000" dirty="0">
                <a:latin typeface="Calibri" panose="020F0502020204030204" pitchFamily="34" charset="0"/>
                <a:ea typeface="+mn-lt"/>
                <a:cs typeface="Calibri" panose="020F0502020204030204" pitchFamily="34" charset="0"/>
              </a:rPr>
              <a:t> wat de </a:t>
            </a:r>
            <a:r>
              <a:rPr lang="en-US" sz="3000" dirty="0" err="1">
                <a:latin typeface="Calibri" panose="020F0502020204030204" pitchFamily="34" charset="0"/>
                <a:ea typeface="+mn-lt"/>
                <a:cs typeface="Calibri" panose="020F0502020204030204" pitchFamily="34" charset="0"/>
              </a:rPr>
              <a:t>schrijver</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zegt</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Kloppen</a:t>
            </a:r>
            <a:r>
              <a:rPr lang="en-US" sz="3000" dirty="0">
                <a:latin typeface="Calibri" panose="020F0502020204030204" pitchFamily="34" charset="0"/>
                <a:ea typeface="+mn-lt"/>
                <a:cs typeface="Calibri" panose="020F0502020204030204" pitchFamily="34" charset="0"/>
              </a:rPr>
              <a:t> de </a:t>
            </a:r>
            <a:r>
              <a:rPr lang="en-US" sz="3000" dirty="0" err="1">
                <a:latin typeface="Calibri" panose="020F0502020204030204" pitchFamily="34" charset="0"/>
                <a:ea typeface="+mn-lt"/>
                <a:cs typeface="Calibri" panose="020F0502020204030204" pitchFamily="34" charset="0"/>
              </a:rPr>
              <a:t>feiten</a:t>
            </a:r>
            <a:r>
              <a:rPr lang="en-US" sz="3000" dirty="0">
                <a:latin typeface="Calibri" panose="020F0502020204030204" pitchFamily="34" charset="0"/>
                <a:ea typeface="+mn-lt"/>
                <a:cs typeface="Calibri" panose="020F0502020204030204" pitchFamily="34" charset="0"/>
              </a:rPr>
              <a:t>? </a:t>
            </a:r>
          </a:p>
          <a:p>
            <a:r>
              <a:rPr lang="en-US" sz="3000" dirty="0" err="1">
                <a:latin typeface="Calibri" panose="020F0502020204030204" pitchFamily="34" charset="0"/>
                <a:ea typeface="+mn-lt"/>
                <a:cs typeface="Calibri" panose="020F0502020204030204" pitchFamily="34" charset="0"/>
              </a:rPr>
              <a:t>Raadpleeg</a:t>
            </a:r>
            <a:r>
              <a:rPr lang="en-US" sz="3000" dirty="0">
                <a:latin typeface="Calibri" panose="020F0502020204030204" pitchFamily="34" charset="0"/>
                <a:ea typeface="+mn-lt"/>
                <a:cs typeface="Calibri" panose="020F0502020204030204" pitchFamily="34" charset="0"/>
              </a:rPr>
              <a:t> je </a:t>
            </a:r>
            <a:r>
              <a:rPr lang="en-US" sz="3000" dirty="0" err="1">
                <a:latin typeface="Calibri" panose="020F0502020204030204" pitchFamily="34" charset="0"/>
                <a:ea typeface="+mn-lt"/>
                <a:cs typeface="Calibri" panose="020F0502020204030204" pitchFamily="34" charset="0"/>
              </a:rPr>
              <a:t>andere</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teksten</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ter</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controle</a:t>
            </a:r>
            <a:r>
              <a:rPr lang="en-US" sz="3000" dirty="0">
                <a:latin typeface="Calibri" panose="020F0502020204030204" pitchFamily="34" charset="0"/>
                <a:ea typeface="+mn-lt"/>
                <a:cs typeface="Calibri" panose="020F0502020204030204" pitchFamily="34" charset="0"/>
              </a:rPr>
              <a:t>. Dan </a:t>
            </a:r>
            <a:r>
              <a:rPr lang="en-US" sz="3000" dirty="0" err="1">
                <a:latin typeface="Calibri" panose="020F0502020204030204" pitchFamily="34" charset="0"/>
                <a:ea typeface="+mn-lt"/>
                <a:cs typeface="Calibri" panose="020F0502020204030204" pitchFamily="34" charset="0"/>
              </a:rPr>
              <a:t>weet</a:t>
            </a:r>
            <a:r>
              <a:rPr lang="en-US" sz="3000" dirty="0">
                <a:latin typeface="Calibri" panose="020F0502020204030204" pitchFamily="34" charset="0"/>
                <a:ea typeface="+mn-lt"/>
                <a:cs typeface="Calibri" panose="020F0502020204030204" pitchFamily="34" charset="0"/>
              </a:rPr>
              <a:t> je of de </a:t>
            </a:r>
            <a:r>
              <a:rPr lang="en-US" sz="3000" dirty="0" err="1">
                <a:latin typeface="Calibri" panose="020F0502020204030204" pitchFamily="34" charset="0"/>
                <a:ea typeface="+mn-lt"/>
                <a:cs typeface="Calibri" panose="020F0502020204030204" pitchFamily="34" charset="0"/>
              </a:rPr>
              <a:t>feiten</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echt</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kloppen</a:t>
            </a:r>
            <a:r>
              <a:rPr lang="en-US" sz="3000" dirty="0">
                <a:latin typeface="Calibri" panose="020F0502020204030204" pitchFamily="34" charset="0"/>
                <a:ea typeface="+mn-lt"/>
                <a:cs typeface="Calibri" panose="020F0502020204030204" pitchFamily="34" charset="0"/>
              </a:rPr>
              <a:t>. </a:t>
            </a:r>
          </a:p>
          <a:p>
            <a:r>
              <a:rPr lang="en-US" sz="3000" dirty="0" err="1">
                <a:latin typeface="Calibri" panose="020F0502020204030204" pitchFamily="34" charset="0"/>
                <a:ea typeface="+mn-lt"/>
                <a:cs typeface="Calibri" panose="020F0502020204030204" pitchFamily="34" charset="0"/>
              </a:rPr>
              <a:t>Kijk</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altijd</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naar</a:t>
            </a:r>
            <a:r>
              <a:rPr lang="en-US" sz="3000" dirty="0">
                <a:latin typeface="Calibri" panose="020F0502020204030204" pitchFamily="34" charset="0"/>
                <a:ea typeface="+mn-lt"/>
                <a:cs typeface="Calibri" panose="020F0502020204030204" pitchFamily="34" charset="0"/>
              </a:rPr>
              <a:t> de </a:t>
            </a:r>
            <a:r>
              <a:rPr lang="en-US" sz="3000" dirty="0" err="1">
                <a:latin typeface="Calibri" panose="020F0502020204030204" pitchFamily="34" charset="0"/>
                <a:ea typeface="+mn-lt"/>
                <a:cs typeface="Calibri" panose="020F0502020204030204" pitchFamily="34" charset="0"/>
              </a:rPr>
              <a:t>bron</a:t>
            </a:r>
            <a:r>
              <a:rPr lang="en-US" sz="3000" dirty="0">
                <a:latin typeface="Calibri" panose="020F0502020204030204" pitchFamily="34" charset="0"/>
                <a:ea typeface="+mn-lt"/>
                <a:cs typeface="Calibri" panose="020F0502020204030204" pitchFamily="34" charset="0"/>
              </a:rPr>
              <a:t> van het </a:t>
            </a:r>
            <a:r>
              <a:rPr lang="en-US" sz="3000" dirty="0" err="1">
                <a:latin typeface="Calibri" panose="020F0502020204030204" pitchFamily="34" charset="0"/>
                <a:ea typeface="+mn-lt"/>
                <a:cs typeface="Calibri" panose="020F0502020204030204" pitchFamily="34" charset="0"/>
              </a:rPr>
              <a:t>artikel</a:t>
            </a:r>
            <a:r>
              <a:rPr lang="en-US" sz="3000" dirty="0">
                <a:latin typeface="Calibri" panose="020F0502020204030204" pitchFamily="34" charset="0"/>
                <a:ea typeface="+mn-lt"/>
                <a:cs typeface="Calibri" panose="020F0502020204030204" pitchFamily="34" charset="0"/>
              </a:rPr>
              <a:t>. De </a:t>
            </a:r>
            <a:r>
              <a:rPr lang="en-US" sz="3000" dirty="0" err="1">
                <a:latin typeface="Calibri" panose="020F0502020204030204" pitchFamily="34" charset="0"/>
                <a:ea typeface="+mn-lt"/>
                <a:cs typeface="Calibri" panose="020F0502020204030204" pitchFamily="34" charset="0"/>
              </a:rPr>
              <a:t>bron</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zegt</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ook</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iets</a:t>
            </a:r>
            <a:r>
              <a:rPr lang="en-US" sz="3000" dirty="0">
                <a:latin typeface="Calibri" panose="020F0502020204030204" pitchFamily="34" charset="0"/>
                <a:ea typeface="+mn-lt"/>
                <a:cs typeface="Calibri" panose="020F0502020204030204" pitchFamily="34" charset="0"/>
              </a:rPr>
              <a:t> over de </a:t>
            </a:r>
            <a:r>
              <a:rPr lang="en-US" sz="3000" dirty="0" err="1">
                <a:latin typeface="Calibri" panose="020F0502020204030204" pitchFamily="34" charset="0"/>
                <a:ea typeface="+mn-lt"/>
                <a:cs typeface="Calibri" panose="020F0502020204030204" pitchFamily="34" charset="0"/>
              </a:rPr>
              <a:t>betrouwbaarheid</a:t>
            </a:r>
            <a:r>
              <a:rPr lang="en-US" sz="3000" dirty="0">
                <a:latin typeface="Calibri" panose="020F0502020204030204" pitchFamily="34" charset="0"/>
                <a:ea typeface="+mn-lt"/>
                <a:cs typeface="Calibri" panose="020F0502020204030204" pitchFamily="34" charset="0"/>
              </a:rPr>
              <a:t>. De </a:t>
            </a:r>
            <a:r>
              <a:rPr lang="en-US" sz="3000" dirty="0" err="1">
                <a:latin typeface="Calibri" panose="020F0502020204030204" pitchFamily="34" charset="0"/>
                <a:ea typeface="+mn-lt"/>
                <a:cs typeface="Calibri" panose="020F0502020204030204" pitchFamily="34" charset="0"/>
              </a:rPr>
              <a:t>ene</a:t>
            </a:r>
            <a:r>
              <a:rPr lang="en-US" sz="3000" dirty="0">
                <a:latin typeface="Calibri" panose="020F0502020204030204" pitchFamily="34" charset="0"/>
                <a:ea typeface="+mn-lt"/>
                <a:cs typeface="Calibri" panose="020F0502020204030204" pitchFamily="34" charset="0"/>
              </a:rPr>
              <a:t> </a:t>
            </a:r>
            <a:r>
              <a:rPr lang="en-US" sz="3000" dirty="0" err="1">
                <a:latin typeface="Calibri" panose="020F0502020204030204" pitchFamily="34" charset="0"/>
                <a:ea typeface="+mn-lt"/>
                <a:cs typeface="Calibri" panose="020F0502020204030204" pitchFamily="34" charset="0"/>
              </a:rPr>
              <a:t>bron</a:t>
            </a:r>
            <a:r>
              <a:rPr lang="en-US" sz="3000" dirty="0">
                <a:latin typeface="Calibri" panose="020F0502020204030204" pitchFamily="34" charset="0"/>
                <a:ea typeface="+mn-lt"/>
                <a:cs typeface="Calibri" panose="020F0502020204030204" pitchFamily="34" charset="0"/>
              </a:rPr>
              <a:t> is </a:t>
            </a:r>
            <a:r>
              <a:rPr lang="en-US" sz="3000" dirty="0" err="1">
                <a:latin typeface="Calibri" panose="020F0502020204030204" pitchFamily="34" charset="0"/>
                <a:ea typeface="+mn-lt"/>
                <a:cs typeface="Calibri" panose="020F0502020204030204" pitchFamily="34" charset="0"/>
              </a:rPr>
              <a:t>betrouwbaarder</a:t>
            </a:r>
            <a:r>
              <a:rPr lang="en-US" sz="3000" dirty="0">
                <a:latin typeface="Calibri" panose="020F0502020204030204" pitchFamily="34" charset="0"/>
                <a:ea typeface="+mn-lt"/>
                <a:cs typeface="Calibri" panose="020F0502020204030204" pitchFamily="34" charset="0"/>
              </a:rPr>
              <a:t> dan de </a:t>
            </a:r>
            <a:r>
              <a:rPr lang="en-US" sz="3000" dirty="0" err="1">
                <a:latin typeface="Calibri" panose="020F0502020204030204" pitchFamily="34" charset="0"/>
                <a:ea typeface="+mn-lt"/>
                <a:cs typeface="Calibri" panose="020F0502020204030204" pitchFamily="34" charset="0"/>
              </a:rPr>
              <a:t>andere</a:t>
            </a:r>
            <a:r>
              <a:rPr lang="en-US" sz="3000" dirty="0">
                <a:latin typeface="Calibri" panose="020F0502020204030204" pitchFamily="34" charset="0"/>
                <a:ea typeface="+mn-lt"/>
                <a:cs typeface="Calibri" panose="020F0502020204030204" pitchFamily="34" charset="0"/>
              </a:rPr>
              <a:t>. </a:t>
            </a:r>
          </a:p>
          <a:p>
            <a:pPr lvl="1"/>
            <a:r>
              <a:rPr lang="en-US" sz="2600" dirty="0" err="1">
                <a:latin typeface="Calibri" panose="020F0502020204030204" pitchFamily="34" charset="0"/>
                <a:ea typeface="+mn-lt"/>
                <a:cs typeface="Calibri" panose="020F0502020204030204" pitchFamily="34" charset="0"/>
              </a:rPr>
              <a:t>Voorbeelden</a:t>
            </a:r>
            <a:r>
              <a:rPr lang="en-US" sz="2600" dirty="0">
                <a:latin typeface="Calibri" panose="020F0502020204030204" pitchFamily="34" charset="0"/>
                <a:ea typeface="+mn-lt"/>
                <a:cs typeface="Calibri" panose="020F0502020204030204" pitchFamily="34" charset="0"/>
              </a:rPr>
              <a:t> van </a:t>
            </a:r>
            <a:r>
              <a:rPr lang="en-US" sz="2600" dirty="0" err="1">
                <a:latin typeface="Calibri" panose="020F0502020204030204" pitchFamily="34" charset="0"/>
                <a:ea typeface="+mn-lt"/>
                <a:cs typeface="Calibri" panose="020F0502020204030204" pitchFamily="34" charset="0"/>
              </a:rPr>
              <a:t>meer</a:t>
            </a:r>
            <a:r>
              <a:rPr lang="en-US" sz="2600" dirty="0">
                <a:latin typeface="Calibri" panose="020F0502020204030204" pitchFamily="34" charset="0"/>
                <a:ea typeface="+mn-lt"/>
                <a:cs typeface="Calibri" panose="020F0502020204030204" pitchFamily="34" charset="0"/>
              </a:rPr>
              <a:t> </a:t>
            </a:r>
            <a:r>
              <a:rPr lang="en-US" sz="2600" dirty="0" err="1">
                <a:latin typeface="Calibri" panose="020F0502020204030204" pitchFamily="34" charset="0"/>
                <a:ea typeface="+mn-lt"/>
                <a:cs typeface="Calibri" panose="020F0502020204030204" pitchFamily="34" charset="0"/>
              </a:rPr>
              <a:t>en</a:t>
            </a:r>
            <a:r>
              <a:rPr lang="en-US" sz="2600" dirty="0">
                <a:latin typeface="Calibri" panose="020F0502020204030204" pitchFamily="34" charset="0"/>
                <a:ea typeface="+mn-lt"/>
                <a:cs typeface="Calibri" panose="020F0502020204030204" pitchFamily="34" charset="0"/>
              </a:rPr>
              <a:t> minder </a:t>
            </a:r>
            <a:r>
              <a:rPr lang="en-US" sz="2600" dirty="0" err="1">
                <a:latin typeface="Calibri" panose="020F0502020204030204" pitchFamily="34" charset="0"/>
                <a:ea typeface="+mn-lt"/>
                <a:cs typeface="Calibri" panose="020F0502020204030204" pitchFamily="34" charset="0"/>
              </a:rPr>
              <a:t>betrouwbare</a:t>
            </a:r>
            <a:r>
              <a:rPr lang="en-US" sz="2600" dirty="0">
                <a:latin typeface="Calibri" panose="020F0502020204030204" pitchFamily="34" charset="0"/>
                <a:ea typeface="+mn-lt"/>
                <a:cs typeface="Calibri" panose="020F0502020204030204" pitchFamily="34" charset="0"/>
              </a:rPr>
              <a:t> </a:t>
            </a:r>
            <a:r>
              <a:rPr lang="en-US" sz="2600" dirty="0" err="1">
                <a:latin typeface="Calibri" panose="020F0502020204030204" pitchFamily="34" charset="0"/>
                <a:ea typeface="+mn-lt"/>
                <a:cs typeface="Calibri" panose="020F0502020204030204" pitchFamily="34" charset="0"/>
              </a:rPr>
              <a:t>bronnen</a:t>
            </a:r>
            <a:r>
              <a:rPr lang="en-US" sz="2600" dirty="0">
                <a:latin typeface="Calibri" panose="020F0502020204030204" pitchFamily="34" charset="0"/>
                <a:ea typeface="+mn-lt"/>
                <a:cs typeface="Calibri" panose="020F0502020204030204" pitchFamily="34" charset="0"/>
              </a:rPr>
              <a:t>  </a:t>
            </a:r>
          </a:p>
          <a:p>
            <a:endParaRPr lang="en-US" sz="3000" dirty="0">
              <a:latin typeface="Calibri" panose="020F0502020204030204" pitchFamily="34" charset="0"/>
              <a:ea typeface="+mn-lt"/>
              <a:cs typeface="Calibri" panose="020F0502020204030204" pitchFamily="34" charset="0"/>
            </a:endParaRPr>
          </a:p>
          <a:p>
            <a:endParaRPr lang="en-US" sz="3000" dirty="0">
              <a:latin typeface="Calibri" panose="020F0502020204030204" pitchFamily="34" charset="0"/>
              <a:ea typeface="+mn-lt"/>
              <a:cs typeface="Calibri" panose="020F0502020204030204" pitchFamily="34" charset="0"/>
            </a:endParaRPr>
          </a:p>
          <a:p>
            <a:endParaRPr lang="en-US" sz="3000" dirty="0">
              <a:latin typeface="Calibri" panose="020F0502020204030204" pitchFamily="34" charset="0"/>
              <a:ea typeface="+mn-lt"/>
              <a:cs typeface="Calibri" panose="020F0502020204030204" pitchFamily="34" charset="0"/>
            </a:endParaRPr>
          </a:p>
          <a:p>
            <a:endParaRPr lang="en-US" sz="3000" dirty="0">
              <a:latin typeface="Calibri" panose="020F0502020204030204" pitchFamily="34" charset="0"/>
              <a:ea typeface="+mn-lt"/>
              <a:cs typeface="Calibri" panose="020F0502020204030204" pitchFamily="34" charset="0"/>
            </a:endParaRPr>
          </a:p>
          <a:p>
            <a:pPr marL="0" indent="0">
              <a:buNone/>
            </a:pPr>
            <a:endParaRPr lang="en-US" sz="3000" dirty="0">
              <a:latin typeface="Calibri" panose="020F0502020204030204" pitchFamily="34" charset="0"/>
              <a:ea typeface="+mn-lt"/>
              <a:cs typeface="Calibri" panose="020F0502020204030204" pitchFamily="34" charset="0"/>
            </a:endParaRPr>
          </a:p>
          <a:p>
            <a:pPr marL="0" indent="0">
              <a:buNone/>
            </a:pPr>
            <a:endParaRPr lang="en-US" sz="3000" b="1" dirty="0">
              <a:latin typeface="Calibri" panose="020F0502020204030204" pitchFamily="34" charset="0"/>
              <a:ea typeface="+mn-lt"/>
              <a:cs typeface="Calibri" panose="020F0502020204030204" pitchFamily="34" charset="0"/>
            </a:endParaRPr>
          </a:p>
          <a:p>
            <a:pPr marL="0" indent="0">
              <a:buNone/>
            </a:pPr>
            <a:endParaRPr lang="en-US" dirty="0"/>
          </a:p>
        </p:txBody>
      </p:sp>
      <p:pic>
        <p:nvPicPr>
          <p:cNvPr id="4" name="Afbeelding 3">
            <a:extLst>
              <a:ext uri="{FF2B5EF4-FFF2-40B4-BE49-F238E27FC236}">
                <a16:creationId xmlns:a16="http://schemas.microsoft.com/office/drawing/2014/main" id="{870E1708-F3C3-4B94-8FF7-8039CB6F6B26}"/>
              </a:ext>
            </a:extLst>
          </p:cNvPr>
          <p:cNvPicPr>
            <a:picLocks noChangeAspect="1"/>
          </p:cNvPicPr>
          <p:nvPr/>
        </p:nvPicPr>
        <p:blipFill>
          <a:blip r:embed="rId3"/>
          <a:stretch>
            <a:fillRect/>
          </a:stretch>
        </p:blipFill>
        <p:spPr>
          <a:xfrm>
            <a:off x="9128315" y="82303"/>
            <a:ext cx="2619375" cy="1743075"/>
          </a:xfrm>
          <a:prstGeom prst="rect">
            <a:avLst/>
          </a:prstGeom>
        </p:spPr>
      </p:pic>
    </p:spTree>
    <p:extLst>
      <p:ext uri="{BB962C8B-B14F-4D97-AF65-F5344CB8AC3E}">
        <p14:creationId xmlns:p14="http://schemas.microsoft.com/office/powerpoint/2010/main" val="1049010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7">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9">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9528" y="554152"/>
            <a:ext cx="5742189" cy="5742189"/>
          </a:xfrm>
          <a:prstGeom prst="ellipse">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 name="Title 1">
            <a:extLst>
              <a:ext uri="{FF2B5EF4-FFF2-40B4-BE49-F238E27FC236}">
                <a16:creationId xmlns:a16="http://schemas.microsoft.com/office/drawing/2014/main" id="{7CE4062A-924B-46B9-9710-B1E833718B91}"/>
              </a:ext>
            </a:extLst>
          </p:cNvPr>
          <p:cNvSpPr>
            <a:spLocks noGrp="1"/>
          </p:cNvSpPr>
          <p:nvPr>
            <p:ph type="title"/>
          </p:nvPr>
        </p:nvSpPr>
        <p:spPr>
          <a:xfrm>
            <a:off x="1245072" y="1289765"/>
            <a:ext cx="3651101" cy="4270963"/>
          </a:xfrm>
        </p:spPr>
        <p:txBody>
          <a:bodyPr anchor="ctr">
            <a:normAutofit/>
          </a:bodyPr>
          <a:lstStyle/>
          <a:p>
            <a:pPr marL="0" indent="0" algn="ctr">
              <a:buNone/>
            </a:pPr>
            <a:r>
              <a:rPr lang="nl-NL" sz="2900" b="1" dirty="0">
                <a:solidFill>
                  <a:schemeClr val="bg1"/>
                </a:solidFill>
                <a:latin typeface="Calibri" panose="020F0502020204030204" pitchFamily="34" charset="0"/>
                <a:cs typeface="Calibri" panose="020F0502020204030204" pitchFamily="34" charset="0"/>
              </a:rPr>
              <a:t>Leesstrategieën </a:t>
            </a:r>
            <a:br>
              <a:rPr lang="nl-NL" sz="2900" b="1" dirty="0">
                <a:solidFill>
                  <a:schemeClr val="bg1"/>
                </a:solidFill>
                <a:latin typeface="Calibri" panose="020F0502020204030204" pitchFamily="34" charset="0"/>
                <a:cs typeface="Calibri" panose="020F0502020204030204" pitchFamily="34" charset="0"/>
              </a:rPr>
            </a:br>
            <a:r>
              <a:rPr lang="nl-NL" sz="2900" b="1" dirty="0">
                <a:solidFill>
                  <a:schemeClr val="bg1"/>
                </a:solidFill>
                <a:latin typeface="Calibri" panose="020F0502020204030204" pitchFamily="34" charset="0"/>
                <a:cs typeface="Calibri" panose="020F0502020204030204" pitchFamily="34" charset="0"/>
              </a:rPr>
              <a:t>= </a:t>
            </a:r>
            <a:br>
              <a:rPr lang="nl-NL" sz="2900" b="1" dirty="0">
                <a:solidFill>
                  <a:schemeClr val="bg1"/>
                </a:solidFill>
                <a:latin typeface="Calibri" panose="020F0502020204030204" pitchFamily="34" charset="0"/>
                <a:cs typeface="Calibri" panose="020F0502020204030204" pitchFamily="34" charset="0"/>
              </a:rPr>
            </a:br>
            <a:r>
              <a:rPr lang="nl-NL" sz="2900" b="1" dirty="0">
                <a:solidFill>
                  <a:schemeClr val="bg1"/>
                </a:solidFill>
                <a:latin typeface="Calibri" panose="020F0502020204030204" pitchFamily="34" charset="0"/>
                <a:cs typeface="Calibri" panose="020F0502020204030204" pitchFamily="34" charset="0"/>
              </a:rPr>
              <a:t>verschillende manieren om te  lezen </a:t>
            </a:r>
            <a:br>
              <a:rPr lang="nl-NL" sz="2900" b="1" dirty="0">
                <a:solidFill>
                  <a:schemeClr val="bg1"/>
                </a:solidFill>
                <a:latin typeface="Calibri" panose="020F0502020204030204" pitchFamily="34" charset="0"/>
                <a:cs typeface="Calibri" panose="020F0502020204030204" pitchFamily="34" charset="0"/>
              </a:rPr>
            </a:br>
            <a:br>
              <a:rPr lang="nl-NL" sz="2900" b="1" dirty="0">
                <a:solidFill>
                  <a:schemeClr val="bg1"/>
                </a:solidFill>
                <a:latin typeface="Calibri" panose="020F0502020204030204" pitchFamily="34" charset="0"/>
                <a:cs typeface="Calibri" panose="020F0502020204030204" pitchFamily="34" charset="0"/>
              </a:rPr>
            </a:br>
            <a:r>
              <a:rPr lang="en-US" sz="2900" b="1" dirty="0">
                <a:solidFill>
                  <a:schemeClr val="bg1"/>
                </a:solidFill>
                <a:latin typeface="Calibri" panose="020F0502020204030204" pitchFamily="34" charset="0"/>
                <a:cs typeface="Calibri" panose="020F0502020204030204" pitchFamily="34" charset="0"/>
              </a:rPr>
              <a:t>Wat is je </a:t>
            </a:r>
            <a:r>
              <a:rPr lang="en-US" sz="2900" b="1" dirty="0" err="1">
                <a:solidFill>
                  <a:schemeClr val="bg1"/>
                </a:solidFill>
                <a:latin typeface="Calibri" panose="020F0502020204030204" pitchFamily="34" charset="0"/>
                <a:cs typeface="Calibri" panose="020F0502020204030204" pitchFamily="34" charset="0"/>
              </a:rPr>
              <a:t>leesdoel</a:t>
            </a:r>
            <a:r>
              <a:rPr lang="en-US" sz="2900" b="1" dirty="0">
                <a:solidFill>
                  <a:schemeClr val="bg1"/>
                </a:solidFill>
                <a:latin typeface="Calibri" panose="020F0502020204030204" pitchFamily="34" charset="0"/>
                <a:cs typeface="Calibri" panose="020F0502020204030204" pitchFamily="34" charset="0"/>
              </a:rPr>
              <a:t>? </a:t>
            </a:r>
            <a:br>
              <a:rPr lang="en-US" sz="2900" b="1" dirty="0">
                <a:solidFill>
                  <a:schemeClr val="bg1"/>
                </a:solidFill>
                <a:latin typeface="Calibri" panose="020F0502020204030204" pitchFamily="34" charset="0"/>
                <a:cs typeface="Calibri" panose="020F0502020204030204" pitchFamily="34" charset="0"/>
              </a:rPr>
            </a:br>
            <a:r>
              <a:rPr lang="en-US" sz="2900" b="1" dirty="0">
                <a:solidFill>
                  <a:schemeClr val="bg1"/>
                </a:solidFill>
                <a:latin typeface="Calibri" panose="020F0502020204030204" pitchFamily="34" charset="0"/>
                <a:cs typeface="Calibri" panose="020F0502020204030204" pitchFamily="34" charset="0"/>
              </a:rPr>
              <a:t>Welke </a:t>
            </a:r>
            <a:r>
              <a:rPr lang="en-US" sz="2900" b="1" dirty="0" err="1">
                <a:solidFill>
                  <a:schemeClr val="bg1"/>
                </a:solidFill>
                <a:latin typeface="Calibri" panose="020F0502020204030204" pitchFamily="34" charset="0"/>
                <a:cs typeface="Calibri" panose="020F0502020204030204" pitchFamily="34" charset="0"/>
              </a:rPr>
              <a:t>leesstrategie</a:t>
            </a:r>
            <a:r>
              <a:rPr lang="en-US" sz="2900" b="1" dirty="0">
                <a:solidFill>
                  <a:schemeClr val="bg1"/>
                </a:solidFill>
                <a:latin typeface="Calibri" panose="020F0502020204030204" pitchFamily="34" charset="0"/>
                <a:cs typeface="Calibri" panose="020F0502020204030204" pitchFamily="34" charset="0"/>
              </a:rPr>
              <a:t> past </a:t>
            </a:r>
            <a:r>
              <a:rPr lang="en-US" sz="2900" b="1" dirty="0" err="1">
                <a:solidFill>
                  <a:schemeClr val="bg1"/>
                </a:solidFill>
                <a:latin typeface="Calibri" panose="020F0502020204030204" pitchFamily="34" charset="0"/>
                <a:cs typeface="Calibri" panose="020F0502020204030204" pitchFamily="34" charset="0"/>
              </a:rPr>
              <a:t>daarbij</a:t>
            </a:r>
            <a:r>
              <a:rPr lang="en-US" sz="2900" b="1" dirty="0">
                <a:solidFill>
                  <a:schemeClr val="bg1"/>
                </a:solidFill>
                <a:latin typeface="Calibri" panose="020F0502020204030204" pitchFamily="34" charset="0"/>
                <a:cs typeface="Calibri" panose="020F0502020204030204" pitchFamily="34" charset="0"/>
              </a:rPr>
              <a:t>?</a:t>
            </a:r>
            <a:br>
              <a:rPr lang="en-US" sz="2900" dirty="0">
                <a:solidFill>
                  <a:schemeClr val="bg1"/>
                </a:solidFill>
                <a:latin typeface="Calibri" panose="020F0502020204030204" pitchFamily="34" charset="0"/>
                <a:cs typeface="Calibri" panose="020F0502020204030204" pitchFamily="34" charset="0"/>
              </a:rPr>
            </a:br>
            <a:endParaRPr lang="nl-NL" sz="2900" dirty="0">
              <a:solidFill>
                <a:schemeClr val="bg1"/>
              </a:solidFill>
            </a:endParaRPr>
          </a:p>
        </p:txBody>
      </p:sp>
      <p:sp>
        <p:nvSpPr>
          <p:cNvPr id="2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493" y="374394"/>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2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109" y="1084507"/>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25" name="Content Placeholder 2">
            <a:extLst>
              <a:ext uri="{FF2B5EF4-FFF2-40B4-BE49-F238E27FC236}">
                <a16:creationId xmlns:a16="http://schemas.microsoft.com/office/drawing/2014/main" id="{72793BBF-D475-4FC9-BF3A-9C573EB547AA}"/>
              </a:ext>
            </a:extLst>
          </p:cNvPr>
          <p:cNvSpPr>
            <a:spLocks noGrp="1"/>
          </p:cNvSpPr>
          <p:nvPr>
            <p:ph idx="1"/>
          </p:nvPr>
        </p:nvSpPr>
        <p:spPr>
          <a:xfrm>
            <a:off x="6397039" y="381935"/>
            <a:ext cx="4685916" cy="5974415"/>
          </a:xfrm>
        </p:spPr>
        <p:txBody>
          <a:bodyPr vert="horz" lIns="91440" tIns="45720" rIns="91440" bIns="45720" rtlCol="0" anchor="ctr">
            <a:normAutofit/>
          </a:bodyPr>
          <a:lstStyle/>
          <a:p>
            <a:pPr marL="0" indent="0">
              <a:buNone/>
            </a:pPr>
            <a:r>
              <a:rPr lang="nl-NL" b="1" dirty="0">
                <a:latin typeface="Arial" panose="020B0604020202020204" pitchFamily="34" charset="0"/>
                <a:cs typeface="Arial" panose="020B0604020202020204" pitchFamily="34" charset="0"/>
              </a:rPr>
              <a:t>Terugblik: </a:t>
            </a:r>
            <a:endParaRPr lang="en-US" dirty="0">
              <a:latin typeface="Arial" panose="020B0604020202020204" pitchFamily="34" charset="0"/>
              <a:cs typeface="Arial" panose="020B0604020202020204" pitchFamily="34" charset="0"/>
            </a:endParaRPr>
          </a:p>
          <a:p>
            <a:r>
              <a:rPr lang="en-US" sz="1800" dirty="0" err="1">
                <a:latin typeface="Arial" panose="020B0604020202020204" pitchFamily="34" charset="0"/>
                <a:cs typeface="Arial" panose="020B0604020202020204" pitchFamily="34" charset="0"/>
              </a:rPr>
              <a:t>Globaal</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lezen</a:t>
            </a:r>
            <a:r>
              <a:rPr lang="en-US" sz="1800" dirty="0">
                <a:latin typeface="Arial" panose="020B0604020202020204" pitchFamily="34" charset="0"/>
                <a:cs typeface="Arial" panose="020B0604020202020204" pitchFamily="34" charset="0"/>
              </a:rPr>
              <a:t> = H17</a:t>
            </a:r>
          </a:p>
          <a:p>
            <a:r>
              <a:rPr lang="en-US" sz="1800" dirty="0" err="1">
                <a:latin typeface="Arial" panose="020B0604020202020204" pitchFamily="34" charset="0"/>
                <a:cs typeface="Arial" panose="020B0604020202020204" pitchFamily="34" charset="0"/>
              </a:rPr>
              <a:t>Intensief</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lezen</a:t>
            </a:r>
            <a:r>
              <a:rPr lang="en-US" sz="1800" dirty="0">
                <a:latin typeface="Arial" panose="020B0604020202020204" pitchFamily="34" charset="0"/>
                <a:cs typeface="Arial" panose="020B0604020202020204" pitchFamily="34" charset="0"/>
              </a:rPr>
              <a:t> = H17</a:t>
            </a:r>
          </a:p>
          <a:p>
            <a:r>
              <a:rPr lang="en-US" sz="1800" dirty="0" err="1">
                <a:latin typeface="Arial" panose="020B0604020202020204" pitchFamily="34" charset="0"/>
                <a:cs typeface="Arial" panose="020B0604020202020204" pitchFamily="34" charset="0"/>
              </a:rPr>
              <a:t>Zoekend</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lezen</a:t>
            </a:r>
            <a:r>
              <a:rPr lang="en-US" sz="1800" dirty="0">
                <a:latin typeface="Arial" panose="020B0604020202020204" pitchFamily="34" charset="0"/>
                <a:cs typeface="Arial" panose="020B0604020202020204" pitchFamily="34" charset="0"/>
              </a:rPr>
              <a:t> = H18</a:t>
            </a:r>
          </a:p>
          <a:p>
            <a:r>
              <a:rPr lang="en-US" sz="1800" dirty="0">
                <a:latin typeface="Arial" panose="020B0604020202020204" pitchFamily="34" charset="0"/>
                <a:cs typeface="Arial" panose="020B0604020202020204" pitchFamily="34" charset="0"/>
              </a:rPr>
              <a:t>Lerend </a:t>
            </a:r>
            <a:r>
              <a:rPr lang="en-US" sz="1800" dirty="0" err="1">
                <a:latin typeface="Arial" panose="020B0604020202020204" pitchFamily="34" charset="0"/>
                <a:cs typeface="Arial" panose="020B0604020202020204" pitchFamily="34" charset="0"/>
              </a:rPr>
              <a:t>lezen</a:t>
            </a:r>
            <a:r>
              <a:rPr lang="en-US" sz="1800" dirty="0">
                <a:latin typeface="Arial" panose="020B0604020202020204" pitchFamily="34" charset="0"/>
                <a:cs typeface="Arial" panose="020B0604020202020204" pitchFamily="34" charset="0"/>
              </a:rPr>
              <a:t> = H18</a:t>
            </a:r>
          </a:p>
          <a:p>
            <a:r>
              <a:rPr lang="en-US" sz="1800" dirty="0" err="1">
                <a:latin typeface="Arial" panose="020B0604020202020204" pitchFamily="34" charset="0"/>
                <a:cs typeface="Arial" panose="020B0604020202020204" pitchFamily="34" charset="0"/>
              </a:rPr>
              <a:t>Kritisch</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lezen</a:t>
            </a:r>
            <a:r>
              <a:rPr lang="en-US" sz="1800" dirty="0">
                <a:latin typeface="Arial" panose="020B0604020202020204" pitchFamily="34" charset="0"/>
                <a:cs typeface="Arial" panose="020B0604020202020204" pitchFamily="34" charset="0"/>
              </a:rPr>
              <a:t> = H19</a:t>
            </a:r>
          </a:p>
        </p:txBody>
      </p:sp>
      <p:sp>
        <p:nvSpPr>
          <p:cNvPr id="2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6547" y="5751820"/>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cxnSp>
        <p:nvCxnSpPr>
          <p:cNvPr id="27" name="Straight Connector 17">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2"/>
                </a:gs>
                <a:gs pos="100000">
                  <a:schemeClr val="accent4"/>
                </a:gs>
              </a:gsLst>
              <a:lin ang="54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78122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651949B-3686-4448-9DC9-A0E3BE475847}"/>
              </a:ext>
            </a:extLst>
          </p:cNvPr>
          <p:cNvSpPr>
            <a:spLocks noGrp="1"/>
          </p:cNvSpPr>
          <p:nvPr>
            <p:ph type="title"/>
          </p:nvPr>
        </p:nvSpPr>
        <p:spPr>
          <a:xfrm>
            <a:off x="838200" y="425514"/>
            <a:ext cx="6155988" cy="1086415"/>
          </a:xfrm>
        </p:spPr>
        <p:txBody>
          <a:bodyPr anchor="b">
            <a:normAutofit fontScale="90000"/>
          </a:bodyPr>
          <a:lstStyle/>
          <a:p>
            <a:r>
              <a:rPr lang="nl-NL" sz="3800" dirty="0"/>
              <a:t>H32 Woorden en hun betekenissen</a:t>
            </a:r>
          </a:p>
        </p:txBody>
      </p:sp>
      <p:sp>
        <p:nvSpPr>
          <p:cNvPr id="3" name="Tijdelijke aanduiding voor inhoud 2">
            <a:extLst>
              <a:ext uri="{FF2B5EF4-FFF2-40B4-BE49-F238E27FC236}">
                <a16:creationId xmlns:a16="http://schemas.microsoft.com/office/drawing/2014/main" id="{6E7F1932-D044-E346-AE5B-387041E6343A}"/>
              </a:ext>
            </a:extLst>
          </p:cNvPr>
          <p:cNvSpPr>
            <a:spLocks noGrp="1"/>
          </p:cNvSpPr>
          <p:nvPr>
            <p:ph idx="1"/>
          </p:nvPr>
        </p:nvSpPr>
        <p:spPr>
          <a:xfrm>
            <a:off x="760491" y="1901228"/>
            <a:ext cx="7143232" cy="4293496"/>
          </a:xfrm>
        </p:spPr>
        <p:txBody>
          <a:bodyPr anchor="t">
            <a:normAutofit fontScale="85000" lnSpcReduction="20000"/>
          </a:bodyPr>
          <a:lstStyle/>
          <a:p>
            <a:pPr marL="0" indent="0">
              <a:buNone/>
            </a:pPr>
            <a:r>
              <a:rPr lang="nl-NL" sz="2800" dirty="0"/>
              <a:t>Een woord = een samenstelling van letters met één of meer betekenissen. </a:t>
            </a:r>
          </a:p>
          <a:p>
            <a:pPr marL="0" indent="0">
              <a:buNone/>
            </a:pPr>
            <a:endParaRPr lang="nl-NL" sz="2800" dirty="0"/>
          </a:p>
          <a:p>
            <a:pPr marL="0" indent="0">
              <a:buNone/>
            </a:pPr>
            <a:r>
              <a:rPr lang="nl-NL" sz="2800" b="1" dirty="0"/>
              <a:t>Wat betekenen woorden?</a:t>
            </a:r>
          </a:p>
          <a:p>
            <a:r>
              <a:rPr lang="nl-NL" sz="2800" dirty="0"/>
              <a:t>woordenboek</a:t>
            </a:r>
          </a:p>
          <a:p>
            <a:r>
              <a:rPr lang="nl-NL" sz="2800" dirty="0"/>
              <a:t>context (de totale omgeving waaruit je de betekenis kunt herleiden):</a:t>
            </a:r>
          </a:p>
          <a:p>
            <a:pPr lvl="1">
              <a:buFont typeface="Courier New" panose="02070309020205020404" pitchFamily="49" charset="0"/>
              <a:buChar char="o"/>
            </a:pPr>
            <a:r>
              <a:rPr lang="nl-NL" dirty="0"/>
              <a:t> rest van de tekst</a:t>
            </a:r>
          </a:p>
          <a:p>
            <a:pPr lvl="1">
              <a:buFont typeface="Courier New" panose="02070309020205020404" pitchFamily="49" charset="0"/>
              <a:buChar char="o"/>
            </a:pPr>
            <a:r>
              <a:rPr lang="nl-NL" dirty="0"/>
              <a:t> eventuele afbeeldingen</a:t>
            </a:r>
          </a:p>
          <a:p>
            <a:pPr lvl="1">
              <a:buFont typeface="Courier New" panose="02070309020205020404" pitchFamily="49" charset="0"/>
              <a:buChar char="o"/>
            </a:pPr>
            <a:r>
              <a:rPr lang="nl-NL" dirty="0"/>
              <a:t> schrijver (info over wie de tekst heeft geschreven)</a:t>
            </a:r>
          </a:p>
          <a:p>
            <a:pPr lvl="1">
              <a:buFont typeface="Courier New" panose="02070309020205020404" pitchFamily="49" charset="0"/>
              <a:buChar char="o"/>
            </a:pPr>
            <a:r>
              <a:rPr lang="nl-NL" dirty="0"/>
              <a:t> vindplek (info over waar de tekst vandaan komt)</a:t>
            </a:r>
          </a:p>
          <a:p>
            <a:pPr marL="0" indent="0">
              <a:buNone/>
            </a:pPr>
            <a:r>
              <a:rPr lang="nl-NL" sz="2800" dirty="0"/>
              <a:t> </a:t>
            </a:r>
          </a:p>
        </p:txBody>
      </p:sp>
      <p:pic>
        <p:nvPicPr>
          <p:cNvPr id="7" name="Graphic 6" descr="Head with Gears">
            <a:extLst>
              <a:ext uri="{FF2B5EF4-FFF2-40B4-BE49-F238E27FC236}">
                <a16:creationId xmlns:a16="http://schemas.microsoft.com/office/drawing/2014/main" id="{CF4BEB83-3C43-418F-B629-B39E37B74D1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449517" y="2272418"/>
            <a:ext cx="2981992" cy="2958105"/>
          </a:xfrm>
          <a:prstGeom prst="rect">
            <a:avLst/>
          </a:prstGeom>
        </p:spPr>
      </p:pic>
    </p:spTree>
    <p:extLst>
      <p:ext uri="{BB962C8B-B14F-4D97-AF65-F5344CB8AC3E}">
        <p14:creationId xmlns:p14="http://schemas.microsoft.com/office/powerpoint/2010/main" val="32078533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651949B-3686-4448-9DC9-A0E3BE475847}"/>
              </a:ext>
            </a:extLst>
          </p:cNvPr>
          <p:cNvSpPr>
            <a:spLocks noGrp="1"/>
          </p:cNvSpPr>
          <p:nvPr>
            <p:ph type="title"/>
          </p:nvPr>
        </p:nvSpPr>
        <p:spPr>
          <a:xfrm>
            <a:off x="838200" y="425514"/>
            <a:ext cx="6155988" cy="1086415"/>
          </a:xfrm>
        </p:spPr>
        <p:txBody>
          <a:bodyPr anchor="b">
            <a:normAutofit fontScale="90000"/>
          </a:bodyPr>
          <a:lstStyle/>
          <a:p>
            <a:r>
              <a:rPr lang="nl-NL" sz="3800" dirty="0"/>
              <a:t>H32 Woorden en hun betekenissen</a:t>
            </a:r>
          </a:p>
        </p:txBody>
      </p:sp>
      <p:sp>
        <p:nvSpPr>
          <p:cNvPr id="3" name="Tijdelijke aanduiding voor inhoud 2">
            <a:extLst>
              <a:ext uri="{FF2B5EF4-FFF2-40B4-BE49-F238E27FC236}">
                <a16:creationId xmlns:a16="http://schemas.microsoft.com/office/drawing/2014/main" id="{6E7F1932-D044-E346-AE5B-387041E6343A}"/>
              </a:ext>
            </a:extLst>
          </p:cNvPr>
          <p:cNvSpPr>
            <a:spLocks noGrp="1"/>
          </p:cNvSpPr>
          <p:nvPr>
            <p:ph idx="1"/>
          </p:nvPr>
        </p:nvSpPr>
        <p:spPr>
          <a:xfrm>
            <a:off x="760491" y="1901228"/>
            <a:ext cx="7143232" cy="4956772"/>
          </a:xfrm>
        </p:spPr>
        <p:txBody>
          <a:bodyPr anchor="t">
            <a:normAutofit fontScale="77500" lnSpcReduction="20000"/>
          </a:bodyPr>
          <a:lstStyle/>
          <a:p>
            <a:pPr marL="0" indent="0">
              <a:buNone/>
            </a:pPr>
            <a:r>
              <a:rPr lang="nl-NL" sz="2800" b="1" dirty="0"/>
              <a:t>Betekenissen raden </a:t>
            </a:r>
          </a:p>
          <a:p>
            <a:pPr marL="0" indent="0">
              <a:buNone/>
            </a:pPr>
            <a:endParaRPr lang="nl-NL" sz="2800" dirty="0"/>
          </a:p>
          <a:p>
            <a:pPr marL="0" indent="0">
              <a:buNone/>
            </a:pPr>
            <a:r>
              <a:rPr lang="nl-NL" sz="2800" b="1" dirty="0"/>
              <a:t>Hoe leren we nieuwe woorden? </a:t>
            </a:r>
          </a:p>
          <a:p>
            <a:r>
              <a:rPr lang="nl-NL" sz="2800" dirty="0"/>
              <a:t>Soms leren we woorden bewust aan (zoals de woordenlijstjes die we bij Nederlands leren). </a:t>
            </a:r>
            <a:endParaRPr lang="nl-NL" sz="2800" b="1" dirty="0"/>
          </a:p>
          <a:p>
            <a:r>
              <a:rPr lang="nl-NL" sz="2800" dirty="0"/>
              <a:t>Veel nieuwe woorden leren we eigenlijk onbewust door: </a:t>
            </a:r>
          </a:p>
          <a:p>
            <a:pPr lvl="1"/>
            <a:r>
              <a:rPr lang="nl-NL" sz="2400" dirty="0"/>
              <a:t>Veel te lezen</a:t>
            </a:r>
          </a:p>
          <a:p>
            <a:pPr lvl="1"/>
            <a:r>
              <a:rPr lang="nl-NL" sz="2400" dirty="0"/>
              <a:t>Contexten te gebruiken </a:t>
            </a:r>
          </a:p>
          <a:p>
            <a:pPr lvl="2"/>
            <a:r>
              <a:rPr lang="nl-NL" sz="2000" dirty="0"/>
              <a:t>Soms betekent het woord in de ene context iets anders dan in de andere context. Soms betekent hetzelfde woord in diverse contexten hetzelfde. </a:t>
            </a:r>
          </a:p>
          <a:p>
            <a:pPr marL="0" indent="0">
              <a:buNone/>
            </a:pPr>
            <a:r>
              <a:rPr lang="nl-NL" sz="1600" b="1" i="0" dirty="0">
                <a:solidFill>
                  <a:srgbClr val="333333"/>
                </a:solidFill>
                <a:effectLst/>
                <a:latin typeface="Avenir LT W01_55 Roman1475520"/>
              </a:rPr>
              <a:t>Feit: </a:t>
            </a:r>
            <a:r>
              <a:rPr lang="nl-NL" sz="1600" b="0" i="0" dirty="0">
                <a:solidFill>
                  <a:srgbClr val="333333"/>
                </a:solidFill>
                <a:effectLst/>
                <a:latin typeface="Avenir LT W01_55 Roman1475520"/>
              </a:rPr>
              <a:t>“Woordkennis is bepalend voor tekstbegrip. Om een tekst goed te kunnen begrijpen, blijken leerlingen minimaal 85 procent van het totaal aantal verschillende woorden uit de tekst te moeten kennen. Sommigen gaan echter uit van een percentage bekende woorden van 90 procent. Met een tekstdekking lager dan 75 procent herkent men zelfs de hoofdzaken uit een tekst niet.” </a:t>
            </a:r>
          </a:p>
          <a:p>
            <a:pPr marL="0" indent="0">
              <a:buNone/>
            </a:pPr>
            <a:r>
              <a:rPr lang="nl-NL" sz="1600" b="1" dirty="0">
                <a:solidFill>
                  <a:srgbClr val="333333"/>
                </a:solidFill>
                <a:latin typeface="Avenir LT W01_55 Roman1475520"/>
              </a:rPr>
              <a:t>Conclusie</a:t>
            </a:r>
            <a:r>
              <a:rPr lang="nl-NL" sz="1600" dirty="0">
                <a:solidFill>
                  <a:srgbClr val="333333"/>
                </a:solidFill>
                <a:latin typeface="Avenir LT W01_55 Roman1475520"/>
              </a:rPr>
              <a:t>: je kunt alleen onbewust woorden via de context leren als je al een groot gedeelte van de woorden uit de tekst kent. Als je te veel woorden niet begrijpt, wordt het onbewust leren van woorden lastig(er). </a:t>
            </a:r>
            <a:endParaRPr lang="nl-NL" sz="1600" b="0" i="0" dirty="0">
              <a:solidFill>
                <a:srgbClr val="333333"/>
              </a:solidFill>
              <a:effectLst/>
              <a:latin typeface="Avenir LT W01_55 Roman1475520"/>
            </a:endParaRPr>
          </a:p>
          <a:p>
            <a:pPr marL="0" indent="0">
              <a:buNone/>
            </a:pPr>
            <a:r>
              <a:rPr lang="nl-NL" sz="1000" dirty="0">
                <a:hlinkClick r:id="rId2"/>
              </a:rPr>
              <a:t>Bron: https://husite.nl/leoned/theorie-algemeen/tekstbegrip/</a:t>
            </a:r>
            <a:r>
              <a:rPr lang="nl-NL" sz="1000" dirty="0"/>
              <a:t>* </a:t>
            </a:r>
          </a:p>
          <a:p>
            <a:pPr marL="0" indent="0">
              <a:buNone/>
            </a:pPr>
            <a:r>
              <a:rPr lang="nl-NL" sz="1000" b="0" i="0" dirty="0">
                <a:solidFill>
                  <a:srgbClr val="333333"/>
                </a:solidFill>
                <a:effectLst/>
                <a:latin typeface="Avenir LT W01_55 Roman1475520"/>
              </a:rPr>
              <a:t>*LEONED staat voor het Landelijk Expertisecentrum Opleidingen Nederlands en Diversiteit. LEONED is een consortium van de Faculteit Educatie van de Hogeschool Utrecht, Expertisecentrum Nederlands, Radboud Docenten Academie en SLO. </a:t>
            </a:r>
            <a:endParaRPr lang="nl-NL" sz="1000" dirty="0"/>
          </a:p>
          <a:p>
            <a:pPr marL="0" indent="0">
              <a:buNone/>
            </a:pPr>
            <a:endParaRPr lang="nl-NL" sz="2800" dirty="0"/>
          </a:p>
        </p:txBody>
      </p:sp>
      <p:pic>
        <p:nvPicPr>
          <p:cNvPr id="7" name="Graphic 6" descr="Head with Gears">
            <a:extLst>
              <a:ext uri="{FF2B5EF4-FFF2-40B4-BE49-F238E27FC236}">
                <a16:creationId xmlns:a16="http://schemas.microsoft.com/office/drawing/2014/main" id="{CF4BEB83-3C43-418F-B629-B39E37B74D1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49517" y="2272418"/>
            <a:ext cx="2981992" cy="2958105"/>
          </a:xfrm>
          <a:prstGeom prst="rect">
            <a:avLst/>
          </a:prstGeom>
        </p:spPr>
      </p:pic>
    </p:spTree>
    <p:extLst>
      <p:ext uri="{BB962C8B-B14F-4D97-AF65-F5344CB8AC3E}">
        <p14:creationId xmlns:p14="http://schemas.microsoft.com/office/powerpoint/2010/main" val="30112235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1559859" y="274638"/>
            <a:ext cx="8897829" cy="418058"/>
          </a:xfrm>
        </p:spPr>
        <p:txBody>
          <a:bodyPr>
            <a:normAutofit fontScale="90000"/>
          </a:bodyPr>
          <a:lstStyle/>
          <a:p>
            <a:r>
              <a:rPr lang="nl-NL" dirty="0">
                <a:solidFill>
                  <a:srgbClr val="0070C0"/>
                </a:solidFill>
                <a:latin typeface="Arial" charset="0"/>
                <a:ea typeface="Arial" charset="0"/>
                <a:cs typeface="Arial" charset="0"/>
              </a:rPr>
              <a:t>H32 Theorie woordraadstrategieën </a:t>
            </a:r>
          </a:p>
        </p:txBody>
      </p:sp>
      <p:sp>
        <p:nvSpPr>
          <p:cNvPr id="3" name="Tijdelijke aanduiding voor inhoud 2"/>
          <p:cNvSpPr>
            <a:spLocks noGrp="1"/>
          </p:cNvSpPr>
          <p:nvPr>
            <p:ph idx="1"/>
          </p:nvPr>
        </p:nvSpPr>
        <p:spPr>
          <a:xfrm>
            <a:off x="707923" y="1032386"/>
            <a:ext cx="10964123" cy="5636973"/>
          </a:xfrm>
        </p:spPr>
        <p:txBody>
          <a:bodyPr>
            <a:normAutofit fontScale="62500" lnSpcReduction="20000"/>
          </a:bodyPr>
          <a:lstStyle/>
          <a:p>
            <a:r>
              <a:rPr lang="nl-NL" dirty="0">
                <a:latin typeface="Arial" charset="0"/>
                <a:ea typeface="Arial" charset="0"/>
                <a:cs typeface="Arial" charset="0"/>
              </a:rPr>
              <a:t>Moet je de betekenis van het moeilijke woord kennen om de tekst te begrijpen? </a:t>
            </a:r>
          </a:p>
          <a:p>
            <a:r>
              <a:rPr lang="nl-NL" dirty="0">
                <a:latin typeface="Arial" charset="0"/>
                <a:ea typeface="Arial" charset="0"/>
                <a:cs typeface="Arial" charset="0"/>
              </a:rPr>
              <a:t>Nee </a:t>
            </a:r>
            <a:r>
              <a:rPr lang="nl-NL" dirty="0">
                <a:latin typeface="Arial" charset="0"/>
                <a:ea typeface="Arial" charset="0"/>
                <a:cs typeface="Arial" charset="0"/>
                <a:sym typeface="Wingdings"/>
              </a:rPr>
              <a:t> lees gewoon door. </a:t>
            </a:r>
          </a:p>
          <a:p>
            <a:r>
              <a:rPr lang="nl-NL" dirty="0">
                <a:latin typeface="Arial" charset="0"/>
                <a:ea typeface="Arial" charset="0"/>
                <a:cs typeface="Arial" charset="0"/>
                <a:sym typeface="Wingdings"/>
              </a:rPr>
              <a:t>Ja  pas één van de woordraadstrategieën toe. Kijk naar de context waarin het woord staat (zinsverband of zinnen eromheen). </a:t>
            </a:r>
          </a:p>
          <a:p>
            <a:pPr marL="596646" indent="-514350">
              <a:buFont typeface="+mj-lt"/>
              <a:buAutoNum type="arabicPeriod"/>
            </a:pPr>
            <a:r>
              <a:rPr lang="nl-NL" dirty="0">
                <a:latin typeface="Arial" charset="0"/>
                <a:ea typeface="Arial" charset="0"/>
                <a:cs typeface="Arial" charset="0"/>
                <a:sym typeface="Wingdings"/>
              </a:rPr>
              <a:t>Staat er ergens een </a:t>
            </a:r>
            <a:r>
              <a:rPr lang="nl-NL" b="1" dirty="0">
                <a:highlight>
                  <a:srgbClr val="00FF00"/>
                </a:highlight>
                <a:latin typeface="Arial" charset="0"/>
                <a:ea typeface="Arial" charset="0"/>
                <a:cs typeface="Arial" charset="0"/>
                <a:sym typeface="Wingdings"/>
              </a:rPr>
              <a:t>omschrijving</a:t>
            </a:r>
            <a:r>
              <a:rPr lang="nl-NL" dirty="0">
                <a:highlight>
                  <a:srgbClr val="00FF00"/>
                </a:highlight>
                <a:latin typeface="Arial" charset="0"/>
                <a:ea typeface="Arial" charset="0"/>
                <a:cs typeface="Arial" charset="0"/>
                <a:sym typeface="Wingdings"/>
              </a:rPr>
              <a:t> / </a:t>
            </a:r>
            <a:r>
              <a:rPr lang="nl-NL" b="1" dirty="0">
                <a:highlight>
                  <a:srgbClr val="00FF00"/>
                </a:highlight>
                <a:latin typeface="Arial" charset="0"/>
                <a:ea typeface="Arial" charset="0"/>
                <a:cs typeface="Arial" charset="0"/>
                <a:sym typeface="Wingdings"/>
              </a:rPr>
              <a:t>definitie</a:t>
            </a:r>
            <a:r>
              <a:rPr lang="nl-NL" dirty="0">
                <a:highlight>
                  <a:srgbClr val="00FF00"/>
                </a:highlight>
                <a:latin typeface="Arial" charset="0"/>
                <a:ea typeface="Arial" charset="0"/>
                <a:cs typeface="Arial" charset="0"/>
                <a:sym typeface="Wingdings"/>
              </a:rPr>
              <a:t> / </a:t>
            </a:r>
            <a:r>
              <a:rPr lang="nl-NL" b="1" dirty="0">
                <a:highlight>
                  <a:srgbClr val="00FF00"/>
                </a:highlight>
                <a:latin typeface="Arial" charset="0"/>
                <a:ea typeface="Arial" charset="0"/>
                <a:cs typeface="Arial" charset="0"/>
                <a:sym typeface="Wingdings"/>
              </a:rPr>
              <a:t>uitleg</a:t>
            </a:r>
            <a:r>
              <a:rPr lang="nl-NL" dirty="0">
                <a:highlight>
                  <a:srgbClr val="00FF00"/>
                </a:highlight>
                <a:latin typeface="Arial" charset="0"/>
                <a:ea typeface="Arial" charset="0"/>
                <a:cs typeface="Arial" charset="0"/>
                <a:sym typeface="Wingdings"/>
              </a:rPr>
              <a:t> </a:t>
            </a:r>
            <a:r>
              <a:rPr lang="nl-NL" dirty="0">
                <a:latin typeface="Arial" charset="0"/>
                <a:ea typeface="Arial" charset="0"/>
                <a:cs typeface="Arial" charset="0"/>
                <a:sym typeface="Wingdings"/>
              </a:rPr>
              <a:t>van het woord? </a:t>
            </a:r>
          </a:p>
          <a:p>
            <a:pPr marL="596646" indent="-514350">
              <a:buFont typeface="+mj-lt"/>
              <a:buAutoNum type="arabicPeriod"/>
            </a:pPr>
            <a:r>
              <a:rPr lang="nl-NL" dirty="0">
                <a:latin typeface="Arial" charset="0"/>
                <a:ea typeface="Arial" charset="0"/>
                <a:cs typeface="Arial" charset="0"/>
                <a:sym typeface="Wingdings"/>
              </a:rPr>
              <a:t>Staat er een </a:t>
            </a:r>
            <a:r>
              <a:rPr lang="nl-NL" b="1" dirty="0">
                <a:highlight>
                  <a:srgbClr val="00FF00"/>
                </a:highlight>
                <a:latin typeface="Arial" charset="0"/>
                <a:ea typeface="Arial" charset="0"/>
                <a:cs typeface="Arial" charset="0"/>
                <a:sym typeface="Wingdings"/>
              </a:rPr>
              <a:t>synoniem</a:t>
            </a:r>
            <a:r>
              <a:rPr lang="nl-NL" dirty="0">
                <a:latin typeface="Arial" charset="0"/>
                <a:ea typeface="Arial" charset="0"/>
                <a:cs typeface="Arial" charset="0"/>
                <a:sym typeface="Wingdings"/>
              </a:rPr>
              <a:t> van het woord in de tekst? Een synoniem is een ander woord met dezelfde of een soortgelijke betekenis. </a:t>
            </a:r>
          </a:p>
          <a:p>
            <a:pPr marL="596646" indent="-514350">
              <a:buFont typeface="+mj-lt"/>
              <a:buAutoNum type="arabicPeriod"/>
            </a:pPr>
            <a:r>
              <a:rPr lang="nl-NL" dirty="0">
                <a:latin typeface="Arial" charset="0"/>
                <a:ea typeface="Arial" charset="0"/>
                <a:cs typeface="Arial" charset="0"/>
                <a:sym typeface="Wingdings"/>
              </a:rPr>
              <a:t>Staat er ergens een </a:t>
            </a:r>
            <a:r>
              <a:rPr lang="nl-NL" b="1" dirty="0">
                <a:highlight>
                  <a:srgbClr val="00FF00"/>
                </a:highlight>
                <a:latin typeface="Arial" charset="0"/>
                <a:ea typeface="Arial" charset="0"/>
                <a:cs typeface="Arial" charset="0"/>
                <a:sym typeface="Wingdings"/>
              </a:rPr>
              <a:t>voorbeeld</a:t>
            </a:r>
            <a:r>
              <a:rPr lang="nl-NL" dirty="0">
                <a:latin typeface="Arial" charset="0"/>
                <a:ea typeface="Arial" charset="0"/>
                <a:cs typeface="Arial" charset="0"/>
                <a:sym typeface="Wingdings"/>
              </a:rPr>
              <a:t>? </a:t>
            </a:r>
          </a:p>
          <a:p>
            <a:pPr marL="596646" indent="-514350">
              <a:buFont typeface="+mj-lt"/>
              <a:buAutoNum type="arabicPeriod"/>
            </a:pPr>
            <a:r>
              <a:rPr lang="nl-NL" dirty="0">
                <a:latin typeface="Arial" charset="0"/>
                <a:ea typeface="Arial" charset="0"/>
                <a:cs typeface="Arial" charset="0"/>
                <a:sym typeface="Wingdings"/>
              </a:rPr>
              <a:t>Staat er een </a:t>
            </a:r>
            <a:r>
              <a:rPr lang="nl-NL" b="1" dirty="0">
                <a:highlight>
                  <a:srgbClr val="00FF00"/>
                </a:highlight>
                <a:latin typeface="Arial" charset="0"/>
                <a:ea typeface="Arial" charset="0"/>
                <a:cs typeface="Arial" charset="0"/>
                <a:sym typeface="Wingdings"/>
              </a:rPr>
              <a:t>tegenstelling</a:t>
            </a:r>
            <a:r>
              <a:rPr lang="nl-NL" dirty="0">
                <a:latin typeface="Arial" charset="0"/>
                <a:ea typeface="Arial" charset="0"/>
                <a:cs typeface="Arial" charset="0"/>
                <a:sym typeface="Wingdings"/>
              </a:rPr>
              <a:t> van het woord in de buurt?  </a:t>
            </a:r>
          </a:p>
          <a:p>
            <a:pPr marL="596646" indent="-514350">
              <a:buFont typeface="+mj-lt"/>
              <a:buAutoNum type="arabicPeriod"/>
            </a:pPr>
            <a:r>
              <a:rPr lang="nl-NL" dirty="0">
                <a:latin typeface="Arial" charset="0"/>
                <a:ea typeface="Arial" charset="0"/>
                <a:cs typeface="Arial" charset="0"/>
                <a:sym typeface="Wingdings"/>
              </a:rPr>
              <a:t>Soms is een woord een </a:t>
            </a:r>
            <a:r>
              <a:rPr lang="nl-NL" b="1" dirty="0">
                <a:highlight>
                  <a:srgbClr val="00FF00"/>
                </a:highlight>
                <a:latin typeface="Arial" charset="0"/>
                <a:ea typeface="Arial" charset="0"/>
                <a:cs typeface="Arial" charset="0"/>
                <a:sym typeface="Wingdings"/>
              </a:rPr>
              <a:t>samenstelling</a:t>
            </a:r>
            <a:r>
              <a:rPr lang="nl-NL" dirty="0">
                <a:latin typeface="Arial" charset="0"/>
                <a:ea typeface="Arial" charset="0"/>
                <a:cs typeface="Arial" charset="0"/>
                <a:sym typeface="Wingdings"/>
              </a:rPr>
              <a:t> waarvan je een gedeelte wel kent. Kijk naar de delen waaruit het woord is opgebouwd. Zoek een </a:t>
            </a:r>
            <a:r>
              <a:rPr lang="nl-NL" b="1" dirty="0">
                <a:highlight>
                  <a:srgbClr val="00FF00"/>
                </a:highlight>
                <a:latin typeface="Arial" charset="0"/>
                <a:ea typeface="Arial" charset="0"/>
                <a:cs typeface="Arial" charset="0"/>
                <a:sym typeface="Wingdings"/>
              </a:rPr>
              <a:t>bekend woorddeel</a:t>
            </a:r>
            <a:r>
              <a:rPr lang="nl-NL" b="1" dirty="0">
                <a:latin typeface="Arial" charset="0"/>
                <a:ea typeface="Arial" charset="0"/>
                <a:cs typeface="Arial" charset="0"/>
                <a:sym typeface="Wingdings"/>
              </a:rPr>
              <a:t>.</a:t>
            </a:r>
          </a:p>
          <a:p>
            <a:pPr marL="596646" indent="-514350">
              <a:buFont typeface="+mj-lt"/>
              <a:buAutoNum type="arabicPeriod"/>
            </a:pPr>
            <a:r>
              <a:rPr lang="nl-NL" dirty="0">
                <a:latin typeface="Arial" charset="0"/>
                <a:ea typeface="Arial" charset="0"/>
                <a:cs typeface="Arial" charset="0"/>
                <a:sym typeface="Wingdings"/>
              </a:rPr>
              <a:t>Ga op zoek naar een </a:t>
            </a:r>
            <a:r>
              <a:rPr lang="nl-NL" b="1" dirty="0">
                <a:highlight>
                  <a:srgbClr val="00FF00"/>
                </a:highlight>
                <a:latin typeface="Arial" charset="0"/>
                <a:ea typeface="Arial" charset="0"/>
                <a:cs typeface="Arial" charset="0"/>
                <a:sym typeface="Wingdings"/>
              </a:rPr>
              <a:t>gelijkenis met een ander woord</a:t>
            </a:r>
            <a:r>
              <a:rPr lang="nl-NL" dirty="0">
                <a:latin typeface="Arial" charset="0"/>
                <a:ea typeface="Arial" charset="0"/>
                <a:cs typeface="Arial" charset="0"/>
                <a:sym typeface="Wingdings"/>
              </a:rPr>
              <a:t>. Soms lijkt het woord op een woord dat je wel kent, bijvoorbeeld uit een andere taal. </a:t>
            </a:r>
            <a:r>
              <a:rPr lang="nl-NL" b="1" dirty="0">
                <a:latin typeface="Arial" charset="0"/>
                <a:ea typeface="Arial" charset="0"/>
                <a:cs typeface="Arial" charset="0"/>
                <a:sym typeface="Wingdings"/>
              </a:rPr>
              <a:t> </a:t>
            </a:r>
          </a:p>
          <a:p>
            <a:pPr marL="596646" indent="-514350">
              <a:buFont typeface="+mj-lt"/>
              <a:buAutoNum type="arabicPeriod"/>
            </a:pPr>
            <a:r>
              <a:rPr lang="nl-NL" dirty="0">
                <a:latin typeface="Arial" charset="0"/>
                <a:ea typeface="Arial" charset="0"/>
                <a:cs typeface="Arial" charset="0"/>
                <a:sym typeface="Wingdings"/>
              </a:rPr>
              <a:t>Staat er een </a:t>
            </a:r>
            <a:r>
              <a:rPr lang="nl-NL" b="1" dirty="0">
                <a:highlight>
                  <a:srgbClr val="00FF00"/>
                </a:highlight>
                <a:latin typeface="Arial" charset="0"/>
                <a:ea typeface="Arial" charset="0"/>
                <a:cs typeface="Arial" charset="0"/>
                <a:sym typeface="Wingdings"/>
              </a:rPr>
              <a:t>afbeelding</a:t>
            </a:r>
            <a:r>
              <a:rPr lang="nl-NL" dirty="0">
                <a:latin typeface="Arial" charset="0"/>
                <a:ea typeface="Arial" charset="0"/>
                <a:cs typeface="Arial" charset="0"/>
                <a:sym typeface="Wingdings"/>
              </a:rPr>
              <a:t> bij de tekst waaruit je de betekenis van het woord kunt afleiden?</a:t>
            </a:r>
          </a:p>
          <a:p>
            <a:pPr marL="596646" indent="-514350">
              <a:buFont typeface="+mj-lt"/>
              <a:buAutoNum type="arabicPeriod"/>
            </a:pPr>
            <a:r>
              <a:rPr lang="nl-NL" dirty="0">
                <a:solidFill>
                  <a:schemeClr val="accent1">
                    <a:lumMod val="40000"/>
                    <a:lumOff val="60000"/>
                  </a:schemeClr>
                </a:solidFill>
                <a:latin typeface="Arial" charset="0"/>
                <a:ea typeface="Arial" charset="0"/>
                <a:cs typeface="Arial" charset="0"/>
                <a:sym typeface="Wingdings"/>
              </a:rPr>
              <a:t>Laatste redmiddel: zoek het moeilijke woord op in het woordenboek of vraag het iemand. Gebruik alleen het woordenboek voor een enkel woord, maar niet voor veel woorden. Op toetsen heb je geen woordenboek tot je beschikking. Op je examen wel, maar je hebt niet de tijd om ieder moeilijk woord op te zoeken. </a:t>
            </a:r>
            <a:endParaRPr lang="nl-NL" dirty="0">
              <a:solidFill>
                <a:schemeClr val="accent1">
                  <a:lumMod val="40000"/>
                  <a:lumOff val="60000"/>
                </a:schemeClr>
              </a:solidFill>
            </a:endParaRPr>
          </a:p>
          <a:p>
            <a:endParaRPr lang="nl-NL" dirty="0">
              <a:solidFill>
                <a:schemeClr val="accent1">
                  <a:lumMod val="40000"/>
                  <a:lumOff val="60000"/>
                </a:schemeClr>
              </a:solidFill>
            </a:endParaRPr>
          </a:p>
        </p:txBody>
      </p:sp>
    </p:spTree>
    <p:extLst>
      <p:ext uri="{BB962C8B-B14F-4D97-AF65-F5344CB8AC3E}">
        <p14:creationId xmlns:p14="http://schemas.microsoft.com/office/powerpoint/2010/main" val="9274676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9EC14C0-AFFC-4F4F-A2EA-62B0912DF4D0}"/>
              </a:ext>
            </a:extLst>
          </p:cNvPr>
          <p:cNvSpPr>
            <a:spLocks noGrp="1"/>
          </p:cNvSpPr>
          <p:nvPr>
            <p:ph type="title"/>
          </p:nvPr>
        </p:nvSpPr>
        <p:spPr/>
        <p:txBody>
          <a:bodyPr/>
          <a:lstStyle/>
          <a:p>
            <a:r>
              <a:rPr lang="nl-NL" dirty="0"/>
              <a:t>Woordraadstrategieën voorbeelden</a:t>
            </a:r>
          </a:p>
        </p:txBody>
      </p:sp>
      <p:sp>
        <p:nvSpPr>
          <p:cNvPr id="3" name="Tijdelijke aanduiding voor inhoud 2">
            <a:extLst>
              <a:ext uri="{FF2B5EF4-FFF2-40B4-BE49-F238E27FC236}">
                <a16:creationId xmlns:a16="http://schemas.microsoft.com/office/drawing/2014/main" id="{7C1CCA7A-EB57-314F-8AB0-8652C99C76F2}"/>
              </a:ext>
            </a:extLst>
          </p:cNvPr>
          <p:cNvSpPr>
            <a:spLocks noGrp="1"/>
          </p:cNvSpPr>
          <p:nvPr>
            <p:ph idx="1"/>
          </p:nvPr>
        </p:nvSpPr>
        <p:spPr>
          <a:xfrm>
            <a:off x="838200" y="1825625"/>
            <a:ext cx="9419897" cy="4351338"/>
          </a:xfrm>
        </p:spPr>
        <p:txBody>
          <a:bodyPr/>
          <a:lstStyle/>
          <a:p>
            <a:pPr marL="0" indent="0">
              <a:buNone/>
            </a:pPr>
            <a:r>
              <a:rPr lang="nl-NL" dirty="0"/>
              <a:t>Zo kun je de betekenis achterhalen:</a:t>
            </a:r>
          </a:p>
          <a:p>
            <a:r>
              <a:rPr lang="nl-NL" dirty="0"/>
              <a:t>uitleg</a:t>
            </a:r>
          </a:p>
          <a:p>
            <a:endParaRPr lang="nl-NL" dirty="0"/>
          </a:p>
          <a:p>
            <a:pPr marL="457200" lvl="1" indent="0">
              <a:buNone/>
            </a:pPr>
            <a:r>
              <a:rPr lang="nl-NL" i="1" dirty="0"/>
              <a:t>Tijdens de EHBO-cursus leer je hoe je een </a:t>
            </a:r>
            <a:r>
              <a:rPr lang="nl-NL" b="1" i="1" dirty="0"/>
              <a:t>AED</a:t>
            </a:r>
            <a:r>
              <a:rPr lang="nl-NL" i="1" dirty="0"/>
              <a:t> gebruikt. </a:t>
            </a:r>
          </a:p>
          <a:p>
            <a:pPr marL="457200" lvl="1" indent="0">
              <a:buNone/>
            </a:pPr>
            <a:r>
              <a:rPr lang="nl-NL" i="1" dirty="0"/>
              <a:t>Een Automatische Externe Defibrillator (AED) </a:t>
            </a:r>
          </a:p>
          <a:p>
            <a:pPr marL="457200" lvl="1" indent="0">
              <a:buNone/>
            </a:pPr>
            <a:r>
              <a:rPr lang="nl-NL" i="1" dirty="0"/>
              <a:t>is een draagbaar apparaat dat het hartritme weer kan herstellen bij een hartstilstand. </a:t>
            </a:r>
          </a:p>
          <a:p>
            <a:endParaRPr lang="nl-NL" dirty="0"/>
          </a:p>
        </p:txBody>
      </p:sp>
    </p:spTree>
    <p:extLst>
      <p:ext uri="{BB962C8B-B14F-4D97-AF65-F5344CB8AC3E}">
        <p14:creationId xmlns:p14="http://schemas.microsoft.com/office/powerpoint/2010/main" val="16106310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9EC14C0-AFFC-4F4F-A2EA-62B0912DF4D0}"/>
              </a:ext>
            </a:extLst>
          </p:cNvPr>
          <p:cNvSpPr>
            <a:spLocks noGrp="1"/>
          </p:cNvSpPr>
          <p:nvPr>
            <p:ph type="title"/>
          </p:nvPr>
        </p:nvSpPr>
        <p:spPr/>
        <p:txBody>
          <a:bodyPr/>
          <a:lstStyle/>
          <a:p>
            <a:r>
              <a:rPr lang="nl-NL" dirty="0"/>
              <a:t>Woordraadstrategieën voorbeelden</a:t>
            </a:r>
          </a:p>
        </p:txBody>
      </p:sp>
      <p:sp>
        <p:nvSpPr>
          <p:cNvPr id="3" name="Tijdelijke aanduiding voor inhoud 2">
            <a:extLst>
              <a:ext uri="{FF2B5EF4-FFF2-40B4-BE49-F238E27FC236}">
                <a16:creationId xmlns:a16="http://schemas.microsoft.com/office/drawing/2014/main" id="{7C1CCA7A-EB57-314F-8AB0-8652C99C76F2}"/>
              </a:ext>
            </a:extLst>
          </p:cNvPr>
          <p:cNvSpPr>
            <a:spLocks noGrp="1"/>
          </p:cNvSpPr>
          <p:nvPr>
            <p:ph idx="1"/>
          </p:nvPr>
        </p:nvSpPr>
        <p:spPr/>
        <p:txBody>
          <a:bodyPr/>
          <a:lstStyle/>
          <a:p>
            <a:pPr marL="0" indent="0">
              <a:buNone/>
            </a:pPr>
            <a:r>
              <a:rPr lang="nl-NL" dirty="0"/>
              <a:t>Zo kun je de betekenis achterhalen:</a:t>
            </a:r>
          </a:p>
          <a:p>
            <a:r>
              <a:rPr lang="nl-NL" dirty="0"/>
              <a:t>synoniem</a:t>
            </a:r>
          </a:p>
          <a:p>
            <a:pPr marL="0" indent="0">
              <a:buNone/>
            </a:pPr>
            <a:endParaRPr lang="nl-NL" dirty="0"/>
          </a:p>
          <a:p>
            <a:pPr marL="457200" lvl="1" indent="0">
              <a:buNone/>
            </a:pPr>
            <a:r>
              <a:rPr lang="nl-NL" i="1" dirty="0"/>
              <a:t>De </a:t>
            </a:r>
            <a:r>
              <a:rPr lang="nl-NL" b="1" i="1" dirty="0"/>
              <a:t>deceptie</a:t>
            </a:r>
            <a:r>
              <a:rPr lang="nl-NL" i="1" dirty="0"/>
              <a:t> was groot na de onverwachte </a:t>
            </a:r>
          </a:p>
          <a:p>
            <a:pPr marL="457200" lvl="1" indent="0">
              <a:buNone/>
            </a:pPr>
            <a:r>
              <a:rPr lang="nl-NL" i="1" dirty="0"/>
              <a:t>nederlaag. ‘Ja, dit is wel een teleurstelling’, aldus </a:t>
            </a:r>
          </a:p>
          <a:p>
            <a:pPr marL="457200" lvl="1" indent="0">
              <a:buNone/>
            </a:pPr>
            <a:r>
              <a:rPr lang="nl-NL" i="1" dirty="0"/>
              <a:t>de coach. </a:t>
            </a:r>
          </a:p>
          <a:p>
            <a:endParaRPr lang="nl-NL" dirty="0"/>
          </a:p>
        </p:txBody>
      </p:sp>
    </p:spTree>
    <p:extLst>
      <p:ext uri="{BB962C8B-B14F-4D97-AF65-F5344CB8AC3E}">
        <p14:creationId xmlns:p14="http://schemas.microsoft.com/office/powerpoint/2010/main" val="8091720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9EC14C0-AFFC-4F4F-A2EA-62B0912DF4D0}"/>
              </a:ext>
            </a:extLst>
          </p:cNvPr>
          <p:cNvSpPr>
            <a:spLocks noGrp="1"/>
          </p:cNvSpPr>
          <p:nvPr>
            <p:ph type="title"/>
          </p:nvPr>
        </p:nvSpPr>
        <p:spPr/>
        <p:txBody>
          <a:bodyPr/>
          <a:lstStyle/>
          <a:p>
            <a:r>
              <a:rPr lang="nl-NL" dirty="0"/>
              <a:t>Woordraadstrategieën voorbeelden</a:t>
            </a:r>
          </a:p>
        </p:txBody>
      </p:sp>
      <p:sp>
        <p:nvSpPr>
          <p:cNvPr id="3" name="Tijdelijke aanduiding voor inhoud 2">
            <a:extLst>
              <a:ext uri="{FF2B5EF4-FFF2-40B4-BE49-F238E27FC236}">
                <a16:creationId xmlns:a16="http://schemas.microsoft.com/office/drawing/2014/main" id="{7C1CCA7A-EB57-314F-8AB0-8652C99C76F2}"/>
              </a:ext>
            </a:extLst>
          </p:cNvPr>
          <p:cNvSpPr>
            <a:spLocks noGrp="1"/>
          </p:cNvSpPr>
          <p:nvPr>
            <p:ph idx="1"/>
          </p:nvPr>
        </p:nvSpPr>
        <p:spPr/>
        <p:txBody>
          <a:bodyPr/>
          <a:lstStyle/>
          <a:p>
            <a:pPr marL="0" indent="0">
              <a:buNone/>
            </a:pPr>
            <a:r>
              <a:rPr lang="nl-NL" dirty="0"/>
              <a:t>Zo kun je de betekenis achterhalen:</a:t>
            </a:r>
          </a:p>
          <a:p>
            <a:r>
              <a:rPr lang="nl-NL" dirty="0"/>
              <a:t>voorbeeld</a:t>
            </a:r>
          </a:p>
          <a:p>
            <a:pPr marL="0" indent="0">
              <a:buNone/>
            </a:pPr>
            <a:endParaRPr lang="nl-NL" dirty="0"/>
          </a:p>
          <a:p>
            <a:pPr marL="457200" lvl="1" indent="0">
              <a:buNone/>
            </a:pPr>
            <a:r>
              <a:rPr lang="nl-NL" b="1" i="1" dirty="0"/>
              <a:t>Plagiaat plegen </a:t>
            </a:r>
            <a:r>
              <a:rPr lang="nl-NL" i="1" dirty="0"/>
              <a:t>is een vorm van </a:t>
            </a:r>
            <a:r>
              <a:rPr lang="nl-NL" b="1" i="1" dirty="0"/>
              <a:t>frauderen</a:t>
            </a:r>
            <a:r>
              <a:rPr lang="nl-NL" i="1" dirty="0"/>
              <a:t>. Het gebeurt zeker niet altijd bewust, maar het is wel strafbaar. Daarom moet je goed opletten bij het schrijven van teksten en altijd de bron vermelden. </a:t>
            </a:r>
          </a:p>
          <a:p>
            <a:endParaRPr lang="nl-NL" dirty="0"/>
          </a:p>
        </p:txBody>
      </p:sp>
    </p:spTree>
    <p:extLst>
      <p:ext uri="{BB962C8B-B14F-4D97-AF65-F5344CB8AC3E}">
        <p14:creationId xmlns:p14="http://schemas.microsoft.com/office/powerpoint/2010/main" val="9567560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9EC14C0-AFFC-4F4F-A2EA-62B0912DF4D0}"/>
              </a:ext>
            </a:extLst>
          </p:cNvPr>
          <p:cNvSpPr>
            <a:spLocks noGrp="1"/>
          </p:cNvSpPr>
          <p:nvPr>
            <p:ph type="title"/>
          </p:nvPr>
        </p:nvSpPr>
        <p:spPr/>
        <p:txBody>
          <a:bodyPr/>
          <a:lstStyle/>
          <a:p>
            <a:r>
              <a:rPr lang="nl-NL" dirty="0"/>
              <a:t>Woordraadstrategieën voorbeelden</a:t>
            </a:r>
          </a:p>
        </p:txBody>
      </p:sp>
      <p:sp>
        <p:nvSpPr>
          <p:cNvPr id="3" name="Tijdelijke aanduiding voor inhoud 2">
            <a:extLst>
              <a:ext uri="{FF2B5EF4-FFF2-40B4-BE49-F238E27FC236}">
                <a16:creationId xmlns:a16="http://schemas.microsoft.com/office/drawing/2014/main" id="{7C1CCA7A-EB57-314F-8AB0-8652C99C76F2}"/>
              </a:ext>
            </a:extLst>
          </p:cNvPr>
          <p:cNvSpPr>
            <a:spLocks noGrp="1"/>
          </p:cNvSpPr>
          <p:nvPr>
            <p:ph idx="1"/>
          </p:nvPr>
        </p:nvSpPr>
        <p:spPr/>
        <p:txBody>
          <a:bodyPr/>
          <a:lstStyle/>
          <a:p>
            <a:pPr marL="0" indent="0">
              <a:buNone/>
            </a:pPr>
            <a:r>
              <a:rPr lang="nl-NL" dirty="0"/>
              <a:t>Zo kun je de betekenis achterhalen:</a:t>
            </a:r>
          </a:p>
          <a:p>
            <a:r>
              <a:rPr lang="nl-NL" dirty="0"/>
              <a:t>tegenstelling</a:t>
            </a:r>
          </a:p>
          <a:p>
            <a:pPr marL="0" indent="0">
              <a:buNone/>
            </a:pPr>
            <a:endParaRPr lang="nl-NL" dirty="0"/>
          </a:p>
          <a:p>
            <a:pPr marL="457200" lvl="1" indent="0">
              <a:buNone/>
            </a:pPr>
            <a:r>
              <a:rPr lang="nl-NL" i="1" dirty="0"/>
              <a:t>Ik had een spectaculair einde van de film </a:t>
            </a:r>
          </a:p>
          <a:p>
            <a:pPr marL="457200" lvl="1" indent="0">
              <a:buNone/>
            </a:pPr>
            <a:r>
              <a:rPr lang="nl-NL" i="1" dirty="0"/>
              <a:t>verwacht, maar het bleek een </a:t>
            </a:r>
            <a:r>
              <a:rPr lang="nl-NL" b="1" i="1" dirty="0"/>
              <a:t>anticlimax</a:t>
            </a:r>
            <a:r>
              <a:rPr lang="nl-NL" i="1" dirty="0"/>
              <a:t>.</a:t>
            </a:r>
          </a:p>
          <a:p>
            <a:endParaRPr lang="nl-NL" dirty="0"/>
          </a:p>
        </p:txBody>
      </p:sp>
    </p:spTree>
    <p:extLst>
      <p:ext uri="{BB962C8B-B14F-4D97-AF65-F5344CB8AC3E}">
        <p14:creationId xmlns:p14="http://schemas.microsoft.com/office/powerpoint/2010/main" val="17275251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9EC14C0-AFFC-4F4F-A2EA-62B0912DF4D0}"/>
              </a:ext>
            </a:extLst>
          </p:cNvPr>
          <p:cNvSpPr>
            <a:spLocks noGrp="1"/>
          </p:cNvSpPr>
          <p:nvPr>
            <p:ph type="title"/>
          </p:nvPr>
        </p:nvSpPr>
        <p:spPr/>
        <p:txBody>
          <a:bodyPr/>
          <a:lstStyle/>
          <a:p>
            <a:r>
              <a:rPr lang="nl-NL" dirty="0"/>
              <a:t>Woordraadstrategieën voorbeelden</a:t>
            </a:r>
          </a:p>
        </p:txBody>
      </p:sp>
      <p:sp>
        <p:nvSpPr>
          <p:cNvPr id="3" name="Tijdelijke aanduiding voor inhoud 2">
            <a:extLst>
              <a:ext uri="{FF2B5EF4-FFF2-40B4-BE49-F238E27FC236}">
                <a16:creationId xmlns:a16="http://schemas.microsoft.com/office/drawing/2014/main" id="{7C1CCA7A-EB57-314F-8AB0-8652C99C76F2}"/>
              </a:ext>
            </a:extLst>
          </p:cNvPr>
          <p:cNvSpPr>
            <a:spLocks noGrp="1"/>
          </p:cNvSpPr>
          <p:nvPr>
            <p:ph idx="1"/>
          </p:nvPr>
        </p:nvSpPr>
        <p:spPr/>
        <p:txBody>
          <a:bodyPr/>
          <a:lstStyle/>
          <a:p>
            <a:pPr marL="0" indent="0">
              <a:buNone/>
            </a:pPr>
            <a:r>
              <a:rPr lang="nl-NL" dirty="0"/>
              <a:t>Zo kun je de betekenis achterhalen:</a:t>
            </a:r>
          </a:p>
          <a:p>
            <a:r>
              <a:rPr lang="nl-NL" dirty="0"/>
              <a:t>samenstelling</a:t>
            </a:r>
          </a:p>
          <a:p>
            <a:pPr marL="0" indent="0">
              <a:buNone/>
            </a:pPr>
            <a:endParaRPr lang="nl-NL" dirty="0"/>
          </a:p>
          <a:p>
            <a:pPr marL="457200" lvl="1" indent="0">
              <a:buNone/>
            </a:pPr>
            <a:r>
              <a:rPr lang="nl-NL" i="1" dirty="0"/>
              <a:t>Heeft het wel zin om producten met een </a:t>
            </a:r>
          </a:p>
          <a:p>
            <a:pPr marL="457200" lvl="1" indent="0">
              <a:buNone/>
            </a:pPr>
            <a:r>
              <a:rPr lang="nl-NL" b="1" i="1" dirty="0"/>
              <a:t>duurzaamheidskeurmerk</a:t>
            </a:r>
            <a:r>
              <a:rPr lang="nl-NL" i="1" dirty="0"/>
              <a:t> te kopen? </a:t>
            </a:r>
          </a:p>
          <a:p>
            <a:endParaRPr lang="nl-NL" dirty="0"/>
          </a:p>
        </p:txBody>
      </p:sp>
    </p:spTree>
    <p:extLst>
      <p:ext uri="{BB962C8B-B14F-4D97-AF65-F5344CB8AC3E}">
        <p14:creationId xmlns:p14="http://schemas.microsoft.com/office/powerpoint/2010/main" val="880448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9EC14C0-AFFC-4F4F-A2EA-62B0912DF4D0}"/>
              </a:ext>
            </a:extLst>
          </p:cNvPr>
          <p:cNvSpPr>
            <a:spLocks noGrp="1"/>
          </p:cNvSpPr>
          <p:nvPr>
            <p:ph type="title"/>
          </p:nvPr>
        </p:nvSpPr>
        <p:spPr/>
        <p:txBody>
          <a:bodyPr/>
          <a:lstStyle/>
          <a:p>
            <a:r>
              <a:rPr lang="nl-NL" dirty="0"/>
              <a:t>Woordraadstrategieën voorbeelden</a:t>
            </a:r>
          </a:p>
        </p:txBody>
      </p:sp>
      <p:sp>
        <p:nvSpPr>
          <p:cNvPr id="3" name="Tijdelijke aanduiding voor inhoud 2">
            <a:extLst>
              <a:ext uri="{FF2B5EF4-FFF2-40B4-BE49-F238E27FC236}">
                <a16:creationId xmlns:a16="http://schemas.microsoft.com/office/drawing/2014/main" id="{7C1CCA7A-EB57-314F-8AB0-8652C99C76F2}"/>
              </a:ext>
            </a:extLst>
          </p:cNvPr>
          <p:cNvSpPr>
            <a:spLocks noGrp="1"/>
          </p:cNvSpPr>
          <p:nvPr>
            <p:ph idx="1"/>
          </p:nvPr>
        </p:nvSpPr>
        <p:spPr/>
        <p:txBody>
          <a:bodyPr/>
          <a:lstStyle/>
          <a:p>
            <a:pPr marL="0" indent="0">
              <a:buNone/>
            </a:pPr>
            <a:r>
              <a:rPr lang="nl-NL" dirty="0"/>
              <a:t>Zo kun je de betekenis achterhalen:</a:t>
            </a:r>
          </a:p>
          <a:p>
            <a:r>
              <a:rPr lang="nl-NL" dirty="0"/>
              <a:t>gelijkenis met ander woord</a:t>
            </a:r>
          </a:p>
          <a:p>
            <a:pPr marL="457200" lvl="1" indent="0">
              <a:buNone/>
            </a:pPr>
            <a:endParaRPr lang="nl-NL" dirty="0"/>
          </a:p>
          <a:p>
            <a:pPr marL="457200" lvl="1" indent="0">
              <a:buNone/>
            </a:pPr>
            <a:r>
              <a:rPr lang="nl-NL" i="1" dirty="0"/>
              <a:t>Dit soort misdaadseries geven niet de </a:t>
            </a:r>
          </a:p>
          <a:p>
            <a:pPr marL="457200" lvl="1" indent="0">
              <a:buNone/>
            </a:pPr>
            <a:r>
              <a:rPr lang="nl-NL" b="1" i="1" dirty="0"/>
              <a:t>realiteit</a:t>
            </a:r>
            <a:r>
              <a:rPr lang="nl-NL" i="1" dirty="0"/>
              <a:t> weer. Dat moet de kijker beseffen. </a:t>
            </a:r>
          </a:p>
          <a:p>
            <a:endParaRPr lang="nl-NL" dirty="0"/>
          </a:p>
        </p:txBody>
      </p:sp>
    </p:spTree>
    <p:extLst>
      <p:ext uri="{BB962C8B-B14F-4D97-AF65-F5344CB8AC3E}">
        <p14:creationId xmlns:p14="http://schemas.microsoft.com/office/powerpoint/2010/main" val="14840011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D1AA55E-40D5-461B-A5A8-4AE8AAB71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el 1">
            <a:extLst>
              <a:ext uri="{FF2B5EF4-FFF2-40B4-BE49-F238E27FC236}">
                <a16:creationId xmlns:a16="http://schemas.microsoft.com/office/drawing/2014/main" id="{F9EC14C0-AFFC-4F4F-A2EA-62B0912DF4D0}"/>
              </a:ext>
            </a:extLst>
          </p:cNvPr>
          <p:cNvSpPr>
            <a:spLocks noGrp="1"/>
          </p:cNvSpPr>
          <p:nvPr>
            <p:ph type="title"/>
          </p:nvPr>
        </p:nvSpPr>
        <p:spPr>
          <a:xfrm>
            <a:off x="838200" y="1336390"/>
            <a:ext cx="6155988" cy="1182927"/>
          </a:xfrm>
        </p:spPr>
        <p:txBody>
          <a:bodyPr anchor="b">
            <a:normAutofit/>
          </a:bodyPr>
          <a:lstStyle/>
          <a:p>
            <a:r>
              <a:rPr lang="nl-NL" sz="3800" dirty="0"/>
              <a:t>Woordraadstrategieën afbeelding </a:t>
            </a:r>
          </a:p>
        </p:txBody>
      </p:sp>
      <p:cxnSp>
        <p:nvCxnSpPr>
          <p:cNvPr id="11" name="Straight Connector 10">
            <a:extLst>
              <a:ext uri="{FF2B5EF4-FFF2-40B4-BE49-F238E27FC236}">
                <a16:creationId xmlns:a16="http://schemas.microsoft.com/office/drawing/2014/main" id="{7EB498BD-8089-4626-91EA-4978EBEF53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806470"/>
            <a:ext cx="7903723" cy="0"/>
          </a:xfrm>
          <a:prstGeom prst="line">
            <a:avLst/>
          </a:prstGeom>
          <a:ln w="25400" cap="sq">
            <a:gradFill flip="none" rotWithShape="1">
              <a:gsLst>
                <a:gs pos="0">
                  <a:schemeClr val="accent2"/>
                </a:gs>
                <a:gs pos="100000">
                  <a:schemeClr val="accent4"/>
                </a:gs>
              </a:gsLst>
              <a:lin ang="10800000" scaled="1"/>
              <a:tileRect/>
            </a:gradFill>
            <a:bevel/>
          </a:ln>
        </p:spPr>
        <p:style>
          <a:lnRef idx="1">
            <a:schemeClr val="accent1"/>
          </a:lnRef>
          <a:fillRef idx="0">
            <a:schemeClr val="accent1"/>
          </a:fillRef>
          <a:effectRef idx="0">
            <a:schemeClr val="accent1"/>
          </a:effectRef>
          <a:fontRef idx="minor">
            <a:schemeClr val="tx1"/>
          </a:fontRef>
        </p:style>
      </p:cxnSp>
      <p:sp>
        <p:nvSpPr>
          <p:cNvPr id="3" name="Tijdelijke aanduiding voor inhoud 2">
            <a:extLst>
              <a:ext uri="{FF2B5EF4-FFF2-40B4-BE49-F238E27FC236}">
                <a16:creationId xmlns:a16="http://schemas.microsoft.com/office/drawing/2014/main" id="{7C1CCA7A-EB57-314F-8AB0-8652C99C76F2}"/>
              </a:ext>
            </a:extLst>
          </p:cNvPr>
          <p:cNvSpPr>
            <a:spLocks noGrp="1"/>
          </p:cNvSpPr>
          <p:nvPr>
            <p:ph idx="1"/>
          </p:nvPr>
        </p:nvSpPr>
        <p:spPr>
          <a:xfrm>
            <a:off x="803776" y="2829330"/>
            <a:ext cx="6190412" cy="3344459"/>
          </a:xfrm>
        </p:spPr>
        <p:txBody>
          <a:bodyPr anchor="t">
            <a:normAutofit/>
          </a:bodyPr>
          <a:lstStyle/>
          <a:p>
            <a:pPr marL="0" indent="0">
              <a:buNone/>
            </a:pPr>
            <a:r>
              <a:rPr lang="nl-NL" sz="1800" dirty="0"/>
              <a:t>Zo kun je de betekenis achterhalen:</a:t>
            </a:r>
          </a:p>
          <a:p>
            <a:r>
              <a:rPr lang="nl-NL" sz="1800" dirty="0"/>
              <a:t>Afbeelding </a:t>
            </a:r>
          </a:p>
          <a:p>
            <a:pPr marL="457200" lvl="1" indent="0">
              <a:buNone/>
            </a:pPr>
            <a:endParaRPr lang="nl-NL" sz="1800" dirty="0"/>
          </a:p>
          <a:p>
            <a:pPr marL="0" indent="0" algn="l">
              <a:buNone/>
            </a:pPr>
            <a:r>
              <a:rPr lang="nl-NL" sz="1800" b="0" i="1" dirty="0">
                <a:solidFill>
                  <a:srgbClr val="515151"/>
                </a:solidFill>
                <a:effectLst/>
                <a:latin typeface="ff-tisa-web-pro"/>
              </a:rPr>
              <a:t>“In het hart van het havengebied ligt de </a:t>
            </a:r>
            <a:r>
              <a:rPr lang="nl-NL" sz="1800" b="1" i="1" dirty="0">
                <a:solidFill>
                  <a:srgbClr val="515151"/>
                </a:solidFill>
                <a:effectLst/>
                <a:latin typeface="ff-tisa-web-pro"/>
              </a:rPr>
              <a:t>Landtong</a:t>
            </a:r>
            <a:r>
              <a:rPr lang="nl-NL" sz="1800" b="0" i="1" dirty="0">
                <a:solidFill>
                  <a:srgbClr val="515151"/>
                </a:solidFill>
                <a:effectLst/>
                <a:latin typeface="ff-tisa-web-pro"/>
              </a:rPr>
              <a:t> Rozenburg, ingeklemd tussen de Nieuwe Waterweg en het </a:t>
            </a:r>
            <a:r>
              <a:rPr lang="nl-NL" sz="1800" b="0" i="1" dirty="0" err="1">
                <a:solidFill>
                  <a:srgbClr val="515151"/>
                </a:solidFill>
                <a:effectLst/>
                <a:latin typeface="ff-tisa-web-pro"/>
              </a:rPr>
              <a:t>Calandkanaal</a:t>
            </a:r>
            <a:r>
              <a:rPr lang="nl-NL" sz="1800" b="0" i="1" dirty="0">
                <a:solidFill>
                  <a:srgbClr val="515151"/>
                </a:solidFill>
                <a:effectLst/>
                <a:latin typeface="ff-tisa-web-pro"/>
              </a:rPr>
              <a:t>. U kunt er kilometers lang eindeloos rondstruinen, met nu eens zicht op reusachtige zeeschepen, dan weer op kuddes Schotse hooglanders.”</a:t>
            </a:r>
          </a:p>
          <a:p>
            <a:pPr marL="0" indent="0" algn="l">
              <a:buNone/>
            </a:pPr>
            <a:endParaRPr lang="nl-NL" sz="1600" i="1" dirty="0">
              <a:solidFill>
                <a:srgbClr val="515151"/>
              </a:solidFill>
              <a:latin typeface="ff-tisa-web-pro"/>
            </a:endParaRPr>
          </a:p>
          <a:p>
            <a:pPr marL="0" indent="0" algn="l">
              <a:buNone/>
            </a:pPr>
            <a:r>
              <a:rPr lang="nl-NL" sz="1100" b="0" i="1" dirty="0">
                <a:solidFill>
                  <a:srgbClr val="515151"/>
                </a:solidFill>
                <a:effectLst/>
                <a:latin typeface="ff-tisa-web-pro"/>
              </a:rPr>
              <a:t>Bron: </a:t>
            </a:r>
            <a:r>
              <a:rPr lang="nl-NL" sz="1100" b="0" i="1" dirty="0">
                <a:solidFill>
                  <a:srgbClr val="515151"/>
                </a:solidFill>
                <a:effectLst/>
                <a:latin typeface="ff-tisa-web-pro"/>
                <a:hlinkClick r:id="rId2"/>
              </a:rPr>
              <a:t>https://www.ark.eu/gebieden/de-delta/landtong-rozenburg</a:t>
            </a:r>
            <a:r>
              <a:rPr lang="nl-NL" sz="1100" i="1" dirty="0">
                <a:solidFill>
                  <a:srgbClr val="515151"/>
                </a:solidFill>
                <a:latin typeface="ff-tisa-web-pro"/>
              </a:rPr>
              <a:t> </a:t>
            </a:r>
            <a:br>
              <a:rPr lang="nl-NL" sz="1600" i="1" dirty="0"/>
            </a:br>
            <a:endParaRPr lang="nl-NL" sz="1600" i="1" dirty="0"/>
          </a:p>
          <a:p>
            <a:endParaRPr lang="nl-NL" sz="1800" dirty="0"/>
          </a:p>
        </p:txBody>
      </p:sp>
      <p:pic>
        <p:nvPicPr>
          <p:cNvPr id="4" name="Afbeelding 3" descr="Afbeelding met lucht, water, buiten, natuur&#10;&#10;Automatisch gegenereerde beschrijving">
            <a:extLst>
              <a:ext uri="{FF2B5EF4-FFF2-40B4-BE49-F238E27FC236}">
                <a16:creationId xmlns:a16="http://schemas.microsoft.com/office/drawing/2014/main" id="{BC0FFD78-C629-40BA-946D-F1A447289172}"/>
              </a:ext>
            </a:extLst>
          </p:cNvPr>
          <p:cNvPicPr>
            <a:picLocks noChangeAspect="1"/>
          </p:cNvPicPr>
          <p:nvPr/>
        </p:nvPicPr>
        <p:blipFill>
          <a:blip r:embed="rId3"/>
          <a:stretch>
            <a:fillRect/>
          </a:stretch>
        </p:blipFill>
        <p:spPr>
          <a:xfrm>
            <a:off x="7572653" y="2757098"/>
            <a:ext cx="3548404" cy="1995977"/>
          </a:xfrm>
          <a:prstGeom prst="rect">
            <a:avLst/>
          </a:prstGeom>
        </p:spPr>
      </p:pic>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4552" y="1899284"/>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p>
        </p:txBody>
      </p:sp>
      <p:sp>
        <p:nvSpPr>
          <p:cNvPr id="15"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6862" y="218992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p>
        </p:txBody>
      </p:sp>
    </p:spTree>
    <p:extLst>
      <p:ext uri="{BB962C8B-B14F-4D97-AF65-F5344CB8AC3E}">
        <p14:creationId xmlns:p14="http://schemas.microsoft.com/office/powerpoint/2010/main" val="21463755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9EC14C0-AFFC-4F4F-A2EA-62B0912DF4D0}"/>
              </a:ext>
            </a:extLst>
          </p:cNvPr>
          <p:cNvSpPr>
            <a:spLocks noGrp="1"/>
          </p:cNvSpPr>
          <p:nvPr>
            <p:ph type="title"/>
          </p:nvPr>
        </p:nvSpPr>
        <p:spPr/>
        <p:txBody>
          <a:bodyPr>
            <a:normAutofit/>
          </a:bodyPr>
          <a:lstStyle/>
          <a:p>
            <a:r>
              <a:rPr lang="nl-NL" dirty="0"/>
              <a:t>H32 Woordraadstrategieën </a:t>
            </a:r>
            <a:r>
              <a:rPr lang="nl-NL" sz="2000" dirty="0"/>
              <a:t>(aantekening)</a:t>
            </a:r>
          </a:p>
        </p:txBody>
      </p:sp>
      <p:sp>
        <p:nvSpPr>
          <p:cNvPr id="3" name="Tijdelijke aanduiding voor inhoud 2">
            <a:extLst>
              <a:ext uri="{FF2B5EF4-FFF2-40B4-BE49-F238E27FC236}">
                <a16:creationId xmlns:a16="http://schemas.microsoft.com/office/drawing/2014/main" id="{7C1CCA7A-EB57-314F-8AB0-8652C99C76F2}"/>
              </a:ext>
            </a:extLst>
          </p:cNvPr>
          <p:cNvSpPr>
            <a:spLocks noGrp="1"/>
          </p:cNvSpPr>
          <p:nvPr>
            <p:ph idx="1"/>
          </p:nvPr>
        </p:nvSpPr>
        <p:spPr>
          <a:xfrm>
            <a:off x="838200" y="1848371"/>
            <a:ext cx="9419897" cy="4756150"/>
          </a:xfrm>
        </p:spPr>
        <p:txBody>
          <a:bodyPr vert="horz" lIns="91440" tIns="45720" rIns="91440" bIns="45720" rtlCol="0" anchor="t">
            <a:normAutofit fontScale="92500" lnSpcReduction="20000"/>
          </a:bodyPr>
          <a:lstStyle/>
          <a:p>
            <a:pPr marL="0" indent="0">
              <a:buNone/>
            </a:pPr>
            <a:r>
              <a:rPr lang="nl-NL" dirty="0"/>
              <a:t>Ken je het woord niet? Haal de betekenis uit de context:</a:t>
            </a:r>
            <a:endParaRPr lang="en-US" dirty="0"/>
          </a:p>
          <a:p>
            <a:r>
              <a:rPr lang="nl-NL" b="1" dirty="0"/>
              <a:t>Uitleg / omschrijving</a:t>
            </a:r>
          </a:p>
          <a:p>
            <a:r>
              <a:rPr lang="nl-NL" b="1" dirty="0"/>
              <a:t>Synoniem (ander woord, zelfde betekenis)</a:t>
            </a:r>
          </a:p>
          <a:p>
            <a:r>
              <a:rPr lang="nl-NL" b="1" dirty="0"/>
              <a:t>Voorbeeld</a:t>
            </a:r>
          </a:p>
          <a:p>
            <a:r>
              <a:rPr lang="nl-NL" b="1" dirty="0"/>
              <a:t>Tegenstelling</a:t>
            </a:r>
          </a:p>
          <a:p>
            <a:r>
              <a:rPr lang="nl-NL" b="1" dirty="0"/>
              <a:t>Samenstelling (woorddelen herkennen)</a:t>
            </a:r>
          </a:p>
          <a:p>
            <a:r>
              <a:rPr lang="nl-NL" b="1" dirty="0"/>
              <a:t>Lijkt op ander woord (in andere taal)</a:t>
            </a:r>
          </a:p>
          <a:p>
            <a:r>
              <a:rPr lang="nl-NL" b="1" dirty="0">
                <a:ea typeface="+mn-lt"/>
                <a:cs typeface="+mn-lt"/>
              </a:rPr>
              <a:t>Afbeelding</a:t>
            </a:r>
            <a:br>
              <a:rPr lang="nl-NL" dirty="0">
                <a:ea typeface="+mn-lt"/>
                <a:cs typeface="+mn-lt"/>
              </a:rPr>
            </a:br>
            <a:endParaRPr lang="nl-NL" dirty="0">
              <a:ea typeface="+mn-lt"/>
              <a:cs typeface="+mn-lt"/>
            </a:endParaRPr>
          </a:p>
          <a:p>
            <a:pPr marL="0" indent="0">
              <a:buNone/>
            </a:pPr>
            <a:r>
              <a:rPr lang="nl-NL" dirty="0"/>
              <a:t> Laatste redmiddel: zoek het op of vraag het iemand.</a:t>
            </a:r>
          </a:p>
          <a:p>
            <a:pPr marL="0" indent="0">
              <a:buNone/>
            </a:pPr>
            <a:endParaRPr lang="nl-NL" dirty="0"/>
          </a:p>
          <a:p>
            <a:endParaRPr lang="nl-NL" dirty="0"/>
          </a:p>
          <a:p>
            <a:endParaRPr lang="nl-NL" dirty="0"/>
          </a:p>
        </p:txBody>
      </p:sp>
    </p:spTree>
    <p:extLst>
      <p:ext uri="{BB962C8B-B14F-4D97-AF65-F5344CB8AC3E}">
        <p14:creationId xmlns:p14="http://schemas.microsoft.com/office/powerpoint/2010/main" val="13394824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869133" y="226337"/>
            <a:ext cx="9798867" cy="1760685"/>
          </a:xfrm>
        </p:spPr>
        <p:txBody>
          <a:bodyPr>
            <a:normAutofit/>
          </a:bodyPr>
          <a:lstStyle/>
          <a:p>
            <a:r>
              <a:rPr lang="nl-NL" sz="3000" b="1" dirty="0">
                <a:uFill>
                  <a:solidFill>
                    <a:schemeClr val="accent6"/>
                  </a:solidFill>
                </a:uFill>
                <a:latin typeface="Arial" panose="020B0604020202020204" pitchFamily="34" charset="0"/>
                <a:cs typeface="Arial" panose="020B0604020202020204" pitchFamily="34" charset="0"/>
              </a:rPr>
              <a:t>ONDERWERP</a:t>
            </a:r>
          </a:p>
        </p:txBody>
      </p:sp>
      <p:sp>
        <p:nvSpPr>
          <p:cNvPr id="7" name="Tekstvak 6"/>
          <p:cNvSpPr txBox="1"/>
          <p:nvPr/>
        </p:nvSpPr>
        <p:spPr>
          <a:xfrm>
            <a:off x="10030327" y="0"/>
            <a:ext cx="637674" cy="369332"/>
          </a:xfrm>
          <a:prstGeom prst="rect">
            <a:avLst/>
          </a:prstGeom>
          <a:solidFill>
            <a:srgbClr val="00B0C5"/>
          </a:solidFill>
          <a:ln>
            <a:solidFill>
              <a:srgbClr val="00B0C5"/>
            </a:solidFill>
          </a:ln>
        </p:spPr>
        <p:txBody>
          <a:bodyPr wrap="square" rtlCol="0">
            <a:spAutoFit/>
          </a:bodyPr>
          <a:lstStyle/>
          <a:p>
            <a:endParaRPr lang="nl-NL" dirty="0"/>
          </a:p>
        </p:txBody>
      </p:sp>
      <p:sp>
        <p:nvSpPr>
          <p:cNvPr id="8" name="Tijdelijke aanduiding voor inhoud 2">
            <a:extLst>
              <a:ext uri="{FF2B5EF4-FFF2-40B4-BE49-F238E27FC236}">
                <a16:creationId xmlns:a16="http://schemas.microsoft.com/office/drawing/2014/main" id="{6515C41F-821E-4B7D-83D1-E7B25F203D74}"/>
              </a:ext>
            </a:extLst>
          </p:cNvPr>
          <p:cNvSpPr txBox="1">
            <a:spLocks/>
          </p:cNvSpPr>
          <p:nvPr/>
        </p:nvSpPr>
        <p:spPr>
          <a:xfrm>
            <a:off x="706170" y="1466661"/>
            <a:ext cx="11298726" cy="5165002"/>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Clr>
                <a:srgbClr val="00A6CC"/>
              </a:buClr>
              <a:buNone/>
            </a:pPr>
            <a:r>
              <a:rPr lang="nl-NL" sz="2600" dirty="0">
                <a:latin typeface="Arial" panose="020B0604020202020204" pitchFamily="34" charset="0"/>
                <a:cs typeface="Arial" panose="020B0604020202020204" pitchFamily="34" charset="0"/>
              </a:rPr>
              <a:t>Iedere tekst heeft een onderwerp.</a:t>
            </a:r>
            <a:endParaRPr lang="nl-NL" sz="2200" dirty="0">
              <a:latin typeface="Arial" panose="020B0604020202020204" pitchFamily="34" charset="0"/>
              <a:cs typeface="Arial" panose="020B0604020202020204" pitchFamily="34" charset="0"/>
            </a:endParaRPr>
          </a:p>
          <a:p>
            <a:pPr marL="457200" lvl="1" indent="0">
              <a:lnSpc>
                <a:spcPct val="150000"/>
              </a:lnSpc>
              <a:spcBef>
                <a:spcPts val="0"/>
              </a:spcBef>
              <a:buClr>
                <a:srgbClr val="E86A21"/>
              </a:buClr>
              <a:buNone/>
            </a:pPr>
            <a:r>
              <a:rPr lang="nl-NL" dirty="0">
                <a:solidFill>
                  <a:prstClr val="black"/>
                </a:solidFill>
                <a:latin typeface="Arial"/>
                <a:cs typeface="Arial"/>
              </a:rPr>
              <a:t>Je vindt het onderwerp vaak via d</a:t>
            </a:r>
            <a:r>
              <a:rPr lang="nl-NL" i="1" dirty="0">
                <a:solidFill>
                  <a:prstClr val="black"/>
                </a:solidFill>
                <a:latin typeface="Arial"/>
                <a:cs typeface="Arial"/>
              </a:rPr>
              <a:t>e </a:t>
            </a:r>
            <a:r>
              <a:rPr lang="nl-NL" sz="2600" b="1" dirty="0">
                <a:solidFill>
                  <a:prstClr val="black"/>
                </a:solidFill>
                <a:latin typeface="Arial"/>
                <a:cs typeface="Arial"/>
              </a:rPr>
              <a:t>titel, ondertitel, afbeeldingen, inleiding</a:t>
            </a:r>
            <a:r>
              <a:rPr lang="nl-NL" sz="2600" dirty="0">
                <a:solidFill>
                  <a:prstClr val="black"/>
                </a:solidFill>
                <a:latin typeface="Arial"/>
                <a:cs typeface="Arial"/>
              </a:rPr>
              <a:t>. </a:t>
            </a:r>
          </a:p>
          <a:p>
            <a:pPr marL="457200" lvl="1" indent="0">
              <a:lnSpc>
                <a:spcPct val="150000"/>
              </a:lnSpc>
              <a:spcBef>
                <a:spcPts val="0"/>
              </a:spcBef>
              <a:buClr>
                <a:srgbClr val="E86A21"/>
              </a:buClr>
              <a:buNone/>
            </a:pPr>
            <a:r>
              <a:rPr lang="nl-NL" sz="2600" dirty="0">
                <a:solidFill>
                  <a:prstClr val="black"/>
                </a:solidFill>
                <a:latin typeface="Arial"/>
                <a:cs typeface="Arial"/>
              </a:rPr>
              <a:t>Het onderwerp bestaat  uit </a:t>
            </a:r>
            <a:r>
              <a:rPr lang="nl-NL" sz="2600" b="1" dirty="0">
                <a:solidFill>
                  <a:prstClr val="black"/>
                </a:solidFill>
                <a:latin typeface="Arial"/>
                <a:cs typeface="Arial"/>
              </a:rPr>
              <a:t>één woord</a:t>
            </a:r>
            <a:r>
              <a:rPr lang="nl-NL" sz="2600" dirty="0">
                <a:solidFill>
                  <a:prstClr val="black"/>
                </a:solidFill>
                <a:latin typeface="Arial"/>
                <a:cs typeface="Arial"/>
              </a:rPr>
              <a:t> of </a:t>
            </a:r>
            <a:r>
              <a:rPr lang="nl-NL" sz="2600" b="1" dirty="0">
                <a:solidFill>
                  <a:prstClr val="black"/>
                </a:solidFill>
                <a:latin typeface="Arial"/>
                <a:cs typeface="Arial"/>
              </a:rPr>
              <a:t>een woordgroep.</a:t>
            </a:r>
            <a:br>
              <a:rPr lang="nl-NL" sz="2600" b="1" dirty="0">
                <a:solidFill>
                  <a:prstClr val="black"/>
                </a:solidFill>
                <a:latin typeface="Arial"/>
                <a:cs typeface="Arial"/>
              </a:rPr>
            </a:br>
            <a:r>
              <a:rPr lang="nl-NL" sz="2600" dirty="0">
                <a:solidFill>
                  <a:prstClr val="black"/>
                </a:solidFill>
                <a:latin typeface="Arial"/>
                <a:cs typeface="Arial"/>
              </a:rPr>
              <a:t> </a:t>
            </a:r>
            <a:r>
              <a:rPr lang="nl-NL" sz="2600" dirty="0">
                <a:solidFill>
                  <a:srgbClr val="FF0000"/>
                </a:solidFill>
                <a:latin typeface="Arial"/>
                <a:cs typeface="Arial"/>
              </a:rPr>
              <a:t>Let op: je formuleert het onderwerp niet als zin! </a:t>
            </a:r>
          </a:p>
          <a:p>
            <a:pPr marL="0" indent="0">
              <a:lnSpc>
                <a:spcPct val="150000"/>
              </a:lnSpc>
              <a:buClr>
                <a:srgbClr val="00A6CC"/>
              </a:buClr>
              <a:buNone/>
            </a:pPr>
            <a:r>
              <a:rPr lang="nl-NL" sz="2600" dirty="0">
                <a:latin typeface="Arial" panose="020B0604020202020204" pitchFamily="34" charset="0"/>
                <a:cs typeface="Arial" panose="020B0604020202020204" pitchFamily="34" charset="0"/>
              </a:rPr>
              <a:t>Alle belangrijke informatie over het onderwerp staat in de inleiding, het slot, en in de kernzinnen van de tussenliggende alinea’s. </a:t>
            </a:r>
            <a:endParaRPr lang="nl-NL" dirty="0">
              <a:latin typeface="Arial" panose="020B0604020202020204" pitchFamily="34" charset="0"/>
              <a:cs typeface="Arial" panose="020B0604020202020204" pitchFamily="34" charset="0"/>
            </a:endParaRPr>
          </a:p>
          <a:p>
            <a:pPr marL="457200" lvl="1" indent="0">
              <a:lnSpc>
                <a:spcPct val="150000"/>
              </a:lnSpc>
              <a:buClr>
                <a:srgbClr val="E86A21"/>
              </a:buClr>
              <a:buNone/>
            </a:pPr>
            <a:endParaRPr lang="nl-NL" dirty="0">
              <a:latin typeface="Arial" panose="020B0604020202020204" pitchFamily="34" charset="0"/>
              <a:cs typeface="Arial" panose="020B0604020202020204" pitchFamily="34" charset="0"/>
            </a:endParaRPr>
          </a:p>
          <a:p>
            <a:pPr lvl="1">
              <a:buClr>
                <a:srgbClr val="00B0C5"/>
              </a:buClr>
            </a:pPr>
            <a:endParaRPr lang="nl-NL" sz="2200" dirty="0">
              <a:latin typeface="Arial" panose="020B0604020202020204" pitchFamily="34" charset="0"/>
              <a:cs typeface="Arial" panose="020B0604020202020204" pitchFamily="34" charset="0"/>
            </a:endParaRPr>
          </a:p>
        </p:txBody>
      </p:sp>
      <p:sp>
        <p:nvSpPr>
          <p:cNvPr id="5" name="Tekstvak 5">
            <a:extLst>
              <a:ext uri="{FF2B5EF4-FFF2-40B4-BE49-F238E27FC236}">
                <a16:creationId xmlns:a16="http://schemas.microsoft.com/office/drawing/2014/main" id="{B24FF69D-F981-4699-8F71-CF003FB6B357}"/>
              </a:ext>
            </a:extLst>
          </p:cNvPr>
          <p:cNvSpPr txBox="1"/>
          <p:nvPr/>
        </p:nvSpPr>
        <p:spPr>
          <a:xfrm>
            <a:off x="10027921" y="0"/>
            <a:ext cx="637674" cy="369332"/>
          </a:xfrm>
          <a:prstGeom prst="rect">
            <a:avLst/>
          </a:prstGeom>
          <a:solidFill>
            <a:srgbClr val="00A6CC"/>
          </a:solidFill>
          <a:ln>
            <a:solidFill>
              <a:srgbClr val="00B0C5"/>
            </a:solidFill>
          </a:ln>
        </p:spPr>
        <p:txBody>
          <a:bodyPr wrap="square" rtlCol="0">
            <a:spAutoFit/>
          </a:bodyPr>
          <a:ls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nl-NL" dirty="0"/>
          </a:p>
        </p:txBody>
      </p:sp>
    </p:spTree>
    <p:extLst>
      <p:ext uri="{BB962C8B-B14F-4D97-AF65-F5344CB8AC3E}">
        <p14:creationId xmlns:p14="http://schemas.microsoft.com/office/powerpoint/2010/main" val="12148396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96705" y="369332"/>
            <a:ext cx="9780760" cy="1283635"/>
          </a:xfrm>
        </p:spPr>
        <p:txBody>
          <a:bodyPr>
            <a:normAutofit/>
          </a:bodyPr>
          <a:lstStyle/>
          <a:p>
            <a:r>
              <a:rPr lang="nl-NL" sz="3000" b="1" dirty="0">
                <a:uFill>
                  <a:solidFill>
                    <a:schemeClr val="accent6"/>
                  </a:solidFill>
                </a:uFill>
                <a:latin typeface="Arial" panose="020B0604020202020204" pitchFamily="34" charset="0"/>
                <a:cs typeface="Arial" panose="020B0604020202020204" pitchFamily="34" charset="0"/>
              </a:rPr>
              <a:t>DEELONDERWERP</a:t>
            </a:r>
          </a:p>
        </p:txBody>
      </p:sp>
      <p:sp>
        <p:nvSpPr>
          <p:cNvPr id="7" name="Tekstvak 6"/>
          <p:cNvSpPr txBox="1"/>
          <p:nvPr/>
        </p:nvSpPr>
        <p:spPr>
          <a:xfrm>
            <a:off x="10030327" y="0"/>
            <a:ext cx="637674" cy="369332"/>
          </a:xfrm>
          <a:prstGeom prst="rect">
            <a:avLst/>
          </a:prstGeom>
          <a:solidFill>
            <a:srgbClr val="00B0C5"/>
          </a:solidFill>
          <a:ln>
            <a:solidFill>
              <a:srgbClr val="00B0C5"/>
            </a:solidFill>
          </a:ln>
        </p:spPr>
        <p:txBody>
          <a:bodyPr wrap="square" rtlCol="0">
            <a:spAutoFit/>
          </a:bodyPr>
          <a:lstStyle/>
          <a:p>
            <a:endParaRPr lang="nl-NL" dirty="0"/>
          </a:p>
        </p:txBody>
      </p:sp>
      <p:sp>
        <p:nvSpPr>
          <p:cNvPr id="8" name="Tijdelijke aanduiding voor inhoud 2">
            <a:extLst>
              <a:ext uri="{FF2B5EF4-FFF2-40B4-BE49-F238E27FC236}">
                <a16:creationId xmlns:a16="http://schemas.microsoft.com/office/drawing/2014/main" id="{6515C41F-821E-4B7D-83D1-E7B25F203D74}"/>
              </a:ext>
            </a:extLst>
          </p:cNvPr>
          <p:cNvSpPr txBox="1">
            <a:spLocks/>
          </p:cNvSpPr>
          <p:nvPr/>
        </p:nvSpPr>
        <p:spPr>
          <a:xfrm>
            <a:off x="796705" y="1520982"/>
            <a:ext cx="9596977" cy="500296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Clr>
                <a:srgbClr val="00A6CC"/>
              </a:buClr>
            </a:pPr>
            <a:r>
              <a:rPr lang="nl-NL" sz="2600" dirty="0">
                <a:solidFill>
                  <a:prstClr val="black"/>
                </a:solidFill>
                <a:latin typeface="Arial" panose="020B0604020202020204" pitchFamily="34" charset="0"/>
                <a:cs typeface="Arial" panose="020B0604020202020204" pitchFamily="34" charset="0"/>
              </a:rPr>
              <a:t>Deelonderwerpen geven verschillende kanten van het  hoofdonderwerp weer.  </a:t>
            </a:r>
          </a:p>
          <a:p>
            <a:pPr marL="457200" lvl="1" indent="0">
              <a:lnSpc>
                <a:spcPct val="150000"/>
              </a:lnSpc>
              <a:spcBef>
                <a:spcPts val="0"/>
              </a:spcBef>
              <a:buClr>
                <a:srgbClr val="E86A21"/>
              </a:buClr>
              <a:buFont typeface="Arial" panose="020B0604020202020204" pitchFamily="34" charset="0"/>
              <a:buChar char="−"/>
            </a:pPr>
            <a:r>
              <a:rPr lang="nl-NL" dirty="0">
                <a:solidFill>
                  <a:prstClr val="black"/>
                </a:solidFill>
                <a:latin typeface="Arial" panose="020B0604020202020204" pitchFamily="34" charset="0"/>
                <a:cs typeface="Arial" panose="020B0604020202020204" pitchFamily="34" charset="0"/>
              </a:rPr>
              <a:t> 	</a:t>
            </a:r>
            <a:r>
              <a:rPr lang="nl-NL" sz="2600" dirty="0">
                <a:solidFill>
                  <a:prstClr val="black"/>
                </a:solidFill>
                <a:latin typeface="Arial" panose="020B0604020202020204" pitchFamily="34" charset="0"/>
                <a:cs typeface="Arial" panose="020B0604020202020204" pitchFamily="34" charset="0"/>
              </a:rPr>
              <a:t>één woord/woordgroep</a:t>
            </a:r>
          </a:p>
          <a:p>
            <a:pPr marL="457200" lvl="1" indent="0">
              <a:lnSpc>
                <a:spcPct val="150000"/>
              </a:lnSpc>
              <a:spcBef>
                <a:spcPts val="0"/>
              </a:spcBef>
              <a:buClr>
                <a:srgbClr val="E86A21"/>
              </a:buClr>
              <a:buFont typeface="Arial" panose="020B0604020202020204" pitchFamily="34" charset="0"/>
              <a:buChar char="−"/>
            </a:pPr>
            <a:r>
              <a:rPr lang="nl-NL" sz="2600" dirty="0">
                <a:solidFill>
                  <a:prstClr val="black"/>
                </a:solidFill>
                <a:latin typeface="Arial" panose="020B0604020202020204" pitchFamily="34" charset="0"/>
                <a:cs typeface="Arial" panose="020B0604020202020204" pitchFamily="34" charset="0"/>
              </a:rPr>
              <a:t> 	(soms) aangekondigd door tussenkopjes</a:t>
            </a:r>
          </a:p>
          <a:p>
            <a:pPr marL="457200" lvl="1" indent="0">
              <a:lnSpc>
                <a:spcPct val="150000"/>
              </a:lnSpc>
              <a:spcBef>
                <a:spcPts val="0"/>
              </a:spcBef>
              <a:buClr>
                <a:srgbClr val="E86A21"/>
              </a:buClr>
              <a:buFont typeface="Arial" panose="020B0604020202020204" pitchFamily="34" charset="0"/>
              <a:buChar char="−"/>
            </a:pPr>
            <a:endParaRPr lang="nl-NL" sz="2600" dirty="0">
              <a:solidFill>
                <a:prstClr val="black"/>
              </a:solidFill>
              <a:latin typeface="Arial" panose="020B0604020202020204" pitchFamily="34" charset="0"/>
              <a:cs typeface="Arial" panose="020B0604020202020204" pitchFamily="34" charset="0"/>
            </a:endParaRPr>
          </a:p>
          <a:p>
            <a:pPr marL="0" indent="0">
              <a:lnSpc>
                <a:spcPct val="150000"/>
              </a:lnSpc>
              <a:spcBef>
                <a:spcPts val="0"/>
              </a:spcBef>
              <a:buClr>
                <a:srgbClr val="E86A21"/>
              </a:buClr>
              <a:buFont typeface="Arial" panose="020B0604020202020204" pitchFamily="34" charset="0"/>
              <a:buChar char="−"/>
            </a:pPr>
            <a:r>
              <a:rPr lang="nl-NL" sz="3000" dirty="0">
                <a:solidFill>
                  <a:prstClr val="black"/>
                </a:solidFill>
                <a:latin typeface="Arial" panose="020B0604020202020204" pitchFamily="34" charset="0"/>
                <a:cs typeface="Arial" panose="020B0604020202020204" pitchFamily="34" charset="0"/>
              </a:rPr>
              <a:t>Voorbeeld: </a:t>
            </a:r>
          </a:p>
          <a:p>
            <a:pPr marL="457200" lvl="1" indent="0">
              <a:lnSpc>
                <a:spcPct val="150000"/>
              </a:lnSpc>
              <a:spcBef>
                <a:spcPts val="0"/>
              </a:spcBef>
              <a:buClr>
                <a:srgbClr val="E86A21"/>
              </a:buClr>
              <a:buFont typeface="Arial" panose="020B0604020202020204" pitchFamily="34" charset="0"/>
              <a:buChar char="−"/>
            </a:pPr>
            <a:r>
              <a:rPr lang="nl-NL" sz="2600" dirty="0">
                <a:solidFill>
                  <a:prstClr val="black"/>
                </a:solidFill>
                <a:latin typeface="Arial" panose="020B0604020202020204" pitchFamily="34" charset="0"/>
                <a:cs typeface="Arial" panose="020B0604020202020204" pitchFamily="34" charset="0"/>
              </a:rPr>
              <a:t>Onderwerp = werken in de zorg: </a:t>
            </a:r>
          </a:p>
          <a:p>
            <a:pPr marL="457200" lvl="1" indent="0">
              <a:lnSpc>
                <a:spcPct val="150000"/>
              </a:lnSpc>
              <a:spcBef>
                <a:spcPts val="0"/>
              </a:spcBef>
              <a:buClr>
                <a:srgbClr val="E86A21"/>
              </a:buClr>
              <a:buFont typeface="Arial" panose="020B0604020202020204" pitchFamily="34" charset="0"/>
              <a:buChar char="−"/>
            </a:pPr>
            <a:r>
              <a:rPr lang="nl-NL" sz="2600" dirty="0">
                <a:solidFill>
                  <a:prstClr val="black"/>
                </a:solidFill>
                <a:latin typeface="Arial" panose="020B0604020202020204" pitchFamily="34" charset="0"/>
                <a:cs typeface="Arial" panose="020B0604020202020204" pitchFamily="34" charset="0"/>
              </a:rPr>
              <a:t>Deelonderwerpen: verpleegkundige, fysiotherapeut, chirurg </a:t>
            </a:r>
          </a:p>
          <a:p>
            <a:pPr marL="457200" lvl="1" indent="0">
              <a:lnSpc>
                <a:spcPct val="150000"/>
              </a:lnSpc>
              <a:buClr>
                <a:srgbClr val="00B0C5"/>
              </a:buClr>
              <a:buNone/>
            </a:pPr>
            <a:endParaRPr lang="nl-NL" sz="2200" dirty="0">
              <a:latin typeface="Arial" panose="020B0604020202020204" pitchFamily="34" charset="0"/>
              <a:cs typeface="Arial" panose="020B0604020202020204" pitchFamily="34" charset="0"/>
            </a:endParaRPr>
          </a:p>
          <a:p>
            <a:pPr marL="457200" lvl="1" indent="0">
              <a:lnSpc>
                <a:spcPct val="150000"/>
              </a:lnSpc>
              <a:buClr>
                <a:srgbClr val="E86A21"/>
              </a:buClr>
              <a:buNone/>
            </a:pPr>
            <a:endParaRPr lang="nl-NL" dirty="0">
              <a:latin typeface="Arial" panose="020B0604020202020204" pitchFamily="34" charset="0"/>
              <a:cs typeface="Arial" panose="020B0604020202020204" pitchFamily="34" charset="0"/>
            </a:endParaRPr>
          </a:p>
          <a:p>
            <a:pPr lvl="1">
              <a:buClr>
                <a:srgbClr val="00B0C5"/>
              </a:buClr>
            </a:pPr>
            <a:endParaRPr lang="nl-NL" sz="2200" dirty="0">
              <a:latin typeface="Arial" panose="020B0604020202020204" pitchFamily="34" charset="0"/>
              <a:cs typeface="Arial" panose="020B0604020202020204" pitchFamily="34" charset="0"/>
            </a:endParaRPr>
          </a:p>
        </p:txBody>
      </p:sp>
      <p:sp>
        <p:nvSpPr>
          <p:cNvPr id="5" name="Tekstvak 5">
            <a:extLst>
              <a:ext uri="{FF2B5EF4-FFF2-40B4-BE49-F238E27FC236}">
                <a16:creationId xmlns:a16="http://schemas.microsoft.com/office/drawing/2014/main" id="{B24FF69D-F981-4699-8F71-CF003FB6B357}"/>
              </a:ext>
            </a:extLst>
          </p:cNvPr>
          <p:cNvSpPr txBox="1"/>
          <p:nvPr/>
        </p:nvSpPr>
        <p:spPr>
          <a:xfrm>
            <a:off x="10030327" y="0"/>
            <a:ext cx="637674" cy="369332"/>
          </a:xfrm>
          <a:prstGeom prst="rect">
            <a:avLst/>
          </a:prstGeom>
          <a:solidFill>
            <a:srgbClr val="00A6CC"/>
          </a:solidFill>
          <a:ln>
            <a:solidFill>
              <a:srgbClr val="00B0C5"/>
            </a:solidFill>
          </a:ln>
        </p:spPr>
        <p:txBody>
          <a:bodyPr wrap="square" rtlCol="0">
            <a:spAutoFit/>
          </a:bodyPr>
          <a:ls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nl-NL" dirty="0"/>
          </a:p>
        </p:txBody>
      </p:sp>
    </p:spTree>
    <p:extLst>
      <p:ext uri="{BB962C8B-B14F-4D97-AF65-F5344CB8AC3E}">
        <p14:creationId xmlns:p14="http://schemas.microsoft.com/office/powerpoint/2010/main" val="1997109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1086416" y="369333"/>
            <a:ext cx="9581584" cy="825724"/>
          </a:xfrm>
        </p:spPr>
        <p:txBody>
          <a:bodyPr>
            <a:normAutofit/>
          </a:bodyPr>
          <a:lstStyle/>
          <a:p>
            <a:r>
              <a:rPr lang="nl-NL" sz="3000" b="1" dirty="0">
                <a:uFill>
                  <a:solidFill>
                    <a:schemeClr val="accent6"/>
                  </a:solidFill>
                </a:uFill>
                <a:latin typeface="Arial" panose="020B0604020202020204" pitchFamily="34" charset="0"/>
                <a:cs typeface="Arial" panose="020B0604020202020204" pitchFamily="34" charset="0"/>
              </a:rPr>
              <a:t>HOOFDGEDACHTE</a:t>
            </a:r>
          </a:p>
        </p:txBody>
      </p:sp>
      <p:sp>
        <p:nvSpPr>
          <p:cNvPr id="7" name="Tekstvak 6"/>
          <p:cNvSpPr txBox="1"/>
          <p:nvPr/>
        </p:nvSpPr>
        <p:spPr>
          <a:xfrm>
            <a:off x="10030327" y="0"/>
            <a:ext cx="637674" cy="369332"/>
          </a:xfrm>
          <a:prstGeom prst="rect">
            <a:avLst/>
          </a:prstGeom>
          <a:solidFill>
            <a:srgbClr val="00B0C5"/>
          </a:solidFill>
          <a:ln>
            <a:solidFill>
              <a:srgbClr val="00B0C5"/>
            </a:solidFill>
          </a:ln>
        </p:spPr>
        <p:txBody>
          <a:bodyPr wrap="square" rtlCol="0">
            <a:spAutoFit/>
          </a:bodyPr>
          <a:lstStyle/>
          <a:p>
            <a:endParaRPr lang="nl-NL" dirty="0"/>
          </a:p>
        </p:txBody>
      </p:sp>
      <p:sp>
        <p:nvSpPr>
          <p:cNvPr id="8" name="Tijdelijke aanduiding voor inhoud 2">
            <a:extLst>
              <a:ext uri="{FF2B5EF4-FFF2-40B4-BE49-F238E27FC236}">
                <a16:creationId xmlns:a16="http://schemas.microsoft.com/office/drawing/2014/main" id="{6515C41F-821E-4B7D-83D1-E7B25F203D74}"/>
              </a:ext>
            </a:extLst>
          </p:cNvPr>
          <p:cNvSpPr txBox="1">
            <a:spLocks/>
          </p:cNvSpPr>
          <p:nvPr/>
        </p:nvSpPr>
        <p:spPr>
          <a:xfrm>
            <a:off x="669697" y="945026"/>
            <a:ext cx="10846051" cy="5567882"/>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nl-NL" dirty="0">
                <a:latin typeface="Arial"/>
                <a:cs typeface="Arial"/>
              </a:rPr>
              <a:t>De hoofdgedachte is de belangrijkste boodschap over het onderwerp van de tekst door de auteur </a:t>
            </a:r>
            <a:r>
              <a:rPr lang="nl-NL" b="1" dirty="0">
                <a:latin typeface="Arial"/>
                <a:cs typeface="Arial"/>
              </a:rPr>
              <a:t>in één zin geformuleerd</a:t>
            </a:r>
            <a:r>
              <a:rPr lang="nl-NL" dirty="0">
                <a:latin typeface="Arial"/>
                <a:cs typeface="Arial"/>
              </a:rPr>
              <a:t>.</a:t>
            </a:r>
            <a:br>
              <a:rPr lang="nl-NL" dirty="0">
                <a:latin typeface="Arial"/>
                <a:cs typeface="Arial"/>
              </a:rPr>
            </a:br>
            <a:endParaRPr lang="en-US" b="1">
              <a:latin typeface="Arial"/>
              <a:cs typeface="Arial"/>
            </a:endParaRPr>
          </a:p>
          <a:p>
            <a:pPr marL="0" indent="0">
              <a:lnSpc>
                <a:spcPct val="100000"/>
              </a:lnSpc>
              <a:buNone/>
            </a:pPr>
            <a:r>
              <a:rPr lang="nl-NL" sz="2800" dirty="0">
                <a:latin typeface="Arial"/>
                <a:cs typeface="Arial"/>
              </a:rPr>
              <a:t>Vaak vind je de </a:t>
            </a:r>
            <a:r>
              <a:rPr lang="nl-NL" sz="2800" dirty="0">
                <a:solidFill>
                  <a:schemeClr val="tx2"/>
                </a:solidFill>
                <a:latin typeface="Arial"/>
                <a:cs typeface="Arial"/>
              </a:rPr>
              <a:t>hoofdgedachte</a:t>
            </a:r>
            <a:r>
              <a:rPr lang="nl-NL" sz="2800" dirty="0">
                <a:latin typeface="Arial"/>
                <a:cs typeface="Arial"/>
              </a:rPr>
              <a:t> in </a:t>
            </a:r>
            <a:r>
              <a:rPr lang="nl-NL" sz="2800" b="1" dirty="0">
                <a:latin typeface="Arial"/>
                <a:cs typeface="Arial"/>
              </a:rPr>
              <a:t>de titel, inleiding en/of in het slot. </a:t>
            </a:r>
            <a:endParaRPr lang="en-US" b="1">
              <a:latin typeface="Arial"/>
              <a:cs typeface="Arial"/>
            </a:endParaRPr>
          </a:p>
          <a:p>
            <a:pPr marL="0" indent="0">
              <a:lnSpc>
                <a:spcPct val="100000"/>
              </a:lnSpc>
              <a:buClr>
                <a:srgbClr val="00A6CC"/>
              </a:buClr>
              <a:buNone/>
            </a:pPr>
            <a:r>
              <a:rPr lang="nl-NL" sz="2800" dirty="0">
                <a:latin typeface="Arial"/>
                <a:cs typeface="Arial"/>
              </a:rPr>
              <a:t>Het kan zijn dat je de hoofdgedachte letterlijk vindt in de inleiding en/of het slot, maar soms moet je zelf een zin formuleren. Die zin moet antwoord geven op de vraag: </a:t>
            </a:r>
            <a:r>
              <a:rPr lang="nl-NL" sz="2800" i="1" dirty="0">
                <a:latin typeface="Arial"/>
                <a:cs typeface="Arial"/>
              </a:rPr>
              <a:t>wat is het belangrijkste wat er in de tekst over het onderwerp wordt gezegd door de schrijver?</a:t>
            </a:r>
            <a:br>
              <a:rPr lang="nl-NL" i="1" dirty="0">
                <a:latin typeface="Arial"/>
                <a:cs typeface="Arial"/>
              </a:rPr>
            </a:br>
            <a:br>
              <a:rPr lang="nl-NL" i="1" dirty="0">
                <a:latin typeface="Arial"/>
                <a:cs typeface="Arial"/>
              </a:rPr>
            </a:br>
            <a:r>
              <a:rPr lang="nl-NL" sz="2600" dirty="0">
                <a:latin typeface="Arial"/>
                <a:cs typeface="Arial"/>
              </a:rPr>
              <a:t>Voorbeeld van zelfde onderwerp, maar andere hoofdgedachte</a:t>
            </a:r>
            <a:endParaRPr lang="nl-NL" sz="2600" b="1" dirty="0">
              <a:latin typeface="Arial"/>
              <a:cs typeface="Arial"/>
            </a:endParaRPr>
          </a:p>
          <a:p>
            <a:pPr lvl="1">
              <a:lnSpc>
                <a:spcPct val="100000"/>
              </a:lnSpc>
              <a:buClr>
                <a:srgbClr val="00A6CC"/>
              </a:buClr>
            </a:pPr>
            <a:r>
              <a:rPr lang="nl-NL" sz="1600" dirty="0">
                <a:latin typeface="Arial" panose="020B0604020202020204" pitchFamily="34" charset="0"/>
                <a:cs typeface="Arial" panose="020B0604020202020204" pitchFamily="34" charset="0"/>
              </a:rPr>
              <a:t>De personeelstekorten in de zorg zullen alleen maar toenemen.</a:t>
            </a:r>
          </a:p>
          <a:p>
            <a:pPr lvl="1">
              <a:lnSpc>
                <a:spcPct val="100000"/>
              </a:lnSpc>
              <a:buClr>
                <a:srgbClr val="00A6CC"/>
              </a:buClr>
            </a:pPr>
            <a:r>
              <a:rPr lang="nl-NL" sz="1600" dirty="0">
                <a:latin typeface="Arial" panose="020B0604020202020204" pitchFamily="34" charset="0"/>
                <a:cs typeface="Arial" panose="020B0604020202020204" pitchFamily="34" charset="0"/>
              </a:rPr>
              <a:t>De zorg is de mooiste en meest dankbare sector om in te werken.</a:t>
            </a:r>
          </a:p>
          <a:p>
            <a:pPr marL="0" indent="0">
              <a:lnSpc>
                <a:spcPct val="100000"/>
              </a:lnSpc>
              <a:buClr>
                <a:srgbClr val="00A6CC"/>
              </a:buClr>
              <a:buNone/>
            </a:pPr>
            <a:endParaRPr lang="nl-NL" sz="2600" dirty="0">
              <a:latin typeface="Arial" panose="020B0604020202020204" pitchFamily="34" charset="0"/>
              <a:cs typeface="Arial" panose="020B0604020202020204" pitchFamily="34" charset="0"/>
            </a:endParaRPr>
          </a:p>
          <a:p>
            <a:pPr marL="0" indent="0">
              <a:lnSpc>
                <a:spcPct val="100000"/>
              </a:lnSpc>
              <a:buClr>
                <a:srgbClr val="00A6CC"/>
              </a:buClr>
              <a:buNone/>
            </a:pPr>
            <a:r>
              <a:rPr lang="nl-NL" sz="2600" dirty="0">
                <a:latin typeface="Arial" panose="020B0604020202020204" pitchFamily="34" charset="0"/>
                <a:cs typeface="Arial" panose="020B0604020202020204" pitchFamily="34" charset="0"/>
              </a:rPr>
              <a:t>	 </a:t>
            </a:r>
          </a:p>
          <a:p>
            <a:pPr marL="457200" lvl="1" indent="0">
              <a:lnSpc>
                <a:spcPct val="150000"/>
              </a:lnSpc>
              <a:buClr>
                <a:srgbClr val="00B0C5"/>
              </a:buClr>
              <a:buNone/>
            </a:pPr>
            <a:endParaRPr lang="nl-NL" dirty="0">
              <a:latin typeface="Arial" panose="020B0604020202020204" pitchFamily="34" charset="0"/>
              <a:cs typeface="Arial" panose="020B0604020202020204" pitchFamily="34" charset="0"/>
            </a:endParaRPr>
          </a:p>
          <a:p>
            <a:pPr marL="457200" lvl="1" indent="0">
              <a:lnSpc>
                <a:spcPct val="150000"/>
              </a:lnSpc>
              <a:buClr>
                <a:srgbClr val="E86A21"/>
              </a:buClr>
              <a:buNone/>
            </a:pPr>
            <a:endParaRPr lang="nl-NL" dirty="0">
              <a:latin typeface="Arial" panose="020B0604020202020204" pitchFamily="34" charset="0"/>
              <a:cs typeface="Arial" panose="020B0604020202020204" pitchFamily="34" charset="0"/>
            </a:endParaRPr>
          </a:p>
          <a:p>
            <a:pPr lvl="1">
              <a:buClr>
                <a:srgbClr val="00B0C5"/>
              </a:buClr>
            </a:pPr>
            <a:endParaRPr lang="nl-NL" sz="2200" dirty="0">
              <a:latin typeface="Arial" panose="020B0604020202020204" pitchFamily="34" charset="0"/>
              <a:cs typeface="Arial" panose="020B0604020202020204" pitchFamily="34" charset="0"/>
            </a:endParaRPr>
          </a:p>
        </p:txBody>
      </p:sp>
      <p:sp>
        <p:nvSpPr>
          <p:cNvPr id="5" name="Tekstvak 5">
            <a:extLst>
              <a:ext uri="{FF2B5EF4-FFF2-40B4-BE49-F238E27FC236}">
                <a16:creationId xmlns:a16="http://schemas.microsoft.com/office/drawing/2014/main" id="{B24FF69D-F981-4699-8F71-CF003FB6B357}"/>
              </a:ext>
            </a:extLst>
          </p:cNvPr>
          <p:cNvSpPr txBox="1"/>
          <p:nvPr/>
        </p:nvSpPr>
        <p:spPr>
          <a:xfrm>
            <a:off x="10030326" y="0"/>
            <a:ext cx="637674" cy="369332"/>
          </a:xfrm>
          <a:prstGeom prst="rect">
            <a:avLst/>
          </a:prstGeom>
          <a:solidFill>
            <a:srgbClr val="00A6CC"/>
          </a:solidFill>
          <a:ln>
            <a:solidFill>
              <a:srgbClr val="00B0C5"/>
            </a:solidFill>
          </a:ln>
        </p:spPr>
        <p:txBody>
          <a:bodyPr wrap="square" rtlCol="0">
            <a:spAutoFit/>
          </a:bodyPr>
          <a:ls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nl-NL" dirty="0"/>
          </a:p>
        </p:txBody>
      </p:sp>
    </p:spTree>
    <p:extLst>
      <p:ext uri="{BB962C8B-B14F-4D97-AF65-F5344CB8AC3E}">
        <p14:creationId xmlns:p14="http://schemas.microsoft.com/office/powerpoint/2010/main" val="35299960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2E31679-5032-4940-95F4-F4373993B181}"/>
              </a:ext>
            </a:extLst>
          </p:cNvPr>
          <p:cNvSpPr>
            <a:spLocks noGrp="1"/>
          </p:cNvSpPr>
          <p:nvPr>
            <p:ph type="title"/>
          </p:nvPr>
        </p:nvSpPr>
        <p:spPr>
          <a:xfrm>
            <a:off x="725423" y="365125"/>
            <a:ext cx="10515600" cy="1325563"/>
          </a:xfrm>
        </p:spPr>
        <p:txBody>
          <a:bodyPr/>
          <a:lstStyle/>
          <a:p>
            <a:r>
              <a:rPr lang="nl-NL" dirty="0"/>
              <a:t>Onderwerp &amp; hoofdgedachte</a:t>
            </a:r>
          </a:p>
        </p:txBody>
      </p:sp>
      <p:graphicFrame>
        <p:nvGraphicFramePr>
          <p:cNvPr id="8" name="Tabel 8">
            <a:extLst>
              <a:ext uri="{FF2B5EF4-FFF2-40B4-BE49-F238E27FC236}">
                <a16:creationId xmlns:a16="http://schemas.microsoft.com/office/drawing/2014/main" id="{76E4C8E7-3642-2349-B2EA-4563B6B520B1}"/>
              </a:ext>
            </a:extLst>
          </p:cNvPr>
          <p:cNvGraphicFramePr>
            <a:graphicFrameLocks noGrp="1"/>
          </p:cNvGraphicFramePr>
          <p:nvPr>
            <p:ph idx="1"/>
          </p:nvPr>
        </p:nvGraphicFramePr>
        <p:xfrm>
          <a:off x="725423" y="1690688"/>
          <a:ext cx="11042035" cy="4285569"/>
        </p:xfrm>
        <a:graphic>
          <a:graphicData uri="http://schemas.openxmlformats.org/drawingml/2006/table">
            <a:tbl>
              <a:tblPr firstRow="1" bandRow="1">
                <a:tableStyleId>{5C22544A-7EE6-4342-B048-85BDC9FD1C3A}</a:tableStyleId>
              </a:tblPr>
              <a:tblGrid>
                <a:gridCol w="2051414">
                  <a:extLst>
                    <a:ext uri="{9D8B030D-6E8A-4147-A177-3AD203B41FA5}">
                      <a16:colId xmlns:a16="http://schemas.microsoft.com/office/drawing/2014/main" val="3772633390"/>
                    </a:ext>
                  </a:extLst>
                </a:gridCol>
                <a:gridCol w="4197131">
                  <a:extLst>
                    <a:ext uri="{9D8B030D-6E8A-4147-A177-3AD203B41FA5}">
                      <a16:colId xmlns:a16="http://schemas.microsoft.com/office/drawing/2014/main" val="2968492798"/>
                    </a:ext>
                  </a:extLst>
                </a:gridCol>
                <a:gridCol w="2596250">
                  <a:extLst>
                    <a:ext uri="{9D8B030D-6E8A-4147-A177-3AD203B41FA5}">
                      <a16:colId xmlns:a16="http://schemas.microsoft.com/office/drawing/2014/main" val="269902616"/>
                    </a:ext>
                  </a:extLst>
                </a:gridCol>
                <a:gridCol w="2197240">
                  <a:extLst>
                    <a:ext uri="{9D8B030D-6E8A-4147-A177-3AD203B41FA5}">
                      <a16:colId xmlns:a16="http://schemas.microsoft.com/office/drawing/2014/main" val="809610913"/>
                    </a:ext>
                  </a:extLst>
                </a:gridCol>
              </a:tblGrid>
              <a:tr h="675465">
                <a:tc>
                  <a:txBody>
                    <a:bodyPr/>
                    <a:lstStyle/>
                    <a:p>
                      <a:r>
                        <a:rPr lang="nl-NL" dirty="0">
                          <a:latin typeface="Arial" panose="020B0604020202020204" pitchFamily="34" charset="0"/>
                          <a:cs typeface="Arial" panose="020B0604020202020204" pitchFamily="34" charset="0"/>
                        </a:rPr>
                        <a:t>Tekst</a:t>
                      </a:r>
                    </a:p>
                  </a:txBody>
                  <a:tcPr/>
                </a:tc>
                <a:tc>
                  <a:txBody>
                    <a:bodyPr/>
                    <a:lstStyle/>
                    <a:p>
                      <a:r>
                        <a:rPr lang="nl-NL" dirty="0">
                          <a:latin typeface="Arial" panose="020B0604020202020204" pitchFamily="34" charset="0"/>
                          <a:cs typeface="Arial" panose="020B0604020202020204" pitchFamily="34" charset="0"/>
                        </a:rPr>
                        <a:t>Inhoud</a:t>
                      </a:r>
                    </a:p>
                  </a:txBody>
                  <a:tcPr/>
                </a:tc>
                <a:tc>
                  <a:txBody>
                    <a:bodyPr/>
                    <a:lstStyle/>
                    <a:p>
                      <a:r>
                        <a:rPr lang="nl-NL" dirty="0">
                          <a:latin typeface="Arial" panose="020B0604020202020204" pitchFamily="34" charset="0"/>
                          <a:cs typeface="Arial" panose="020B0604020202020204" pitchFamily="34" charset="0"/>
                        </a:rPr>
                        <a:t>Voorkeursplaatsen</a:t>
                      </a:r>
                    </a:p>
                  </a:txBody>
                  <a:tcPr/>
                </a:tc>
                <a:tc>
                  <a:txBody>
                    <a:bodyPr/>
                    <a:lstStyle/>
                    <a:p>
                      <a:r>
                        <a:rPr lang="nl-NL" dirty="0">
                          <a:latin typeface="Arial" panose="020B0604020202020204" pitchFamily="34" charset="0"/>
                          <a:cs typeface="Arial" panose="020B0604020202020204" pitchFamily="34" charset="0"/>
                        </a:rPr>
                        <a:t>Noteer:</a:t>
                      </a:r>
                    </a:p>
                  </a:txBody>
                  <a:tcPr/>
                </a:tc>
                <a:extLst>
                  <a:ext uri="{0D108BD9-81ED-4DB2-BD59-A6C34878D82A}">
                    <a16:rowId xmlns:a16="http://schemas.microsoft.com/office/drawing/2014/main" val="3918141968"/>
                  </a:ext>
                </a:extLst>
              </a:tr>
              <a:tr h="720470">
                <a:tc>
                  <a:txBody>
                    <a:bodyPr/>
                    <a:lstStyle/>
                    <a:p>
                      <a:r>
                        <a:rPr lang="nl-NL" dirty="0">
                          <a:latin typeface="Arial" panose="020B0604020202020204" pitchFamily="34" charset="0"/>
                          <a:cs typeface="Arial" panose="020B0604020202020204" pitchFamily="34" charset="0"/>
                        </a:rPr>
                        <a:t>Onderwerp</a:t>
                      </a:r>
                    </a:p>
                  </a:txBody>
                  <a:tcPr/>
                </a:tc>
                <a:tc>
                  <a:txBody>
                    <a:bodyPr/>
                    <a:lstStyle/>
                    <a:p>
                      <a:r>
                        <a:rPr lang="nl-NL" dirty="0">
                          <a:latin typeface="Arial" panose="020B0604020202020204" pitchFamily="34" charset="0"/>
                          <a:cs typeface="Arial" panose="020B0604020202020204" pitchFamily="34" charset="0"/>
                        </a:rPr>
                        <a:t>Waar gaat de tekst over?</a:t>
                      </a:r>
                    </a:p>
                  </a:txBody>
                  <a:tcPr/>
                </a:tc>
                <a:tc>
                  <a:txBody>
                    <a:bodyPr/>
                    <a:lstStyle/>
                    <a:p>
                      <a:r>
                        <a:rPr lang="nl-NL" dirty="0">
                          <a:latin typeface="Arial" panose="020B0604020202020204" pitchFamily="34" charset="0"/>
                          <a:cs typeface="Arial" panose="020B0604020202020204" pitchFamily="34" charset="0"/>
                        </a:rPr>
                        <a:t>Titel, inleiding, slot, afbeeldingen</a:t>
                      </a:r>
                    </a:p>
                  </a:txBody>
                  <a:tcPr/>
                </a:tc>
                <a:tc>
                  <a:txBody>
                    <a:bodyPr/>
                    <a:lstStyle/>
                    <a:p>
                      <a:r>
                        <a:rPr lang="nl-NL" dirty="0">
                          <a:latin typeface="Arial" panose="020B0604020202020204" pitchFamily="34" charset="0"/>
                          <a:cs typeface="Arial" panose="020B0604020202020204" pitchFamily="34" charset="0"/>
                        </a:rPr>
                        <a:t>Een woord of woordgroep</a:t>
                      </a:r>
                    </a:p>
                  </a:txBody>
                  <a:tcPr/>
                </a:tc>
                <a:extLst>
                  <a:ext uri="{0D108BD9-81ED-4DB2-BD59-A6C34878D82A}">
                    <a16:rowId xmlns:a16="http://schemas.microsoft.com/office/drawing/2014/main" val="1767718764"/>
                  </a:ext>
                </a:extLst>
              </a:tr>
              <a:tr h="1165868">
                <a:tc>
                  <a:txBody>
                    <a:bodyPr/>
                    <a:lstStyle/>
                    <a:p>
                      <a:r>
                        <a:rPr lang="nl-NL" dirty="0">
                          <a:latin typeface="Arial" panose="020B0604020202020204" pitchFamily="34" charset="0"/>
                          <a:cs typeface="Arial" panose="020B0604020202020204" pitchFamily="34" charset="0"/>
                        </a:rPr>
                        <a:t>Deelonderwerpen</a:t>
                      </a:r>
                    </a:p>
                  </a:txBody>
                  <a:tcPr/>
                </a:tc>
                <a:tc>
                  <a:txBody>
                    <a:bodyPr/>
                    <a:lstStyle/>
                    <a:p>
                      <a:r>
                        <a:rPr lang="nl-NL" dirty="0">
                          <a:latin typeface="Arial" panose="020B0604020202020204" pitchFamily="34" charset="0"/>
                          <a:cs typeface="Arial" panose="020B0604020202020204" pitchFamily="34" charset="0"/>
                        </a:rPr>
                        <a:t>Welke aspecten van het onderwerp worden genoemd?</a:t>
                      </a:r>
                    </a:p>
                  </a:txBody>
                  <a:tcPr/>
                </a:tc>
                <a:tc>
                  <a:txBody>
                    <a:bodyPr/>
                    <a:lstStyle/>
                    <a:p>
                      <a:r>
                        <a:rPr lang="nl-NL" dirty="0">
                          <a:latin typeface="Arial" panose="020B0604020202020204" pitchFamily="34" charset="0"/>
                          <a:cs typeface="Arial" panose="020B0604020202020204" pitchFamily="34" charset="0"/>
                        </a:rPr>
                        <a:t>Tussenkopjes</a:t>
                      </a:r>
                    </a:p>
                  </a:txBody>
                  <a:tcPr/>
                </a:tc>
                <a:tc>
                  <a:txBody>
                    <a:bodyPr/>
                    <a:lstStyle/>
                    <a:p>
                      <a:r>
                        <a:rPr lang="nl-NL" dirty="0">
                          <a:latin typeface="Arial" panose="020B0604020202020204" pitchFamily="34" charset="0"/>
                          <a:cs typeface="Arial" panose="020B0604020202020204" pitchFamily="34" charset="0"/>
                        </a:rPr>
                        <a:t>Een woord of woordgroep</a:t>
                      </a:r>
                    </a:p>
                  </a:txBody>
                  <a:tcPr/>
                </a:tc>
                <a:extLst>
                  <a:ext uri="{0D108BD9-81ED-4DB2-BD59-A6C34878D82A}">
                    <a16:rowId xmlns:a16="http://schemas.microsoft.com/office/drawing/2014/main" val="2226270234"/>
                  </a:ext>
                </a:extLst>
              </a:tr>
              <a:tr h="1723766">
                <a:tc>
                  <a:txBody>
                    <a:bodyPr/>
                    <a:lstStyle/>
                    <a:p>
                      <a:r>
                        <a:rPr lang="nl-NL" dirty="0">
                          <a:latin typeface="Arial" panose="020B0604020202020204" pitchFamily="34" charset="0"/>
                          <a:cs typeface="Arial" panose="020B0604020202020204" pitchFamily="34" charset="0"/>
                        </a:rPr>
                        <a:t>Hoofdgedachte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dirty="0">
                          <a:latin typeface="Arial" panose="020B0604020202020204" pitchFamily="34" charset="0"/>
                          <a:cs typeface="Arial" panose="020B0604020202020204" pitchFamily="34" charset="0"/>
                        </a:rPr>
                        <a:t>Wat is het belangrijkste dat de schrijver over het onderwerp zegt?</a:t>
                      </a:r>
                    </a:p>
                  </a:txBody>
                  <a:tcPr/>
                </a:tc>
                <a:tc>
                  <a:txBody>
                    <a:bodyPr/>
                    <a:lstStyle/>
                    <a:p>
                      <a:r>
                        <a:rPr lang="nl-NL" dirty="0">
                          <a:latin typeface="Arial" panose="020B0604020202020204" pitchFamily="34" charset="0"/>
                          <a:cs typeface="Arial" panose="020B0604020202020204" pitchFamily="34" charset="0"/>
                        </a:rPr>
                        <a:t>Titel, inleiding, slot (soms niet letterlijk in de tekst)</a:t>
                      </a:r>
                    </a:p>
                  </a:txBody>
                  <a:tcPr/>
                </a:tc>
                <a:tc>
                  <a:txBody>
                    <a:bodyPr/>
                    <a:lstStyle/>
                    <a:p>
                      <a:r>
                        <a:rPr lang="nl-NL" dirty="0">
                          <a:latin typeface="Arial" panose="020B0604020202020204" pitchFamily="34" charset="0"/>
                          <a:cs typeface="Arial" panose="020B0604020202020204" pitchFamily="34" charset="0"/>
                        </a:rPr>
                        <a:t>Een volledige zin</a:t>
                      </a:r>
                    </a:p>
                  </a:txBody>
                  <a:tcPr/>
                </a:tc>
                <a:extLst>
                  <a:ext uri="{0D108BD9-81ED-4DB2-BD59-A6C34878D82A}">
                    <a16:rowId xmlns:a16="http://schemas.microsoft.com/office/drawing/2014/main" val="2068728288"/>
                  </a:ext>
                </a:extLst>
              </a:tr>
            </a:tbl>
          </a:graphicData>
        </a:graphic>
      </p:graphicFrame>
    </p:spTree>
    <p:extLst>
      <p:ext uri="{BB962C8B-B14F-4D97-AF65-F5344CB8AC3E}">
        <p14:creationId xmlns:p14="http://schemas.microsoft.com/office/powerpoint/2010/main" val="19953483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DF816-F152-7504-91E6-DDB3A26B683B}"/>
              </a:ext>
            </a:extLst>
          </p:cNvPr>
          <p:cNvSpPr>
            <a:spLocks noGrp="1"/>
          </p:cNvSpPr>
          <p:nvPr>
            <p:ph type="title"/>
          </p:nvPr>
        </p:nvSpPr>
        <p:spPr/>
        <p:txBody>
          <a:bodyPr/>
          <a:lstStyle/>
          <a:p>
            <a:r>
              <a:rPr lang="en-US" dirty="0" err="1"/>
              <a:t>Oefening</a:t>
            </a:r>
          </a:p>
        </p:txBody>
      </p:sp>
      <p:sp>
        <p:nvSpPr>
          <p:cNvPr id="3" name="Content Placeholder 2">
            <a:extLst>
              <a:ext uri="{FF2B5EF4-FFF2-40B4-BE49-F238E27FC236}">
                <a16:creationId xmlns:a16="http://schemas.microsoft.com/office/drawing/2014/main" id="{61E108F2-06FA-563E-0B8E-415F5968B3DA}"/>
              </a:ext>
            </a:extLst>
          </p:cNvPr>
          <p:cNvSpPr>
            <a:spLocks noGrp="1"/>
          </p:cNvSpPr>
          <p:nvPr>
            <p:ph idx="1"/>
          </p:nvPr>
        </p:nvSpPr>
        <p:spPr/>
        <p:txBody>
          <a:bodyPr vert="horz" lIns="91440" tIns="45720" rIns="91440" bIns="45720" rtlCol="0" anchor="t">
            <a:normAutofit/>
          </a:bodyPr>
          <a:lstStyle/>
          <a:p>
            <a:pPr>
              <a:buNone/>
            </a:pPr>
            <a:r>
              <a:rPr lang="en-US" sz="2400" i="1" dirty="0">
                <a:solidFill>
                  <a:schemeClr val="accent2"/>
                </a:solidFill>
                <a:latin typeface="Arial"/>
                <a:cs typeface="Arial"/>
              </a:rPr>
              <a:t>Bij </a:t>
            </a:r>
            <a:r>
              <a:rPr lang="en-US" sz="2400" i="1" dirty="0" err="1">
                <a:solidFill>
                  <a:schemeClr val="accent2"/>
                </a:solidFill>
                <a:latin typeface="Arial"/>
                <a:cs typeface="Arial"/>
              </a:rPr>
              <a:t>pinguïns</a:t>
            </a:r>
            <a:r>
              <a:rPr lang="en-US" sz="2400" i="1" dirty="0">
                <a:solidFill>
                  <a:schemeClr val="accent2"/>
                </a:solidFill>
                <a:latin typeface="Arial"/>
                <a:cs typeface="Arial"/>
              </a:rPr>
              <a:t> </a:t>
            </a:r>
            <a:r>
              <a:rPr lang="en-US" sz="2400" i="1" dirty="0" err="1">
                <a:solidFill>
                  <a:schemeClr val="accent2"/>
                </a:solidFill>
                <a:latin typeface="Arial"/>
                <a:cs typeface="Arial"/>
              </a:rPr>
              <a:t>denken</a:t>
            </a:r>
            <a:r>
              <a:rPr lang="en-US" sz="2400" i="1" dirty="0">
                <a:solidFill>
                  <a:schemeClr val="accent2"/>
                </a:solidFill>
                <a:latin typeface="Arial"/>
                <a:cs typeface="Arial"/>
              </a:rPr>
              <a:t> </a:t>
            </a:r>
            <a:r>
              <a:rPr lang="en-US" sz="2400" i="1" dirty="0" err="1">
                <a:solidFill>
                  <a:schemeClr val="accent2"/>
                </a:solidFill>
                <a:latin typeface="Arial"/>
                <a:cs typeface="Arial"/>
              </a:rPr>
              <a:t>veel</a:t>
            </a:r>
            <a:r>
              <a:rPr lang="en-US" sz="2400" i="1" dirty="0">
                <a:solidFill>
                  <a:schemeClr val="accent2"/>
                </a:solidFill>
                <a:latin typeface="Arial"/>
                <a:cs typeface="Arial"/>
              </a:rPr>
              <a:t> </a:t>
            </a:r>
            <a:r>
              <a:rPr lang="en-US" sz="2400" i="1" dirty="0" err="1">
                <a:solidFill>
                  <a:schemeClr val="accent2"/>
                </a:solidFill>
                <a:latin typeface="Arial"/>
                <a:cs typeface="Arial"/>
              </a:rPr>
              <a:t>mensen</a:t>
            </a:r>
            <a:r>
              <a:rPr lang="en-US" sz="2400" i="1" dirty="0">
                <a:solidFill>
                  <a:schemeClr val="accent2"/>
                </a:solidFill>
                <a:latin typeface="Arial"/>
                <a:cs typeface="Arial"/>
              </a:rPr>
              <a:t> </a:t>
            </a:r>
            <a:r>
              <a:rPr lang="en-US" sz="2400" i="1" dirty="0" err="1">
                <a:solidFill>
                  <a:schemeClr val="accent2"/>
                </a:solidFill>
                <a:latin typeface="Arial"/>
                <a:cs typeface="Arial"/>
              </a:rPr>
              <a:t>aan</a:t>
            </a:r>
            <a:r>
              <a:rPr lang="en-US" sz="2400" i="1" dirty="0">
                <a:solidFill>
                  <a:schemeClr val="accent2"/>
                </a:solidFill>
                <a:latin typeface="Arial"/>
                <a:cs typeface="Arial"/>
              </a:rPr>
              <a:t> die </a:t>
            </a:r>
            <a:r>
              <a:rPr lang="en-US" sz="2400" i="1" dirty="0" err="1">
                <a:solidFill>
                  <a:schemeClr val="accent2"/>
                </a:solidFill>
                <a:latin typeface="Arial"/>
                <a:cs typeface="Arial"/>
              </a:rPr>
              <a:t>onhandige</a:t>
            </a:r>
            <a:r>
              <a:rPr lang="en-US" sz="2400" i="1" dirty="0">
                <a:solidFill>
                  <a:schemeClr val="accent2"/>
                </a:solidFill>
                <a:latin typeface="Arial"/>
                <a:cs typeface="Arial"/>
              </a:rPr>
              <a:t>, </a:t>
            </a:r>
            <a:r>
              <a:rPr lang="en-US" sz="2400" i="1" dirty="0" err="1">
                <a:solidFill>
                  <a:schemeClr val="accent2"/>
                </a:solidFill>
                <a:latin typeface="Arial"/>
                <a:cs typeface="Arial"/>
              </a:rPr>
              <a:t>kleine</a:t>
            </a:r>
            <a:r>
              <a:rPr lang="en-US" sz="2400" i="1" dirty="0">
                <a:solidFill>
                  <a:schemeClr val="accent2"/>
                </a:solidFill>
                <a:latin typeface="Arial"/>
                <a:cs typeface="Arial"/>
              </a:rPr>
              <a:t> </a:t>
            </a:r>
            <a:r>
              <a:rPr lang="en-US" sz="2400" i="1" dirty="0" err="1">
                <a:solidFill>
                  <a:schemeClr val="accent2"/>
                </a:solidFill>
                <a:latin typeface="Arial"/>
                <a:cs typeface="Arial"/>
              </a:rPr>
              <a:t>vogels</a:t>
            </a:r>
            <a:r>
              <a:rPr lang="en-US" sz="2400" i="1" dirty="0">
                <a:solidFill>
                  <a:schemeClr val="accent2"/>
                </a:solidFill>
                <a:latin typeface="Arial"/>
                <a:cs typeface="Arial"/>
              </a:rPr>
              <a:t> die </a:t>
            </a:r>
            <a:r>
              <a:rPr lang="en-US" sz="2400" i="1" dirty="0" err="1">
                <a:solidFill>
                  <a:schemeClr val="accent2"/>
                </a:solidFill>
                <a:latin typeface="Arial"/>
                <a:cs typeface="Arial"/>
              </a:rPr>
              <a:t>heen</a:t>
            </a:r>
            <a:r>
              <a:rPr lang="en-US" sz="2400" i="1" dirty="0">
                <a:solidFill>
                  <a:schemeClr val="accent2"/>
                </a:solidFill>
                <a:latin typeface="Arial"/>
                <a:cs typeface="Arial"/>
              </a:rPr>
              <a:t> </a:t>
            </a:r>
            <a:r>
              <a:rPr lang="en-US" sz="2400" i="1" dirty="0" err="1">
                <a:solidFill>
                  <a:schemeClr val="accent2"/>
                </a:solidFill>
                <a:latin typeface="Arial"/>
                <a:cs typeface="Arial"/>
              </a:rPr>
              <a:t>en</a:t>
            </a:r>
            <a:r>
              <a:rPr lang="en-US" sz="2400" i="1" dirty="0">
                <a:solidFill>
                  <a:schemeClr val="accent2"/>
                </a:solidFill>
                <a:latin typeface="Arial"/>
                <a:cs typeface="Arial"/>
              </a:rPr>
              <a:t> </a:t>
            </a:r>
            <a:r>
              <a:rPr lang="en-US" sz="2400" i="1" dirty="0" err="1">
                <a:solidFill>
                  <a:schemeClr val="accent2"/>
                </a:solidFill>
                <a:latin typeface="Arial"/>
                <a:cs typeface="Arial"/>
              </a:rPr>
              <a:t>weer</a:t>
            </a:r>
            <a:r>
              <a:rPr lang="en-US" sz="2400" i="1" dirty="0">
                <a:solidFill>
                  <a:schemeClr val="accent2"/>
                </a:solidFill>
                <a:latin typeface="Arial"/>
                <a:cs typeface="Arial"/>
              </a:rPr>
              <a:t> </a:t>
            </a:r>
            <a:r>
              <a:rPr lang="en-US" sz="2400" i="1" dirty="0" err="1">
                <a:solidFill>
                  <a:schemeClr val="accent2"/>
                </a:solidFill>
                <a:latin typeface="Arial"/>
                <a:cs typeface="Arial"/>
              </a:rPr>
              <a:t>waggelen</a:t>
            </a:r>
            <a:r>
              <a:rPr lang="en-US" sz="2400" i="1" dirty="0">
                <a:solidFill>
                  <a:schemeClr val="accent2"/>
                </a:solidFill>
                <a:latin typeface="Arial"/>
                <a:cs typeface="Arial"/>
              </a:rPr>
              <a:t> op het </a:t>
            </a:r>
            <a:r>
              <a:rPr lang="en-US" sz="2400" i="1" dirty="0" err="1">
                <a:solidFill>
                  <a:schemeClr val="accent2"/>
                </a:solidFill>
                <a:latin typeface="Arial"/>
                <a:cs typeface="Arial"/>
              </a:rPr>
              <a:t>ijs</a:t>
            </a:r>
            <a:r>
              <a:rPr lang="en-US" sz="2400" i="1" dirty="0">
                <a:solidFill>
                  <a:schemeClr val="accent2"/>
                </a:solidFill>
                <a:latin typeface="Arial"/>
                <a:cs typeface="Arial"/>
              </a:rPr>
              <a:t>. Maar de </a:t>
            </a:r>
            <a:r>
              <a:rPr lang="en-US" sz="2400" i="1" dirty="0" err="1">
                <a:solidFill>
                  <a:schemeClr val="accent2"/>
                </a:solidFill>
                <a:latin typeface="Arial"/>
                <a:cs typeface="Arial"/>
              </a:rPr>
              <a:t>koningspinguïns</a:t>
            </a:r>
            <a:r>
              <a:rPr lang="en-US" sz="2400" i="1" dirty="0">
                <a:solidFill>
                  <a:schemeClr val="accent2"/>
                </a:solidFill>
                <a:latin typeface="Arial"/>
                <a:cs typeface="Arial"/>
              </a:rPr>
              <a:t> die op Antarctica </a:t>
            </a:r>
            <a:r>
              <a:rPr lang="en-US" sz="2400" i="1" dirty="0" err="1">
                <a:solidFill>
                  <a:schemeClr val="accent2"/>
                </a:solidFill>
                <a:latin typeface="Arial"/>
                <a:cs typeface="Arial"/>
              </a:rPr>
              <a:t>leven</a:t>
            </a:r>
            <a:r>
              <a:rPr lang="en-US" sz="2400" i="1" dirty="0">
                <a:solidFill>
                  <a:schemeClr val="accent2"/>
                </a:solidFill>
                <a:latin typeface="Arial"/>
                <a:cs typeface="Arial"/>
              </a:rPr>
              <a:t> </a:t>
            </a:r>
            <a:r>
              <a:rPr lang="en-US" sz="2400" i="1" dirty="0" err="1">
                <a:solidFill>
                  <a:schemeClr val="accent2"/>
                </a:solidFill>
                <a:latin typeface="Arial"/>
                <a:cs typeface="Arial"/>
              </a:rPr>
              <a:t>zijn</a:t>
            </a:r>
            <a:r>
              <a:rPr lang="en-US" sz="2400" i="1" dirty="0">
                <a:solidFill>
                  <a:schemeClr val="accent2"/>
                </a:solidFill>
                <a:latin typeface="Arial"/>
                <a:cs typeface="Arial"/>
              </a:rPr>
              <a:t> heel </a:t>
            </a:r>
            <a:r>
              <a:rPr lang="en-US" sz="2400" i="1" dirty="0" err="1">
                <a:solidFill>
                  <a:schemeClr val="accent2"/>
                </a:solidFill>
                <a:latin typeface="Arial"/>
                <a:cs typeface="Arial"/>
              </a:rPr>
              <a:t>anders</a:t>
            </a:r>
            <a:r>
              <a:rPr lang="en-US" sz="2400" i="1" dirty="0">
                <a:solidFill>
                  <a:schemeClr val="accent2"/>
                </a:solidFill>
                <a:latin typeface="Arial"/>
                <a:cs typeface="Arial"/>
              </a:rPr>
              <a:t>. Ze </a:t>
            </a:r>
            <a:r>
              <a:rPr lang="en-US" sz="2400" i="1" dirty="0" err="1">
                <a:solidFill>
                  <a:schemeClr val="accent2"/>
                </a:solidFill>
                <a:latin typeface="Arial"/>
                <a:cs typeface="Arial"/>
              </a:rPr>
              <a:t>leven</a:t>
            </a:r>
            <a:r>
              <a:rPr lang="en-US" sz="2400" i="1" dirty="0">
                <a:solidFill>
                  <a:schemeClr val="accent2"/>
                </a:solidFill>
                <a:latin typeface="Arial"/>
                <a:cs typeface="Arial"/>
              </a:rPr>
              <a:t> op </a:t>
            </a:r>
            <a:r>
              <a:rPr lang="en-US" sz="2400" i="1" dirty="0" err="1">
                <a:solidFill>
                  <a:schemeClr val="accent2"/>
                </a:solidFill>
                <a:latin typeface="Arial"/>
                <a:cs typeface="Arial"/>
              </a:rPr>
              <a:t>verschillende</a:t>
            </a:r>
            <a:r>
              <a:rPr lang="en-US" sz="2400" i="1" dirty="0">
                <a:solidFill>
                  <a:schemeClr val="accent2"/>
                </a:solidFill>
                <a:latin typeface="Arial"/>
                <a:cs typeface="Arial"/>
              </a:rPr>
              <a:t> </a:t>
            </a:r>
            <a:r>
              <a:rPr lang="en-US" sz="2400" i="1" dirty="0" err="1">
                <a:solidFill>
                  <a:schemeClr val="accent2"/>
                </a:solidFill>
                <a:latin typeface="Arial"/>
                <a:cs typeface="Arial"/>
              </a:rPr>
              <a:t>eilanden</a:t>
            </a:r>
            <a:r>
              <a:rPr lang="en-US" sz="2400" i="1" dirty="0">
                <a:solidFill>
                  <a:schemeClr val="accent2"/>
                </a:solidFill>
                <a:latin typeface="Arial"/>
                <a:cs typeface="Arial"/>
              </a:rPr>
              <a:t> </a:t>
            </a:r>
            <a:r>
              <a:rPr lang="en-US" sz="2400" i="1" dirty="0" err="1">
                <a:solidFill>
                  <a:schemeClr val="accent2"/>
                </a:solidFill>
                <a:latin typeface="Arial"/>
                <a:cs typeface="Arial"/>
              </a:rPr>
              <a:t>rond</a:t>
            </a:r>
            <a:r>
              <a:rPr lang="en-US" sz="2400" i="1" dirty="0">
                <a:solidFill>
                  <a:schemeClr val="accent2"/>
                </a:solidFill>
                <a:latin typeface="Arial"/>
                <a:cs typeface="Arial"/>
              </a:rPr>
              <a:t> de </a:t>
            </a:r>
            <a:r>
              <a:rPr lang="en-US" sz="2400" i="1" dirty="0" err="1">
                <a:solidFill>
                  <a:schemeClr val="accent2"/>
                </a:solidFill>
                <a:latin typeface="Arial"/>
                <a:cs typeface="Arial"/>
              </a:rPr>
              <a:t>Zuidpool</a:t>
            </a:r>
            <a:r>
              <a:rPr lang="en-US" sz="2400" i="1" dirty="0">
                <a:solidFill>
                  <a:schemeClr val="accent2"/>
                </a:solidFill>
                <a:latin typeface="Arial"/>
                <a:cs typeface="Arial"/>
              </a:rPr>
              <a:t> </a:t>
            </a:r>
            <a:r>
              <a:rPr lang="en-US" sz="2400" i="1" dirty="0" err="1">
                <a:solidFill>
                  <a:schemeClr val="accent2"/>
                </a:solidFill>
                <a:latin typeface="Arial"/>
                <a:cs typeface="Arial"/>
              </a:rPr>
              <a:t>en</a:t>
            </a:r>
            <a:r>
              <a:rPr lang="en-US" sz="2400" i="1" dirty="0">
                <a:solidFill>
                  <a:schemeClr val="accent2"/>
                </a:solidFill>
                <a:latin typeface="Arial"/>
                <a:cs typeface="Arial"/>
              </a:rPr>
              <a:t> </a:t>
            </a:r>
            <a:r>
              <a:rPr lang="en-US" sz="2400" i="1" dirty="0" err="1">
                <a:solidFill>
                  <a:schemeClr val="accent2"/>
                </a:solidFill>
                <a:latin typeface="Arial"/>
                <a:cs typeface="Arial"/>
              </a:rPr>
              <a:t>zijn</a:t>
            </a:r>
            <a:r>
              <a:rPr lang="en-US" sz="2400" i="1" dirty="0">
                <a:solidFill>
                  <a:schemeClr val="accent2"/>
                </a:solidFill>
                <a:latin typeface="Arial"/>
                <a:cs typeface="Arial"/>
              </a:rPr>
              <a:t>, </a:t>
            </a:r>
            <a:r>
              <a:rPr lang="en-US" sz="2400" i="1" dirty="0" err="1">
                <a:solidFill>
                  <a:schemeClr val="accent2"/>
                </a:solidFill>
                <a:latin typeface="Arial"/>
                <a:cs typeface="Arial"/>
              </a:rPr>
              <a:t>na</a:t>
            </a:r>
            <a:r>
              <a:rPr lang="en-US" sz="2400" i="1" dirty="0">
                <a:solidFill>
                  <a:schemeClr val="accent2"/>
                </a:solidFill>
                <a:latin typeface="Arial"/>
                <a:cs typeface="Arial"/>
              </a:rPr>
              <a:t> de </a:t>
            </a:r>
            <a:r>
              <a:rPr lang="en-US" sz="2400" i="1" dirty="0" err="1">
                <a:solidFill>
                  <a:schemeClr val="accent2"/>
                </a:solidFill>
                <a:latin typeface="Arial"/>
                <a:cs typeface="Arial"/>
              </a:rPr>
              <a:t>keizerspinguïns</a:t>
            </a:r>
            <a:r>
              <a:rPr lang="en-US" sz="2400" i="1" dirty="0">
                <a:solidFill>
                  <a:schemeClr val="accent2"/>
                </a:solidFill>
                <a:latin typeface="Arial"/>
                <a:cs typeface="Arial"/>
              </a:rPr>
              <a:t>, de </a:t>
            </a:r>
            <a:r>
              <a:rPr lang="en-US" sz="2400" i="1" dirty="0" err="1">
                <a:solidFill>
                  <a:schemeClr val="accent2"/>
                </a:solidFill>
                <a:latin typeface="Arial"/>
                <a:cs typeface="Arial"/>
              </a:rPr>
              <a:t>grootste</a:t>
            </a:r>
            <a:r>
              <a:rPr lang="en-US" sz="2400" i="1" dirty="0">
                <a:solidFill>
                  <a:schemeClr val="accent2"/>
                </a:solidFill>
                <a:latin typeface="Arial"/>
                <a:cs typeface="Arial"/>
              </a:rPr>
              <a:t> </a:t>
            </a:r>
            <a:r>
              <a:rPr lang="en-US" sz="2400" i="1" dirty="0" err="1">
                <a:solidFill>
                  <a:schemeClr val="accent2"/>
                </a:solidFill>
                <a:latin typeface="Arial"/>
                <a:cs typeface="Arial"/>
              </a:rPr>
              <a:t>pinguïn</a:t>
            </a:r>
            <a:r>
              <a:rPr lang="en-US" sz="2400" i="1" dirty="0">
                <a:solidFill>
                  <a:schemeClr val="accent2"/>
                </a:solidFill>
                <a:latin typeface="Arial"/>
                <a:cs typeface="Arial"/>
              </a:rPr>
              <a:t>. Ze </a:t>
            </a:r>
            <a:r>
              <a:rPr lang="en-US" sz="2400" i="1" dirty="0" err="1">
                <a:solidFill>
                  <a:schemeClr val="accent2"/>
                </a:solidFill>
                <a:latin typeface="Arial"/>
                <a:cs typeface="Arial"/>
              </a:rPr>
              <a:t>worden</a:t>
            </a:r>
            <a:r>
              <a:rPr lang="en-US" sz="2400" i="1" dirty="0">
                <a:solidFill>
                  <a:schemeClr val="accent2"/>
                </a:solidFill>
                <a:latin typeface="Arial"/>
                <a:cs typeface="Arial"/>
              </a:rPr>
              <a:t> </a:t>
            </a:r>
            <a:r>
              <a:rPr lang="en-US" sz="2400" i="1" dirty="0" err="1">
                <a:solidFill>
                  <a:schemeClr val="accent2"/>
                </a:solidFill>
                <a:latin typeface="Arial"/>
                <a:cs typeface="Arial"/>
              </a:rPr>
              <a:t>bijna</a:t>
            </a:r>
            <a:r>
              <a:rPr lang="en-US" sz="2400" i="1" dirty="0">
                <a:solidFill>
                  <a:schemeClr val="accent2"/>
                </a:solidFill>
                <a:latin typeface="Arial"/>
                <a:cs typeface="Arial"/>
              </a:rPr>
              <a:t> 1 meter!</a:t>
            </a:r>
            <a:endParaRPr lang="en-US" sz="2400" dirty="0">
              <a:solidFill>
                <a:schemeClr val="accent2"/>
              </a:solidFill>
              <a:latin typeface="Arial"/>
              <a:cs typeface="Arial"/>
            </a:endParaRPr>
          </a:p>
          <a:p>
            <a:pPr>
              <a:buNone/>
            </a:pPr>
            <a:r>
              <a:rPr lang="en-US" sz="2000" dirty="0">
                <a:solidFill>
                  <a:srgbClr val="3A4749"/>
                </a:solidFill>
                <a:latin typeface="Calibri"/>
                <a:ea typeface="Calibri"/>
                <a:cs typeface="Calibri"/>
              </a:rPr>
              <a:t>Wat is het </a:t>
            </a:r>
            <a:r>
              <a:rPr lang="en-US" sz="2000" dirty="0" err="1">
                <a:solidFill>
                  <a:srgbClr val="3A4749"/>
                </a:solidFill>
                <a:latin typeface="Calibri"/>
                <a:ea typeface="Calibri"/>
                <a:cs typeface="Calibri"/>
              </a:rPr>
              <a:t>onderwerp</a:t>
            </a:r>
            <a:r>
              <a:rPr lang="en-US" sz="2000" dirty="0">
                <a:solidFill>
                  <a:srgbClr val="3A4749"/>
                </a:solidFill>
                <a:latin typeface="Calibri"/>
                <a:ea typeface="Calibri"/>
                <a:cs typeface="Calibri"/>
              </a:rPr>
              <a:t>?</a:t>
            </a:r>
            <a:endParaRPr lang="en-US" sz="2000" dirty="0">
              <a:solidFill>
                <a:srgbClr val="000000"/>
              </a:solidFill>
              <a:latin typeface="Calibri"/>
              <a:ea typeface="Calibri"/>
              <a:cs typeface="Calibri"/>
            </a:endParaRPr>
          </a:p>
          <a:p>
            <a:pPr>
              <a:buNone/>
            </a:pPr>
            <a:r>
              <a:rPr lang="en-US" sz="2000" dirty="0">
                <a:solidFill>
                  <a:srgbClr val="3A4749"/>
                </a:solidFill>
                <a:latin typeface="Calibri"/>
                <a:ea typeface="Calibri"/>
                <a:cs typeface="Calibri"/>
              </a:rPr>
              <a:t>Wat is de </a:t>
            </a:r>
            <a:r>
              <a:rPr lang="en-US" sz="2000" dirty="0" err="1">
                <a:solidFill>
                  <a:srgbClr val="3A4749"/>
                </a:solidFill>
                <a:latin typeface="Calibri"/>
                <a:ea typeface="Calibri"/>
                <a:cs typeface="Calibri"/>
              </a:rPr>
              <a:t>hoofdgedachte</a:t>
            </a:r>
            <a:r>
              <a:rPr lang="en-US" sz="2000" dirty="0">
                <a:solidFill>
                  <a:srgbClr val="3A4749"/>
                </a:solidFill>
                <a:latin typeface="Calibri"/>
                <a:ea typeface="Calibri"/>
                <a:cs typeface="Calibri"/>
              </a:rPr>
              <a:t>?</a:t>
            </a:r>
            <a:endParaRPr lang="en-US" sz="2000" dirty="0">
              <a:solidFill>
                <a:srgbClr val="000000"/>
              </a:solidFill>
              <a:latin typeface="Calibri"/>
              <a:ea typeface="Calibri"/>
              <a:cs typeface="Calibri"/>
            </a:endParaRPr>
          </a:p>
          <a:p>
            <a:pPr>
              <a:buNone/>
            </a:pPr>
            <a:r>
              <a:rPr lang="en-US" sz="2000" dirty="0">
                <a:solidFill>
                  <a:srgbClr val="3D3C3A"/>
                </a:solidFill>
                <a:latin typeface="Calibri"/>
                <a:ea typeface="Calibri"/>
                <a:cs typeface="Calibri"/>
              </a:rPr>
              <a:t> </a:t>
            </a:r>
          </a:p>
          <a:p>
            <a:pPr>
              <a:buNone/>
            </a:pPr>
            <a:endParaRPr lang="en-US" sz="2700" b="1" dirty="0">
              <a:solidFill>
                <a:srgbClr val="3A4749"/>
              </a:solidFill>
              <a:latin typeface="Barlow Condensed"/>
            </a:endParaRPr>
          </a:p>
        </p:txBody>
      </p:sp>
    </p:spTree>
    <p:extLst>
      <p:ext uri="{BB962C8B-B14F-4D97-AF65-F5344CB8AC3E}">
        <p14:creationId xmlns:p14="http://schemas.microsoft.com/office/powerpoint/2010/main" val="42574725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49828-6B98-613E-22F2-CC32B6BD82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783C8F-A8CC-C370-50D5-CB35C9F36B7C}"/>
              </a:ext>
            </a:extLst>
          </p:cNvPr>
          <p:cNvSpPr>
            <a:spLocks noGrp="1"/>
          </p:cNvSpPr>
          <p:nvPr>
            <p:ph type="title"/>
          </p:nvPr>
        </p:nvSpPr>
        <p:spPr/>
        <p:txBody>
          <a:bodyPr/>
          <a:lstStyle/>
          <a:p>
            <a:r>
              <a:rPr lang="en-US" dirty="0" err="1"/>
              <a:t>Oefening</a:t>
            </a:r>
          </a:p>
        </p:txBody>
      </p:sp>
      <p:sp>
        <p:nvSpPr>
          <p:cNvPr id="3" name="Content Placeholder 2">
            <a:extLst>
              <a:ext uri="{FF2B5EF4-FFF2-40B4-BE49-F238E27FC236}">
                <a16:creationId xmlns:a16="http://schemas.microsoft.com/office/drawing/2014/main" id="{A5E11431-EF57-76A5-2EA0-E6F1CE3F6AF9}"/>
              </a:ext>
            </a:extLst>
          </p:cNvPr>
          <p:cNvSpPr>
            <a:spLocks noGrp="1"/>
          </p:cNvSpPr>
          <p:nvPr>
            <p:ph idx="1"/>
          </p:nvPr>
        </p:nvSpPr>
        <p:spPr/>
        <p:txBody>
          <a:bodyPr vert="horz" lIns="91440" tIns="45720" rIns="91440" bIns="45720" rtlCol="0" anchor="t">
            <a:normAutofit/>
          </a:bodyPr>
          <a:lstStyle/>
          <a:p>
            <a:pPr>
              <a:buNone/>
            </a:pPr>
            <a:r>
              <a:rPr lang="en-US" sz="2400" i="1" dirty="0">
                <a:solidFill>
                  <a:schemeClr val="accent2"/>
                </a:solidFill>
                <a:latin typeface="Arial"/>
                <a:cs typeface="Arial"/>
              </a:rPr>
              <a:t>Bij </a:t>
            </a:r>
            <a:r>
              <a:rPr lang="en-US" sz="2400" i="1" dirty="0" err="1">
                <a:solidFill>
                  <a:schemeClr val="accent2"/>
                </a:solidFill>
                <a:latin typeface="Arial"/>
                <a:cs typeface="Arial"/>
              </a:rPr>
              <a:t>pinguïns</a:t>
            </a:r>
            <a:r>
              <a:rPr lang="en-US" sz="2400" i="1" dirty="0">
                <a:solidFill>
                  <a:schemeClr val="accent2"/>
                </a:solidFill>
                <a:latin typeface="Arial"/>
                <a:cs typeface="Arial"/>
              </a:rPr>
              <a:t> </a:t>
            </a:r>
            <a:r>
              <a:rPr lang="en-US" sz="2400" i="1" dirty="0" err="1">
                <a:solidFill>
                  <a:schemeClr val="accent2"/>
                </a:solidFill>
                <a:latin typeface="Arial"/>
                <a:cs typeface="Arial"/>
              </a:rPr>
              <a:t>denken</a:t>
            </a:r>
            <a:r>
              <a:rPr lang="en-US" sz="2400" i="1" dirty="0">
                <a:solidFill>
                  <a:schemeClr val="accent2"/>
                </a:solidFill>
                <a:latin typeface="Arial"/>
                <a:cs typeface="Arial"/>
              </a:rPr>
              <a:t> </a:t>
            </a:r>
            <a:r>
              <a:rPr lang="en-US" sz="2400" i="1" dirty="0" err="1">
                <a:solidFill>
                  <a:schemeClr val="accent2"/>
                </a:solidFill>
                <a:latin typeface="Arial"/>
                <a:cs typeface="Arial"/>
              </a:rPr>
              <a:t>veel</a:t>
            </a:r>
            <a:r>
              <a:rPr lang="en-US" sz="2400" i="1" dirty="0">
                <a:solidFill>
                  <a:schemeClr val="accent2"/>
                </a:solidFill>
                <a:latin typeface="Arial"/>
                <a:cs typeface="Arial"/>
              </a:rPr>
              <a:t> </a:t>
            </a:r>
            <a:r>
              <a:rPr lang="en-US" sz="2400" i="1" dirty="0" err="1">
                <a:solidFill>
                  <a:schemeClr val="accent2"/>
                </a:solidFill>
                <a:latin typeface="Arial"/>
                <a:cs typeface="Arial"/>
              </a:rPr>
              <a:t>mensen</a:t>
            </a:r>
            <a:r>
              <a:rPr lang="en-US" sz="2400" i="1" dirty="0">
                <a:solidFill>
                  <a:schemeClr val="accent2"/>
                </a:solidFill>
                <a:latin typeface="Arial"/>
                <a:cs typeface="Arial"/>
              </a:rPr>
              <a:t> </a:t>
            </a:r>
            <a:r>
              <a:rPr lang="en-US" sz="2400" i="1" dirty="0" err="1">
                <a:solidFill>
                  <a:schemeClr val="accent2"/>
                </a:solidFill>
                <a:latin typeface="Arial"/>
                <a:cs typeface="Arial"/>
              </a:rPr>
              <a:t>aan</a:t>
            </a:r>
            <a:r>
              <a:rPr lang="en-US" sz="2400" i="1" dirty="0">
                <a:solidFill>
                  <a:schemeClr val="accent2"/>
                </a:solidFill>
                <a:latin typeface="Arial"/>
                <a:cs typeface="Arial"/>
              </a:rPr>
              <a:t> die </a:t>
            </a:r>
            <a:r>
              <a:rPr lang="en-US" sz="2400" i="1" dirty="0" err="1">
                <a:solidFill>
                  <a:schemeClr val="accent2"/>
                </a:solidFill>
                <a:latin typeface="Arial"/>
                <a:cs typeface="Arial"/>
              </a:rPr>
              <a:t>onhandige</a:t>
            </a:r>
            <a:r>
              <a:rPr lang="en-US" sz="2400" i="1" dirty="0">
                <a:solidFill>
                  <a:schemeClr val="accent2"/>
                </a:solidFill>
                <a:latin typeface="Arial"/>
                <a:cs typeface="Arial"/>
              </a:rPr>
              <a:t>, </a:t>
            </a:r>
            <a:r>
              <a:rPr lang="en-US" sz="2400" i="1" dirty="0" err="1">
                <a:solidFill>
                  <a:schemeClr val="accent2"/>
                </a:solidFill>
                <a:latin typeface="Arial"/>
                <a:cs typeface="Arial"/>
              </a:rPr>
              <a:t>kleine</a:t>
            </a:r>
            <a:r>
              <a:rPr lang="en-US" sz="2400" i="1" dirty="0">
                <a:solidFill>
                  <a:schemeClr val="accent2"/>
                </a:solidFill>
                <a:latin typeface="Arial"/>
                <a:cs typeface="Arial"/>
              </a:rPr>
              <a:t> </a:t>
            </a:r>
            <a:r>
              <a:rPr lang="en-US" sz="2400" i="1" dirty="0" err="1">
                <a:solidFill>
                  <a:schemeClr val="accent2"/>
                </a:solidFill>
                <a:latin typeface="Arial"/>
                <a:cs typeface="Arial"/>
              </a:rPr>
              <a:t>vogels</a:t>
            </a:r>
            <a:r>
              <a:rPr lang="en-US" sz="2400" i="1" dirty="0">
                <a:solidFill>
                  <a:schemeClr val="accent2"/>
                </a:solidFill>
                <a:latin typeface="Arial"/>
                <a:cs typeface="Arial"/>
              </a:rPr>
              <a:t> die </a:t>
            </a:r>
            <a:r>
              <a:rPr lang="en-US" sz="2400" i="1" dirty="0" err="1">
                <a:solidFill>
                  <a:schemeClr val="accent2"/>
                </a:solidFill>
                <a:latin typeface="Arial"/>
                <a:cs typeface="Arial"/>
              </a:rPr>
              <a:t>heen</a:t>
            </a:r>
            <a:r>
              <a:rPr lang="en-US" sz="2400" i="1" dirty="0">
                <a:solidFill>
                  <a:schemeClr val="accent2"/>
                </a:solidFill>
                <a:latin typeface="Arial"/>
                <a:cs typeface="Arial"/>
              </a:rPr>
              <a:t> </a:t>
            </a:r>
            <a:r>
              <a:rPr lang="en-US" sz="2400" i="1" dirty="0" err="1">
                <a:solidFill>
                  <a:schemeClr val="accent2"/>
                </a:solidFill>
                <a:latin typeface="Arial"/>
                <a:cs typeface="Arial"/>
              </a:rPr>
              <a:t>en</a:t>
            </a:r>
            <a:r>
              <a:rPr lang="en-US" sz="2400" i="1" dirty="0">
                <a:solidFill>
                  <a:schemeClr val="accent2"/>
                </a:solidFill>
                <a:latin typeface="Arial"/>
                <a:cs typeface="Arial"/>
              </a:rPr>
              <a:t> </a:t>
            </a:r>
            <a:r>
              <a:rPr lang="en-US" sz="2400" i="1" dirty="0" err="1">
                <a:solidFill>
                  <a:schemeClr val="accent2"/>
                </a:solidFill>
                <a:latin typeface="Arial"/>
                <a:cs typeface="Arial"/>
              </a:rPr>
              <a:t>weer</a:t>
            </a:r>
            <a:r>
              <a:rPr lang="en-US" sz="2400" i="1" dirty="0">
                <a:solidFill>
                  <a:schemeClr val="accent2"/>
                </a:solidFill>
                <a:latin typeface="Arial"/>
                <a:cs typeface="Arial"/>
              </a:rPr>
              <a:t> </a:t>
            </a:r>
            <a:r>
              <a:rPr lang="en-US" sz="2400" i="1" dirty="0" err="1">
                <a:solidFill>
                  <a:schemeClr val="accent2"/>
                </a:solidFill>
                <a:latin typeface="Arial"/>
                <a:cs typeface="Arial"/>
              </a:rPr>
              <a:t>waggelen</a:t>
            </a:r>
            <a:r>
              <a:rPr lang="en-US" sz="2400" i="1" dirty="0">
                <a:solidFill>
                  <a:schemeClr val="accent2"/>
                </a:solidFill>
                <a:latin typeface="Arial"/>
                <a:cs typeface="Arial"/>
              </a:rPr>
              <a:t> op het </a:t>
            </a:r>
            <a:r>
              <a:rPr lang="en-US" sz="2400" i="1" dirty="0" err="1">
                <a:solidFill>
                  <a:schemeClr val="accent2"/>
                </a:solidFill>
                <a:latin typeface="Arial"/>
                <a:cs typeface="Arial"/>
              </a:rPr>
              <a:t>ijs</a:t>
            </a:r>
            <a:r>
              <a:rPr lang="en-US" sz="2400" i="1" dirty="0">
                <a:solidFill>
                  <a:schemeClr val="accent2"/>
                </a:solidFill>
                <a:latin typeface="Arial"/>
                <a:cs typeface="Arial"/>
              </a:rPr>
              <a:t>. Maar de </a:t>
            </a:r>
            <a:r>
              <a:rPr lang="en-US" sz="2400" i="1" dirty="0" err="1">
                <a:solidFill>
                  <a:schemeClr val="accent2"/>
                </a:solidFill>
                <a:latin typeface="Arial"/>
                <a:cs typeface="Arial"/>
              </a:rPr>
              <a:t>koningspinguïns</a:t>
            </a:r>
            <a:r>
              <a:rPr lang="en-US" sz="2400" i="1" dirty="0">
                <a:solidFill>
                  <a:schemeClr val="accent2"/>
                </a:solidFill>
                <a:latin typeface="Arial"/>
                <a:cs typeface="Arial"/>
              </a:rPr>
              <a:t> die op Antarctica </a:t>
            </a:r>
            <a:r>
              <a:rPr lang="en-US" sz="2400" i="1" dirty="0" err="1">
                <a:solidFill>
                  <a:schemeClr val="accent2"/>
                </a:solidFill>
                <a:latin typeface="Arial"/>
                <a:cs typeface="Arial"/>
              </a:rPr>
              <a:t>leven</a:t>
            </a:r>
            <a:r>
              <a:rPr lang="en-US" sz="2400" i="1" dirty="0">
                <a:solidFill>
                  <a:schemeClr val="accent2"/>
                </a:solidFill>
                <a:latin typeface="Arial"/>
                <a:cs typeface="Arial"/>
              </a:rPr>
              <a:t> </a:t>
            </a:r>
            <a:r>
              <a:rPr lang="en-US" sz="2400" i="1" dirty="0" err="1">
                <a:solidFill>
                  <a:schemeClr val="accent2"/>
                </a:solidFill>
                <a:latin typeface="Arial"/>
                <a:cs typeface="Arial"/>
              </a:rPr>
              <a:t>zijn</a:t>
            </a:r>
            <a:r>
              <a:rPr lang="en-US" sz="2400" i="1" dirty="0">
                <a:solidFill>
                  <a:schemeClr val="accent2"/>
                </a:solidFill>
                <a:latin typeface="Arial"/>
                <a:cs typeface="Arial"/>
              </a:rPr>
              <a:t> heel </a:t>
            </a:r>
            <a:r>
              <a:rPr lang="en-US" sz="2400" i="1" dirty="0" err="1">
                <a:solidFill>
                  <a:schemeClr val="accent2"/>
                </a:solidFill>
                <a:latin typeface="Arial"/>
                <a:cs typeface="Arial"/>
              </a:rPr>
              <a:t>anders</a:t>
            </a:r>
            <a:r>
              <a:rPr lang="en-US" sz="2400" i="1" dirty="0">
                <a:solidFill>
                  <a:schemeClr val="accent2"/>
                </a:solidFill>
                <a:latin typeface="Arial"/>
                <a:cs typeface="Arial"/>
              </a:rPr>
              <a:t>. Ze </a:t>
            </a:r>
            <a:r>
              <a:rPr lang="en-US" sz="2400" i="1" dirty="0" err="1">
                <a:solidFill>
                  <a:schemeClr val="accent2"/>
                </a:solidFill>
                <a:latin typeface="Arial"/>
                <a:cs typeface="Arial"/>
              </a:rPr>
              <a:t>leven</a:t>
            </a:r>
            <a:r>
              <a:rPr lang="en-US" sz="2400" i="1" dirty="0">
                <a:solidFill>
                  <a:schemeClr val="accent2"/>
                </a:solidFill>
                <a:latin typeface="Arial"/>
                <a:cs typeface="Arial"/>
              </a:rPr>
              <a:t> op </a:t>
            </a:r>
            <a:r>
              <a:rPr lang="en-US" sz="2400" i="1" dirty="0" err="1">
                <a:solidFill>
                  <a:schemeClr val="accent2"/>
                </a:solidFill>
                <a:latin typeface="Arial"/>
                <a:cs typeface="Arial"/>
              </a:rPr>
              <a:t>verschillende</a:t>
            </a:r>
            <a:r>
              <a:rPr lang="en-US" sz="2400" i="1" dirty="0">
                <a:solidFill>
                  <a:schemeClr val="accent2"/>
                </a:solidFill>
                <a:latin typeface="Arial"/>
                <a:cs typeface="Arial"/>
              </a:rPr>
              <a:t> </a:t>
            </a:r>
            <a:r>
              <a:rPr lang="en-US" sz="2400" i="1" dirty="0" err="1">
                <a:solidFill>
                  <a:schemeClr val="accent2"/>
                </a:solidFill>
                <a:latin typeface="Arial"/>
                <a:cs typeface="Arial"/>
              </a:rPr>
              <a:t>eilanden</a:t>
            </a:r>
            <a:r>
              <a:rPr lang="en-US" sz="2400" i="1" dirty="0">
                <a:solidFill>
                  <a:schemeClr val="accent2"/>
                </a:solidFill>
                <a:latin typeface="Arial"/>
                <a:cs typeface="Arial"/>
              </a:rPr>
              <a:t> </a:t>
            </a:r>
            <a:r>
              <a:rPr lang="en-US" sz="2400" i="1" dirty="0" err="1">
                <a:solidFill>
                  <a:schemeClr val="accent2"/>
                </a:solidFill>
                <a:latin typeface="Arial"/>
                <a:cs typeface="Arial"/>
              </a:rPr>
              <a:t>rond</a:t>
            </a:r>
            <a:r>
              <a:rPr lang="en-US" sz="2400" i="1" dirty="0">
                <a:solidFill>
                  <a:schemeClr val="accent2"/>
                </a:solidFill>
                <a:latin typeface="Arial"/>
                <a:cs typeface="Arial"/>
              </a:rPr>
              <a:t> de </a:t>
            </a:r>
            <a:r>
              <a:rPr lang="en-US" sz="2400" i="1" dirty="0" err="1">
                <a:solidFill>
                  <a:schemeClr val="accent2"/>
                </a:solidFill>
                <a:latin typeface="Arial"/>
                <a:cs typeface="Arial"/>
              </a:rPr>
              <a:t>Zuidpool</a:t>
            </a:r>
            <a:r>
              <a:rPr lang="en-US" sz="2400" i="1" dirty="0">
                <a:solidFill>
                  <a:schemeClr val="accent2"/>
                </a:solidFill>
                <a:latin typeface="Arial"/>
                <a:cs typeface="Arial"/>
              </a:rPr>
              <a:t> </a:t>
            </a:r>
            <a:r>
              <a:rPr lang="en-US" sz="2400" i="1" dirty="0" err="1">
                <a:solidFill>
                  <a:schemeClr val="accent2"/>
                </a:solidFill>
                <a:latin typeface="Arial"/>
                <a:cs typeface="Arial"/>
              </a:rPr>
              <a:t>en</a:t>
            </a:r>
            <a:r>
              <a:rPr lang="en-US" sz="2400" i="1" dirty="0">
                <a:solidFill>
                  <a:schemeClr val="accent2"/>
                </a:solidFill>
                <a:latin typeface="Arial"/>
                <a:cs typeface="Arial"/>
              </a:rPr>
              <a:t> </a:t>
            </a:r>
            <a:r>
              <a:rPr lang="en-US" sz="2400" i="1" dirty="0" err="1">
                <a:solidFill>
                  <a:schemeClr val="accent2"/>
                </a:solidFill>
                <a:latin typeface="Arial"/>
                <a:cs typeface="Arial"/>
              </a:rPr>
              <a:t>zijn</a:t>
            </a:r>
            <a:r>
              <a:rPr lang="en-US" sz="2400" i="1" dirty="0">
                <a:solidFill>
                  <a:schemeClr val="accent2"/>
                </a:solidFill>
                <a:latin typeface="Arial"/>
                <a:cs typeface="Arial"/>
              </a:rPr>
              <a:t>, </a:t>
            </a:r>
            <a:r>
              <a:rPr lang="en-US" sz="2400" i="1" dirty="0" err="1">
                <a:solidFill>
                  <a:schemeClr val="accent2"/>
                </a:solidFill>
                <a:latin typeface="Arial"/>
                <a:cs typeface="Arial"/>
              </a:rPr>
              <a:t>na</a:t>
            </a:r>
            <a:r>
              <a:rPr lang="en-US" sz="2400" i="1" dirty="0">
                <a:solidFill>
                  <a:schemeClr val="accent2"/>
                </a:solidFill>
                <a:latin typeface="Arial"/>
                <a:cs typeface="Arial"/>
              </a:rPr>
              <a:t> de </a:t>
            </a:r>
            <a:r>
              <a:rPr lang="en-US" sz="2400" i="1" dirty="0" err="1">
                <a:solidFill>
                  <a:schemeClr val="accent2"/>
                </a:solidFill>
                <a:latin typeface="Arial"/>
                <a:cs typeface="Arial"/>
              </a:rPr>
              <a:t>keizerspinguïns</a:t>
            </a:r>
            <a:r>
              <a:rPr lang="en-US" sz="2400" i="1" dirty="0">
                <a:solidFill>
                  <a:schemeClr val="accent2"/>
                </a:solidFill>
                <a:latin typeface="Arial"/>
                <a:cs typeface="Arial"/>
              </a:rPr>
              <a:t>, de </a:t>
            </a:r>
            <a:r>
              <a:rPr lang="en-US" sz="2400" i="1" dirty="0" err="1">
                <a:solidFill>
                  <a:schemeClr val="accent2"/>
                </a:solidFill>
                <a:latin typeface="Arial"/>
                <a:cs typeface="Arial"/>
              </a:rPr>
              <a:t>grootste</a:t>
            </a:r>
            <a:r>
              <a:rPr lang="en-US" sz="2400" i="1" dirty="0">
                <a:solidFill>
                  <a:schemeClr val="accent2"/>
                </a:solidFill>
                <a:latin typeface="Arial"/>
                <a:cs typeface="Arial"/>
              </a:rPr>
              <a:t> </a:t>
            </a:r>
            <a:r>
              <a:rPr lang="en-US" sz="2400" i="1" dirty="0" err="1">
                <a:solidFill>
                  <a:schemeClr val="accent2"/>
                </a:solidFill>
                <a:latin typeface="Arial"/>
                <a:cs typeface="Arial"/>
              </a:rPr>
              <a:t>pinguïn</a:t>
            </a:r>
            <a:r>
              <a:rPr lang="en-US" sz="2400" i="1" dirty="0">
                <a:solidFill>
                  <a:schemeClr val="accent2"/>
                </a:solidFill>
                <a:latin typeface="Arial"/>
                <a:cs typeface="Arial"/>
              </a:rPr>
              <a:t>. Ze </a:t>
            </a:r>
            <a:r>
              <a:rPr lang="en-US" sz="2400" i="1" dirty="0" err="1">
                <a:solidFill>
                  <a:schemeClr val="accent2"/>
                </a:solidFill>
                <a:latin typeface="Arial"/>
                <a:cs typeface="Arial"/>
              </a:rPr>
              <a:t>worden</a:t>
            </a:r>
            <a:r>
              <a:rPr lang="en-US" sz="2400" i="1" dirty="0">
                <a:solidFill>
                  <a:schemeClr val="accent2"/>
                </a:solidFill>
                <a:latin typeface="Arial"/>
                <a:cs typeface="Arial"/>
              </a:rPr>
              <a:t> </a:t>
            </a:r>
            <a:r>
              <a:rPr lang="en-US" sz="2400" i="1" dirty="0" err="1">
                <a:solidFill>
                  <a:schemeClr val="accent2"/>
                </a:solidFill>
                <a:latin typeface="Arial"/>
                <a:cs typeface="Arial"/>
              </a:rPr>
              <a:t>bijna</a:t>
            </a:r>
            <a:r>
              <a:rPr lang="en-US" sz="2400" i="1" dirty="0">
                <a:solidFill>
                  <a:schemeClr val="accent2"/>
                </a:solidFill>
                <a:latin typeface="Arial"/>
                <a:cs typeface="Arial"/>
              </a:rPr>
              <a:t> 1 meter!</a:t>
            </a:r>
            <a:endParaRPr lang="en-US" sz="2400" dirty="0">
              <a:solidFill>
                <a:schemeClr val="accent2"/>
              </a:solidFill>
              <a:latin typeface="Arial"/>
              <a:cs typeface="Arial"/>
            </a:endParaRPr>
          </a:p>
          <a:p>
            <a:pPr>
              <a:buNone/>
            </a:pPr>
            <a:r>
              <a:rPr lang="en-US" sz="2000" dirty="0">
                <a:solidFill>
                  <a:srgbClr val="3A4749"/>
                </a:solidFill>
                <a:latin typeface="Calibri"/>
                <a:ea typeface="Calibri"/>
                <a:cs typeface="Calibri"/>
              </a:rPr>
              <a:t>Wat is het </a:t>
            </a:r>
            <a:r>
              <a:rPr lang="en-US" sz="2000" dirty="0" err="1">
                <a:solidFill>
                  <a:srgbClr val="3A4749"/>
                </a:solidFill>
                <a:latin typeface="Calibri"/>
                <a:ea typeface="Calibri"/>
                <a:cs typeface="Calibri"/>
              </a:rPr>
              <a:t>onderwerp</a:t>
            </a:r>
            <a:r>
              <a:rPr lang="en-US" sz="2000" dirty="0">
                <a:solidFill>
                  <a:srgbClr val="3A4749"/>
                </a:solidFill>
                <a:latin typeface="Calibri"/>
                <a:ea typeface="Calibri"/>
                <a:cs typeface="Calibri"/>
              </a:rPr>
              <a:t>?</a:t>
            </a:r>
          </a:p>
          <a:p>
            <a:pPr>
              <a:buNone/>
            </a:pPr>
            <a:r>
              <a:rPr lang="en-US" sz="2000" dirty="0">
                <a:solidFill>
                  <a:srgbClr val="3A4749"/>
                </a:solidFill>
                <a:latin typeface="Calibri"/>
                <a:ea typeface="Calibri"/>
                <a:cs typeface="Calibri"/>
              </a:rPr>
              <a:t>Wat is de </a:t>
            </a:r>
            <a:r>
              <a:rPr lang="en-US" sz="2000" dirty="0" err="1">
                <a:solidFill>
                  <a:srgbClr val="3A4749"/>
                </a:solidFill>
                <a:latin typeface="Calibri"/>
                <a:ea typeface="Calibri"/>
                <a:cs typeface="Calibri"/>
              </a:rPr>
              <a:t>hoofdgedachte</a:t>
            </a:r>
            <a:r>
              <a:rPr lang="en-US" sz="2000" dirty="0">
                <a:solidFill>
                  <a:srgbClr val="3A4749"/>
                </a:solidFill>
                <a:latin typeface="Calibri"/>
                <a:ea typeface="Calibri"/>
                <a:cs typeface="Calibri"/>
              </a:rPr>
              <a:t>?</a:t>
            </a:r>
          </a:p>
          <a:p>
            <a:pPr>
              <a:buNone/>
            </a:pPr>
            <a:r>
              <a:rPr lang="en-US" sz="2000" dirty="0" err="1">
                <a:solidFill>
                  <a:srgbClr val="3D3C3A"/>
                </a:solidFill>
                <a:latin typeface="Calibri"/>
                <a:ea typeface="Calibri"/>
                <a:cs typeface="Calibri"/>
              </a:rPr>
              <a:t>Onderwerp</a:t>
            </a:r>
            <a:r>
              <a:rPr lang="en-US" sz="2000" dirty="0">
                <a:solidFill>
                  <a:srgbClr val="3D3C3A"/>
                </a:solidFill>
                <a:latin typeface="Calibri"/>
                <a:ea typeface="Calibri"/>
                <a:cs typeface="Calibri"/>
              </a:rPr>
              <a:t> van </a:t>
            </a:r>
            <a:r>
              <a:rPr lang="en-US" sz="2000" dirty="0" err="1">
                <a:solidFill>
                  <a:srgbClr val="3D3C3A"/>
                </a:solidFill>
                <a:latin typeface="Calibri"/>
                <a:ea typeface="Calibri"/>
                <a:cs typeface="Calibri"/>
              </a:rPr>
              <a:t>deze</a:t>
            </a:r>
            <a:r>
              <a:rPr lang="en-US" sz="2000" dirty="0">
                <a:solidFill>
                  <a:srgbClr val="3D3C3A"/>
                </a:solidFill>
                <a:latin typeface="Calibri"/>
                <a:ea typeface="Calibri"/>
                <a:cs typeface="Calibri"/>
              </a:rPr>
              <a:t> </a:t>
            </a:r>
            <a:r>
              <a:rPr lang="en-US" sz="2000" dirty="0" err="1">
                <a:solidFill>
                  <a:srgbClr val="3D3C3A"/>
                </a:solidFill>
                <a:latin typeface="Calibri"/>
                <a:ea typeface="Calibri"/>
                <a:cs typeface="Calibri"/>
              </a:rPr>
              <a:t>tekst</a:t>
            </a:r>
            <a:r>
              <a:rPr lang="en-US" sz="2000" dirty="0">
                <a:solidFill>
                  <a:srgbClr val="3D3C3A"/>
                </a:solidFill>
                <a:latin typeface="Calibri"/>
                <a:ea typeface="Calibri"/>
                <a:cs typeface="Calibri"/>
              </a:rPr>
              <a:t>: </a:t>
            </a:r>
            <a:r>
              <a:rPr lang="en-US" sz="2000" dirty="0" err="1">
                <a:solidFill>
                  <a:srgbClr val="3D3C3A"/>
                </a:solidFill>
                <a:latin typeface="Calibri"/>
                <a:ea typeface="Calibri"/>
                <a:cs typeface="Calibri"/>
              </a:rPr>
              <a:t>koningspinguïns</a:t>
            </a:r>
            <a:r>
              <a:rPr lang="en-US" sz="2000" dirty="0">
                <a:solidFill>
                  <a:srgbClr val="3D3C3A"/>
                </a:solidFill>
                <a:latin typeface="Calibri"/>
                <a:ea typeface="Calibri"/>
                <a:cs typeface="Calibri"/>
              </a:rPr>
              <a:t>.</a:t>
            </a:r>
            <a:endParaRPr lang="en-US" sz="2000" dirty="0">
              <a:latin typeface="Calibri"/>
              <a:ea typeface="Calibri"/>
              <a:cs typeface="Calibri"/>
            </a:endParaRPr>
          </a:p>
          <a:p>
            <a:pPr>
              <a:buNone/>
            </a:pPr>
            <a:r>
              <a:rPr lang="en-US" sz="2000" dirty="0">
                <a:solidFill>
                  <a:srgbClr val="3D3C3A"/>
                </a:solidFill>
                <a:latin typeface="Calibri"/>
                <a:ea typeface="Calibri"/>
                <a:cs typeface="Calibri"/>
              </a:rPr>
              <a:t>De </a:t>
            </a:r>
            <a:r>
              <a:rPr lang="en-US" sz="2000" dirty="0" err="1">
                <a:solidFill>
                  <a:srgbClr val="3D3C3A"/>
                </a:solidFill>
                <a:latin typeface="Calibri"/>
                <a:ea typeface="Calibri"/>
                <a:cs typeface="Calibri"/>
              </a:rPr>
              <a:t>hoofdgedachte</a:t>
            </a:r>
            <a:r>
              <a:rPr lang="en-US" sz="2000" dirty="0">
                <a:solidFill>
                  <a:srgbClr val="3D3C3A"/>
                </a:solidFill>
                <a:latin typeface="Calibri"/>
                <a:ea typeface="Calibri"/>
                <a:cs typeface="Calibri"/>
              </a:rPr>
              <a:t>: </a:t>
            </a:r>
            <a:r>
              <a:rPr lang="en-US" sz="2000" dirty="0" err="1">
                <a:solidFill>
                  <a:srgbClr val="3D3C3A"/>
                </a:solidFill>
                <a:latin typeface="Calibri"/>
                <a:ea typeface="Calibri"/>
                <a:cs typeface="Calibri"/>
              </a:rPr>
              <a:t>Koningspinguïns</a:t>
            </a:r>
            <a:r>
              <a:rPr lang="en-US" sz="2000" dirty="0">
                <a:solidFill>
                  <a:srgbClr val="3D3C3A"/>
                </a:solidFill>
                <a:latin typeface="Calibri"/>
                <a:ea typeface="Calibri"/>
                <a:cs typeface="Calibri"/>
              </a:rPr>
              <a:t> </a:t>
            </a:r>
            <a:r>
              <a:rPr lang="en-US" sz="2000" dirty="0" err="1">
                <a:solidFill>
                  <a:srgbClr val="3D3C3A"/>
                </a:solidFill>
                <a:latin typeface="Calibri"/>
                <a:ea typeface="Calibri"/>
                <a:cs typeface="Calibri"/>
              </a:rPr>
              <a:t>zijn</a:t>
            </a:r>
            <a:r>
              <a:rPr lang="en-US" sz="2000" dirty="0">
                <a:solidFill>
                  <a:srgbClr val="3D3C3A"/>
                </a:solidFill>
                <a:latin typeface="Calibri"/>
                <a:ea typeface="Calibri"/>
                <a:cs typeface="Calibri"/>
              </a:rPr>
              <a:t> met 1 meter </a:t>
            </a:r>
            <a:r>
              <a:rPr lang="en-US" sz="2000" dirty="0" err="1">
                <a:solidFill>
                  <a:srgbClr val="3D3C3A"/>
                </a:solidFill>
                <a:latin typeface="Calibri"/>
                <a:ea typeface="Calibri"/>
                <a:cs typeface="Calibri"/>
              </a:rPr>
              <a:t>bijna</a:t>
            </a:r>
            <a:r>
              <a:rPr lang="en-US" sz="2000" dirty="0">
                <a:solidFill>
                  <a:srgbClr val="3D3C3A"/>
                </a:solidFill>
                <a:latin typeface="Calibri"/>
                <a:ea typeface="Calibri"/>
                <a:cs typeface="Calibri"/>
              </a:rPr>
              <a:t> de </a:t>
            </a:r>
            <a:r>
              <a:rPr lang="en-US" sz="2000" dirty="0" err="1">
                <a:solidFill>
                  <a:srgbClr val="3D3C3A"/>
                </a:solidFill>
                <a:latin typeface="Calibri"/>
                <a:ea typeface="Calibri"/>
                <a:cs typeface="Calibri"/>
              </a:rPr>
              <a:t>grootste</a:t>
            </a:r>
            <a:r>
              <a:rPr lang="en-US" sz="2000" dirty="0">
                <a:solidFill>
                  <a:srgbClr val="3D3C3A"/>
                </a:solidFill>
                <a:latin typeface="Calibri"/>
                <a:ea typeface="Calibri"/>
                <a:cs typeface="Calibri"/>
              </a:rPr>
              <a:t> </a:t>
            </a:r>
            <a:r>
              <a:rPr lang="en-US" sz="2000" dirty="0" err="1">
                <a:solidFill>
                  <a:srgbClr val="3D3C3A"/>
                </a:solidFill>
                <a:latin typeface="Calibri"/>
                <a:ea typeface="Calibri"/>
                <a:cs typeface="Calibri"/>
              </a:rPr>
              <a:t>pinguïnsoort</a:t>
            </a:r>
            <a:r>
              <a:rPr lang="en-US" sz="2000" dirty="0">
                <a:solidFill>
                  <a:srgbClr val="3D3C3A"/>
                </a:solidFill>
                <a:latin typeface="Calibri"/>
                <a:ea typeface="Calibri"/>
                <a:cs typeface="Calibri"/>
              </a:rPr>
              <a:t> die </a:t>
            </a:r>
            <a:r>
              <a:rPr lang="en-US" sz="2000" dirty="0" err="1">
                <a:solidFill>
                  <a:srgbClr val="3D3C3A"/>
                </a:solidFill>
                <a:latin typeface="Calibri"/>
                <a:ea typeface="Calibri"/>
                <a:cs typeface="Calibri"/>
              </a:rPr>
              <a:t>rond</a:t>
            </a:r>
            <a:r>
              <a:rPr lang="en-US" sz="2000" dirty="0">
                <a:solidFill>
                  <a:srgbClr val="3D3C3A"/>
                </a:solidFill>
                <a:latin typeface="Calibri"/>
                <a:ea typeface="Calibri"/>
                <a:cs typeface="Calibri"/>
              </a:rPr>
              <a:t> de </a:t>
            </a:r>
            <a:r>
              <a:rPr lang="en-US" sz="2000" dirty="0" err="1">
                <a:solidFill>
                  <a:srgbClr val="3D3C3A"/>
                </a:solidFill>
                <a:latin typeface="Calibri"/>
                <a:ea typeface="Calibri"/>
                <a:cs typeface="Calibri"/>
              </a:rPr>
              <a:t>Zuidpool</a:t>
            </a:r>
            <a:r>
              <a:rPr lang="en-US" sz="2000" dirty="0">
                <a:solidFill>
                  <a:srgbClr val="3D3C3A"/>
                </a:solidFill>
                <a:latin typeface="Calibri"/>
                <a:ea typeface="Calibri"/>
                <a:cs typeface="Calibri"/>
              </a:rPr>
              <a:t> </a:t>
            </a:r>
            <a:r>
              <a:rPr lang="en-US" sz="2000" dirty="0" err="1">
                <a:solidFill>
                  <a:srgbClr val="3D3C3A"/>
                </a:solidFill>
                <a:latin typeface="Calibri"/>
                <a:ea typeface="Calibri"/>
                <a:cs typeface="Calibri"/>
              </a:rPr>
              <a:t>leeft</a:t>
            </a:r>
            <a:r>
              <a:rPr lang="en-US" sz="2000" dirty="0">
                <a:solidFill>
                  <a:srgbClr val="3D3C3A"/>
                </a:solidFill>
                <a:latin typeface="Calibri"/>
                <a:ea typeface="Calibri"/>
                <a:cs typeface="Calibri"/>
              </a:rPr>
              <a:t>.</a:t>
            </a:r>
            <a:endParaRPr lang="en-US" sz="2000" dirty="0">
              <a:latin typeface="Calibri"/>
              <a:ea typeface="Calibri"/>
              <a:cs typeface="Calibri"/>
            </a:endParaRPr>
          </a:p>
          <a:p>
            <a:pPr>
              <a:buNone/>
            </a:pPr>
            <a:endParaRPr lang="en-US" sz="2700" b="1" dirty="0">
              <a:solidFill>
                <a:srgbClr val="3A4749"/>
              </a:solidFill>
              <a:latin typeface="Barlow Condensed"/>
            </a:endParaRPr>
          </a:p>
        </p:txBody>
      </p:sp>
    </p:spTree>
    <p:extLst>
      <p:ext uri="{BB962C8B-B14F-4D97-AF65-F5344CB8AC3E}">
        <p14:creationId xmlns:p14="http://schemas.microsoft.com/office/powerpoint/2010/main" val="23247128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1186004" y="661459"/>
            <a:ext cx="9481996" cy="1325563"/>
          </a:xfrm>
        </p:spPr>
        <p:txBody>
          <a:bodyPr>
            <a:normAutofit/>
          </a:bodyPr>
          <a:lstStyle/>
          <a:p>
            <a:r>
              <a:rPr lang="nl-NL" sz="3000" b="1" dirty="0">
                <a:uFill>
                  <a:solidFill>
                    <a:schemeClr val="accent6"/>
                  </a:solidFill>
                </a:uFill>
                <a:latin typeface="Arial" panose="020B0604020202020204" pitchFamily="34" charset="0"/>
                <a:cs typeface="Arial" panose="020B0604020202020204" pitchFamily="34" charset="0"/>
              </a:rPr>
              <a:t>SAMENVATTEN</a:t>
            </a:r>
          </a:p>
        </p:txBody>
      </p:sp>
      <p:sp>
        <p:nvSpPr>
          <p:cNvPr id="7" name="Tekstvak 6"/>
          <p:cNvSpPr txBox="1"/>
          <p:nvPr/>
        </p:nvSpPr>
        <p:spPr>
          <a:xfrm>
            <a:off x="10030327" y="0"/>
            <a:ext cx="637674" cy="369332"/>
          </a:xfrm>
          <a:prstGeom prst="rect">
            <a:avLst/>
          </a:prstGeom>
          <a:solidFill>
            <a:srgbClr val="00B0C5"/>
          </a:solidFill>
          <a:ln>
            <a:solidFill>
              <a:srgbClr val="00B0C5"/>
            </a:solidFill>
          </a:ln>
        </p:spPr>
        <p:txBody>
          <a:bodyPr wrap="square" rtlCol="0">
            <a:spAutoFit/>
          </a:bodyPr>
          <a:lstStyle/>
          <a:p>
            <a:endParaRPr lang="nl-NL" dirty="0"/>
          </a:p>
        </p:txBody>
      </p:sp>
      <p:sp>
        <p:nvSpPr>
          <p:cNvPr id="8" name="Tijdelijke aanduiding voor inhoud 2">
            <a:extLst>
              <a:ext uri="{FF2B5EF4-FFF2-40B4-BE49-F238E27FC236}">
                <a16:creationId xmlns:a16="http://schemas.microsoft.com/office/drawing/2014/main" id="{6515C41F-821E-4B7D-83D1-E7B25F203D74}"/>
              </a:ext>
            </a:extLst>
          </p:cNvPr>
          <p:cNvSpPr txBox="1">
            <a:spLocks/>
          </p:cNvSpPr>
          <p:nvPr/>
        </p:nvSpPr>
        <p:spPr>
          <a:xfrm>
            <a:off x="1276540" y="1828801"/>
            <a:ext cx="8867180" cy="4675188"/>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Clr>
                <a:srgbClr val="00A6CC"/>
              </a:buClr>
            </a:pPr>
            <a:r>
              <a:rPr lang="nl-NL" sz="2600" dirty="0">
                <a:solidFill>
                  <a:prstClr val="black"/>
                </a:solidFill>
                <a:latin typeface="Gill Sans Nova"/>
                <a:cs typeface="Arial"/>
              </a:rPr>
              <a:t>Een samenvatting is een verkorte versie van de originele tekst en heeft als doel dat je een tekst  </a:t>
            </a:r>
          </a:p>
          <a:p>
            <a:pPr marL="457200" lvl="1" indent="0">
              <a:lnSpc>
                <a:spcPct val="150000"/>
              </a:lnSpc>
              <a:spcBef>
                <a:spcPts val="0"/>
              </a:spcBef>
              <a:buClr>
                <a:srgbClr val="E86A21"/>
              </a:buClr>
              <a:buFont typeface="Arial" panose="020B0604020202020204" pitchFamily="34" charset="0"/>
              <a:buChar char="−"/>
            </a:pPr>
            <a:r>
              <a:rPr lang="nl-NL" dirty="0">
                <a:solidFill>
                  <a:prstClr val="black"/>
                </a:solidFill>
                <a:latin typeface="Gill Sans Nova"/>
                <a:cs typeface="Arial"/>
              </a:rPr>
              <a:t> 	beter kunt onthouden.</a:t>
            </a:r>
          </a:p>
          <a:p>
            <a:pPr marL="457200" lvl="1" indent="0">
              <a:lnSpc>
                <a:spcPct val="150000"/>
              </a:lnSpc>
              <a:spcBef>
                <a:spcPts val="0"/>
              </a:spcBef>
              <a:buClr>
                <a:srgbClr val="E86A21"/>
              </a:buClr>
              <a:buFont typeface="Arial" panose="020B0604020202020204" pitchFamily="34" charset="0"/>
              <a:buChar char="−"/>
            </a:pPr>
            <a:r>
              <a:rPr lang="nl-NL" dirty="0">
                <a:solidFill>
                  <a:prstClr val="black"/>
                </a:solidFill>
                <a:latin typeface="Gill Sans Nova"/>
                <a:cs typeface="Arial"/>
              </a:rPr>
              <a:t> 	snel kunt nalezen.</a:t>
            </a:r>
          </a:p>
          <a:p>
            <a:pPr>
              <a:lnSpc>
                <a:spcPct val="150000"/>
              </a:lnSpc>
              <a:spcBef>
                <a:spcPts val="0"/>
              </a:spcBef>
              <a:buClr>
                <a:srgbClr val="00A6CC"/>
              </a:buClr>
            </a:pPr>
            <a:r>
              <a:rPr lang="nl-NL" sz="2600" dirty="0">
                <a:solidFill>
                  <a:prstClr val="black"/>
                </a:solidFill>
                <a:latin typeface="Gill Sans Nova"/>
                <a:cs typeface="Arial"/>
              </a:rPr>
              <a:t>Een samenvatting bevat de belangrijkste zaken.</a:t>
            </a:r>
          </a:p>
          <a:p>
            <a:pPr>
              <a:lnSpc>
                <a:spcPct val="150000"/>
              </a:lnSpc>
              <a:buClr>
                <a:srgbClr val="00A6CC"/>
              </a:buClr>
            </a:pPr>
            <a:r>
              <a:rPr lang="nl-NL" sz="2600" dirty="0">
                <a:latin typeface="Gill Sans Nova"/>
                <a:cs typeface="Arial"/>
              </a:rPr>
              <a:t>Een samenvatting is te begrijpen voor lezers die de oorspronkelijke tekst niet kennen. </a:t>
            </a:r>
          </a:p>
          <a:p>
            <a:pPr marL="0" indent="0">
              <a:lnSpc>
                <a:spcPct val="150000"/>
              </a:lnSpc>
              <a:buClr>
                <a:srgbClr val="00A6CC"/>
              </a:buClr>
              <a:buNone/>
            </a:pPr>
            <a:endParaRPr lang="nl-NL" sz="2600" dirty="0">
              <a:latin typeface="Arial" panose="020B0604020202020204" pitchFamily="34" charset="0"/>
              <a:cs typeface="Arial" panose="020B0604020202020204" pitchFamily="34" charset="0"/>
            </a:endParaRPr>
          </a:p>
          <a:p>
            <a:pPr lvl="1">
              <a:buClr>
                <a:srgbClr val="00B0C5"/>
              </a:buClr>
            </a:pPr>
            <a:endParaRPr lang="nl-NL" sz="2200" dirty="0">
              <a:latin typeface="Arial" panose="020B0604020202020204" pitchFamily="34" charset="0"/>
              <a:cs typeface="Arial" panose="020B0604020202020204" pitchFamily="34" charset="0"/>
            </a:endParaRPr>
          </a:p>
        </p:txBody>
      </p:sp>
      <p:sp>
        <p:nvSpPr>
          <p:cNvPr id="5" name="Tekstvak 5">
            <a:extLst>
              <a:ext uri="{FF2B5EF4-FFF2-40B4-BE49-F238E27FC236}">
                <a16:creationId xmlns:a16="http://schemas.microsoft.com/office/drawing/2014/main" id="{B24FF69D-F981-4699-8F71-CF003FB6B357}"/>
              </a:ext>
            </a:extLst>
          </p:cNvPr>
          <p:cNvSpPr txBox="1"/>
          <p:nvPr/>
        </p:nvSpPr>
        <p:spPr>
          <a:xfrm>
            <a:off x="10030327" y="0"/>
            <a:ext cx="637674" cy="369332"/>
          </a:xfrm>
          <a:prstGeom prst="rect">
            <a:avLst/>
          </a:prstGeom>
          <a:solidFill>
            <a:srgbClr val="00A6CC"/>
          </a:solidFill>
          <a:ln>
            <a:solidFill>
              <a:srgbClr val="00B0C5"/>
            </a:solidFill>
          </a:ln>
        </p:spPr>
        <p:txBody>
          <a:bodyPr wrap="square" rtlCol="0">
            <a:spAutoFit/>
          </a:bodyPr>
          <a:ls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nl-NL" dirty="0"/>
          </a:p>
        </p:txBody>
      </p:sp>
    </p:spTree>
    <p:extLst>
      <p:ext uri="{BB962C8B-B14F-4D97-AF65-F5344CB8AC3E}">
        <p14:creationId xmlns:p14="http://schemas.microsoft.com/office/powerpoint/2010/main" val="14199684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8D22-5365-08A3-AF6C-225918E39A1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D08BC1A-5008-EABF-A863-D43E5C862308}"/>
              </a:ext>
            </a:extLst>
          </p:cNvPr>
          <p:cNvSpPr>
            <a:spLocks noGrp="1"/>
          </p:cNvSpPr>
          <p:nvPr>
            <p:ph type="title"/>
          </p:nvPr>
        </p:nvSpPr>
        <p:spPr>
          <a:xfrm>
            <a:off x="1186004" y="661459"/>
            <a:ext cx="9481996" cy="1325563"/>
          </a:xfrm>
        </p:spPr>
        <p:txBody>
          <a:bodyPr>
            <a:normAutofit/>
          </a:bodyPr>
          <a:lstStyle/>
          <a:p>
            <a:r>
              <a:rPr lang="nl-NL" sz="3000" b="1" dirty="0">
                <a:uFill>
                  <a:solidFill>
                    <a:schemeClr val="accent6"/>
                  </a:solidFill>
                </a:uFill>
                <a:latin typeface="Arial"/>
                <a:cs typeface="Arial"/>
              </a:rPr>
              <a:t>KERNZINNEN</a:t>
            </a:r>
            <a:endParaRPr lang="nl-NL" sz="3000" b="1" dirty="0">
              <a:uFill>
                <a:solidFill>
                  <a:schemeClr val="accent6"/>
                </a:solidFill>
              </a:uFill>
              <a:latin typeface="Arial" panose="020B0604020202020204" pitchFamily="34" charset="0"/>
              <a:cs typeface="Arial" panose="020B0604020202020204" pitchFamily="34" charset="0"/>
            </a:endParaRPr>
          </a:p>
        </p:txBody>
      </p:sp>
      <p:sp>
        <p:nvSpPr>
          <p:cNvPr id="7" name="Tekstvak 6">
            <a:extLst>
              <a:ext uri="{FF2B5EF4-FFF2-40B4-BE49-F238E27FC236}">
                <a16:creationId xmlns:a16="http://schemas.microsoft.com/office/drawing/2014/main" id="{9A5651AB-D66F-1592-7C00-A50C97C1D8FA}"/>
              </a:ext>
            </a:extLst>
          </p:cNvPr>
          <p:cNvSpPr txBox="1"/>
          <p:nvPr/>
        </p:nvSpPr>
        <p:spPr>
          <a:xfrm>
            <a:off x="10030327" y="0"/>
            <a:ext cx="637674" cy="369332"/>
          </a:xfrm>
          <a:prstGeom prst="rect">
            <a:avLst/>
          </a:prstGeom>
          <a:solidFill>
            <a:srgbClr val="00B0C5"/>
          </a:solidFill>
          <a:ln>
            <a:solidFill>
              <a:srgbClr val="00B0C5"/>
            </a:solidFill>
          </a:ln>
        </p:spPr>
        <p:txBody>
          <a:bodyPr wrap="square" rtlCol="0">
            <a:spAutoFit/>
          </a:bodyPr>
          <a:lstStyle/>
          <a:p>
            <a:endParaRPr lang="nl-NL" dirty="0"/>
          </a:p>
        </p:txBody>
      </p:sp>
      <p:sp>
        <p:nvSpPr>
          <p:cNvPr id="8" name="Tijdelijke aanduiding voor inhoud 2">
            <a:extLst>
              <a:ext uri="{FF2B5EF4-FFF2-40B4-BE49-F238E27FC236}">
                <a16:creationId xmlns:a16="http://schemas.microsoft.com/office/drawing/2014/main" id="{42A13B08-2326-E6F2-F85E-25211A42EDCE}"/>
              </a:ext>
            </a:extLst>
          </p:cNvPr>
          <p:cNvSpPr txBox="1">
            <a:spLocks/>
          </p:cNvSpPr>
          <p:nvPr/>
        </p:nvSpPr>
        <p:spPr>
          <a:xfrm>
            <a:off x="1213040" y="1752601"/>
            <a:ext cx="10568980" cy="4751388"/>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0A6CC"/>
              </a:buClr>
            </a:pPr>
            <a:r>
              <a:rPr lang="nl-NL" sz="2600" dirty="0">
                <a:solidFill>
                  <a:prstClr val="black"/>
                </a:solidFill>
                <a:ea typeface="+mn-lt"/>
                <a:cs typeface="+mn-lt"/>
              </a:rPr>
              <a:t>Een kernzin is de</a:t>
            </a:r>
            <a:r>
              <a:rPr lang="nl-NL" sz="2600" b="1" dirty="0">
                <a:solidFill>
                  <a:prstClr val="black"/>
                </a:solidFill>
                <a:ea typeface="+mn-lt"/>
                <a:cs typeface="+mn-lt"/>
              </a:rPr>
              <a:t> belangrijkste zin in een alinea</a:t>
            </a:r>
            <a:r>
              <a:rPr lang="nl-NL" sz="2600" dirty="0">
                <a:solidFill>
                  <a:prstClr val="black"/>
                </a:solidFill>
                <a:ea typeface="+mn-lt"/>
                <a:cs typeface="+mn-lt"/>
              </a:rPr>
              <a:t>. Het is de zin waarin de belangrijkste boodschap van die alinea staat, oftewel de kern van de informatie die je gaat lezen. </a:t>
            </a:r>
            <a:endParaRPr lang="en-US" dirty="0">
              <a:solidFill>
                <a:prstClr val="black"/>
              </a:solidFill>
              <a:ea typeface="+mn-lt"/>
              <a:cs typeface="+mn-lt"/>
            </a:endParaRPr>
          </a:p>
          <a:p>
            <a:pPr>
              <a:buClr>
                <a:srgbClr val="00A6CC"/>
              </a:buClr>
            </a:pPr>
            <a:r>
              <a:rPr lang="nl-NL" sz="2600" dirty="0">
                <a:solidFill>
                  <a:prstClr val="black"/>
                </a:solidFill>
                <a:ea typeface="+mn-lt"/>
                <a:cs typeface="+mn-lt"/>
              </a:rPr>
              <a:t>Na de kernzin volgt vaak een uitleg of een voorbeeld.</a:t>
            </a:r>
            <a:br>
              <a:rPr lang="nl-NL" sz="2600" dirty="0">
                <a:solidFill>
                  <a:prstClr val="black"/>
                </a:solidFill>
                <a:ea typeface="+mn-lt"/>
                <a:cs typeface="+mn-lt"/>
              </a:rPr>
            </a:br>
            <a:endParaRPr lang="nl-NL" sz="2600" dirty="0">
              <a:solidFill>
                <a:prstClr val="black"/>
              </a:solidFill>
              <a:ea typeface="+mn-lt"/>
              <a:cs typeface="+mn-lt"/>
            </a:endParaRPr>
          </a:p>
          <a:p>
            <a:pPr>
              <a:buClr>
                <a:srgbClr val="00A6CC"/>
              </a:buClr>
            </a:pPr>
            <a:r>
              <a:rPr lang="nl-NL" sz="2600" dirty="0">
                <a:solidFill>
                  <a:prstClr val="black"/>
                </a:solidFill>
                <a:ea typeface="+mn-lt"/>
                <a:cs typeface="+mn-lt"/>
              </a:rPr>
              <a:t>Meestal staat de kernzin aan het begin van de alinea: </a:t>
            </a:r>
            <a:r>
              <a:rPr lang="nl-NL" sz="2600" b="1" dirty="0">
                <a:solidFill>
                  <a:prstClr val="black"/>
                </a:solidFill>
                <a:ea typeface="+mn-lt"/>
                <a:cs typeface="+mn-lt"/>
              </a:rPr>
              <a:t>de eerste of tweede zin van de alinea</a:t>
            </a:r>
            <a:r>
              <a:rPr lang="nl-NL" sz="2600" dirty="0">
                <a:solidFill>
                  <a:prstClr val="black"/>
                </a:solidFill>
                <a:ea typeface="+mn-lt"/>
                <a:cs typeface="+mn-lt"/>
              </a:rPr>
              <a:t>. Soms staat de kernzin aan het eind van de alinea: </a:t>
            </a:r>
            <a:r>
              <a:rPr lang="nl-NL" sz="2600" b="1" dirty="0">
                <a:solidFill>
                  <a:prstClr val="black"/>
                </a:solidFill>
                <a:ea typeface="+mn-lt"/>
                <a:cs typeface="+mn-lt"/>
              </a:rPr>
              <a:t>de laatste zin van de alinea</a:t>
            </a:r>
            <a:r>
              <a:rPr lang="nl-NL" sz="2600" dirty="0">
                <a:solidFill>
                  <a:prstClr val="black"/>
                </a:solidFill>
                <a:ea typeface="+mn-lt"/>
                <a:cs typeface="+mn-lt"/>
              </a:rPr>
              <a:t>.</a:t>
            </a:r>
            <a:endParaRPr lang="nl-NL" dirty="0">
              <a:solidFill>
                <a:prstClr val="black"/>
              </a:solidFill>
              <a:ea typeface="+mn-lt"/>
              <a:cs typeface="+mn-lt"/>
            </a:endParaRPr>
          </a:p>
          <a:p>
            <a:pPr>
              <a:buClr>
                <a:srgbClr val="00A6CC"/>
              </a:buClr>
            </a:pPr>
            <a:endParaRPr lang="nl-NL" sz="2600" dirty="0">
              <a:solidFill>
                <a:prstClr val="black"/>
              </a:solidFill>
              <a:latin typeface="Gill Sans Nova"/>
              <a:ea typeface="+mn-lt"/>
              <a:cs typeface="Arial"/>
            </a:endParaRPr>
          </a:p>
          <a:p>
            <a:pPr>
              <a:buClr>
                <a:srgbClr val="00A6CC"/>
              </a:buClr>
            </a:pPr>
            <a:r>
              <a:rPr lang="nl-NL" sz="2600" dirty="0">
                <a:solidFill>
                  <a:prstClr val="black"/>
                </a:solidFill>
                <a:latin typeface="Gill Sans Nova"/>
                <a:ea typeface="+mn-lt"/>
                <a:cs typeface="Arial"/>
              </a:rPr>
              <a:t>Voor het maken van een samenvatting gebruik je de kernzinnen.</a:t>
            </a:r>
            <a:endParaRPr lang="nl-NL" sz="2600" dirty="0">
              <a:solidFill>
                <a:prstClr val="black"/>
              </a:solidFill>
              <a:latin typeface="Gill Sans Nova"/>
              <a:ea typeface="+mn-lt"/>
              <a:cs typeface="Arial" panose="020B0604020202020204" pitchFamily="34" charset="0"/>
            </a:endParaRPr>
          </a:p>
          <a:p>
            <a:pPr lvl="1">
              <a:buClr>
                <a:srgbClr val="00B0C5"/>
              </a:buClr>
            </a:pPr>
            <a:endParaRPr lang="nl-NL" sz="2200" dirty="0">
              <a:solidFill>
                <a:prstClr val="black"/>
              </a:solidFill>
              <a:latin typeface="Arial" panose="020B0604020202020204" pitchFamily="34" charset="0"/>
              <a:ea typeface="+mn-lt"/>
              <a:cs typeface="Arial" panose="020B0604020202020204" pitchFamily="34" charset="0"/>
            </a:endParaRPr>
          </a:p>
        </p:txBody>
      </p:sp>
      <p:sp>
        <p:nvSpPr>
          <p:cNvPr id="5" name="Tekstvak 5">
            <a:extLst>
              <a:ext uri="{FF2B5EF4-FFF2-40B4-BE49-F238E27FC236}">
                <a16:creationId xmlns:a16="http://schemas.microsoft.com/office/drawing/2014/main" id="{EC1FC2A9-51FE-7F68-6704-E7B283A66AF1}"/>
              </a:ext>
            </a:extLst>
          </p:cNvPr>
          <p:cNvSpPr txBox="1"/>
          <p:nvPr/>
        </p:nvSpPr>
        <p:spPr>
          <a:xfrm>
            <a:off x="10030327" y="0"/>
            <a:ext cx="637674" cy="369332"/>
          </a:xfrm>
          <a:prstGeom prst="rect">
            <a:avLst/>
          </a:prstGeom>
          <a:solidFill>
            <a:srgbClr val="00A6CC"/>
          </a:solidFill>
          <a:ln>
            <a:solidFill>
              <a:srgbClr val="00B0C5"/>
            </a:solidFill>
          </a:ln>
        </p:spPr>
        <p:txBody>
          <a:bodyPr wrap="square" rtlCol="0">
            <a:spAutoFit/>
          </a:bodyPr>
          <a:ls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nl-NL" dirty="0"/>
          </a:p>
        </p:txBody>
      </p:sp>
    </p:spTree>
    <p:extLst>
      <p:ext uri="{BB962C8B-B14F-4D97-AF65-F5344CB8AC3E}">
        <p14:creationId xmlns:p14="http://schemas.microsoft.com/office/powerpoint/2010/main" val="3844940001"/>
      </p:ext>
    </p:extLst>
  </p:cSld>
  <p:clrMapOvr>
    <a:masterClrMapping/>
  </p:clrMapOvr>
</p:sld>
</file>

<file path=ppt/theme/theme1.xml><?xml version="1.0" encoding="utf-8"?>
<a:theme xmlns:a="http://schemas.openxmlformats.org/drawingml/2006/main" name="GradientVTI">
  <a:themeElements>
    <a:clrScheme name="Gradient">
      <a:dk1>
        <a:sysClr val="windowText" lastClr="000000"/>
      </a:dk1>
      <a:lt1>
        <a:sysClr val="window" lastClr="FFFFFF"/>
      </a:lt1>
      <a:dk2>
        <a:srgbClr val="10013F"/>
      </a:dk2>
      <a:lt2>
        <a:srgbClr val="F2F0FF"/>
      </a:lt2>
      <a:accent1>
        <a:srgbClr val="814DFF"/>
      </a:accent1>
      <a:accent2>
        <a:srgbClr val="243FFF"/>
      </a:accent2>
      <a:accent3>
        <a:srgbClr val="FF83B6"/>
      </a:accent3>
      <a:accent4>
        <a:srgbClr val="FF9022"/>
      </a:accent4>
      <a:accent5>
        <a:srgbClr val="FF1F85"/>
      </a:accent5>
      <a:accent6>
        <a:srgbClr val="1A98FF"/>
      </a:accent6>
      <a:hlink>
        <a:srgbClr val="0563C1"/>
      </a:hlink>
      <a:folHlink>
        <a:srgbClr val="954F72"/>
      </a:folHlink>
    </a:clrScheme>
    <a:fontScheme name="Univers">
      <a:majorFont>
        <a:latin typeface="Gill Sans Nova"/>
        <a:ea typeface=""/>
        <a:cs typeface=""/>
      </a:majorFont>
      <a:minorFont>
        <a:latin typeface="Gill Sans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VTI" id="{605F9078-86F9-4258-A3E1-F8EFF02AE8CC}" vid="{4848699B-BB01-41E3-9EC4-3D97DFE5292B}"/>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53F2CA980934C41BAF863130AA12841" ma:contentTypeVersion="11" ma:contentTypeDescription="Een nieuw document maken." ma:contentTypeScope="" ma:versionID="649d3f88f44f3de72bd8582894790740">
  <xsd:schema xmlns:xsd="http://www.w3.org/2001/XMLSchema" xmlns:xs="http://www.w3.org/2001/XMLSchema" xmlns:p="http://schemas.microsoft.com/office/2006/metadata/properties" xmlns:ns2="4dcec846-0585-4e2b-9042-c206a21d4643" xmlns:ns3="e52aea22-40e7-484b-a107-a98d0c774b69" xmlns:ns4="65669cde-10db-43bc-aec9-3ba72aefb560" xmlns:ns5="6c48cd7a-dd7f-4980-9925-1e413ed5f570" targetNamespace="http://schemas.microsoft.com/office/2006/metadata/properties" ma:root="true" ma:fieldsID="9e7b491148fe1aa263ef5ac421bdc1be" ns2:_="" ns3:_="" ns4:_="" ns5:_="">
    <xsd:import namespace="4dcec846-0585-4e2b-9042-c206a21d4643"/>
    <xsd:import namespace="e52aea22-40e7-484b-a107-a98d0c774b69"/>
    <xsd:import namespace="65669cde-10db-43bc-aec9-3ba72aefb560"/>
    <xsd:import namespace="6c48cd7a-dd7f-4980-9925-1e413ed5f5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element ref="ns3:SharedWithUsers" minOccurs="0"/>
                <xsd:element ref="ns3:SharedWithDetails" minOccurs="0"/>
                <xsd:element ref="ns2:MediaServiceDateTaken" minOccurs="0"/>
                <xsd:element ref="ns2:MediaServiceLocation" minOccurs="0"/>
                <xsd:element ref="ns2:MediaLengthInSeconds" minOccurs="0"/>
                <xsd:element ref="ns4:lcf76f155ced4ddcb4097134ff3c332f" minOccurs="0"/>
                <xsd:element ref="ns5: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cec846-0585-4e2b-9042-c206a21d46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Location" ma:index="20" nillable="true" ma:displayName="Location" ma:indexed="true" ma:internalName="MediaServiceLocatio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52aea22-40e7-484b-a107-a98d0c774b69" elementFormDefault="qualified">
    <xsd:import namespace="http://schemas.microsoft.com/office/2006/documentManagement/types"/>
    <xsd:import namespace="http://schemas.microsoft.com/office/infopath/2007/PartnerControls"/>
    <xsd:element name="SharedWithUsers" ma:index="17"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Gedeeld met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5669cde-10db-43bc-aec9-3ba72aefb560" elementFormDefault="qualified">
    <xsd:import namespace="http://schemas.microsoft.com/office/2006/documentManagement/types"/>
    <xsd:import namespace="http://schemas.microsoft.com/office/infopath/2007/PartnerControls"/>
    <xsd:element name="lcf76f155ced4ddcb4097134ff3c332f" ma:index="23" nillable="true" ma:taxonomy="true" ma:internalName="lcf76f155ced4ddcb4097134ff3c332f" ma:taxonomyFieldName="MediaServiceImageTags" ma:displayName="Afbeeldingtags" ma:readOnly="false" ma:fieldId="{5cf76f15-5ced-4ddc-b409-7134ff3c332f}" ma:taxonomyMulti="true" ma:sspId="0c9375bc-25c6-407e-9b71-2e7f23d56647"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6c48cd7a-dd7f-4980-9925-1e413ed5f570" elementFormDefault="qualified">
    <xsd:import namespace="http://schemas.microsoft.com/office/2006/documentManagement/types"/>
    <xsd:import namespace="http://schemas.microsoft.com/office/infopath/2007/PartnerControls"/>
    <xsd:element name="TaxCatchAll" ma:index="24" nillable="true" ma:displayName="Taxonomy Catch All Column" ma:hidden="true" ma:list="{ea0f1250-97cb-40f4-8ad1-d866708b9fe9}" ma:internalName="TaxCatchAll" ma:showField="CatchAllData" ma:web="6c48cd7a-dd7f-4980-9925-1e413ed5f5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LengthInSeconds xmlns="4dcec846-0585-4e2b-9042-c206a21d4643" xsi:nil="true"/>
    <SharedWithUsers xmlns="e52aea22-40e7-484b-a107-a98d0c774b69">
      <UserInfo>
        <DisplayName/>
        <AccountId xsi:nil="true"/>
        <AccountType/>
      </UserInfo>
    </SharedWithUsers>
    <TaxCatchAll xmlns="6c48cd7a-dd7f-4980-9925-1e413ed5f570" xsi:nil="true"/>
    <lcf76f155ced4ddcb4097134ff3c332f xmlns="65669cde-10db-43bc-aec9-3ba72aefb560">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9C4FEAB-FD14-4343-8AA9-0291567014E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dcec846-0585-4e2b-9042-c206a21d4643"/>
    <ds:schemaRef ds:uri="e52aea22-40e7-484b-a107-a98d0c774b69"/>
    <ds:schemaRef ds:uri="65669cde-10db-43bc-aec9-3ba72aefb560"/>
    <ds:schemaRef ds:uri="6c48cd7a-dd7f-4980-9925-1e413ed5f57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BDB1E93-30C5-4923-B2E4-1668EC9ED163}">
  <ds:schemaRefs>
    <ds:schemaRef ds:uri="http://schemas.microsoft.com/office/2006/metadata/properties"/>
    <ds:schemaRef ds:uri="http://schemas.microsoft.com/office/infopath/2007/PartnerControls"/>
    <ds:schemaRef ds:uri="4dcec846-0585-4e2b-9042-c206a21d4643"/>
    <ds:schemaRef ds:uri="e52aea22-40e7-484b-a107-a98d0c774b69"/>
    <ds:schemaRef ds:uri="6c48cd7a-dd7f-4980-9925-1e413ed5f570"/>
    <ds:schemaRef ds:uri="65669cde-10db-43bc-aec9-3ba72aefb560"/>
  </ds:schemaRefs>
</ds:datastoreItem>
</file>

<file path=customXml/itemProps3.xml><?xml version="1.0" encoding="utf-8"?>
<ds:datastoreItem xmlns:ds="http://schemas.openxmlformats.org/officeDocument/2006/customXml" ds:itemID="{97CA919A-ACE4-4D2E-AB0D-94C0192F507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424</TotalTime>
  <Words>2510</Words>
  <Application>Microsoft Office PowerPoint</Application>
  <PresentationFormat>Widescreen</PresentationFormat>
  <Paragraphs>297</Paragraphs>
  <Slides>31</Slides>
  <Notes>10</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GradientVTI</vt:lpstr>
      <vt:lpstr>Leesvaardigheid 1</vt:lpstr>
      <vt:lpstr>Leesvaardigheid 1 </vt:lpstr>
      <vt:lpstr>Begrijpend lezen</vt:lpstr>
      <vt:lpstr>Begrijpend lezen</vt:lpstr>
      <vt:lpstr>Leesdoel en leesstrategieën </vt:lpstr>
      <vt:lpstr>Leesstrategieën = verschillende manieren om te  lezen </vt:lpstr>
      <vt:lpstr>H17 Globaal lezen</vt:lpstr>
      <vt:lpstr>H17 Intensief lezen</vt:lpstr>
      <vt:lpstr>H18 Zoekend lezen</vt:lpstr>
      <vt:lpstr>H18 Lerend lezen</vt:lpstr>
      <vt:lpstr>H19 Kritisch lezen</vt:lpstr>
      <vt:lpstr>Leesstrategieën  =  verschillende manieren om te  lezen   Wat is je leesdoel?  Welke leesstrategie past daarbij? </vt:lpstr>
      <vt:lpstr>H32 Woorden en hun betekenissen</vt:lpstr>
      <vt:lpstr>H32 Woorden en hun betekenissen</vt:lpstr>
      <vt:lpstr>H32 Theorie woordraadstrategieën </vt:lpstr>
      <vt:lpstr>Woordraadstrategieën voorbeelden</vt:lpstr>
      <vt:lpstr>Woordraadstrategieën voorbeelden</vt:lpstr>
      <vt:lpstr>Woordraadstrategieën voorbeelden</vt:lpstr>
      <vt:lpstr>Woordraadstrategieën voorbeelden</vt:lpstr>
      <vt:lpstr>Woordraadstrategieën voorbeelden</vt:lpstr>
      <vt:lpstr>Woordraadstrategieën voorbeelden</vt:lpstr>
      <vt:lpstr>Woordraadstrategieën afbeelding </vt:lpstr>
      <vt:lpstr>H32 Woordraadstrategieën (aantekening)</vt:lpstr>
      <vt:lpstr>ONDERWERP</vt:lpstr>
      <vt:lpstr>DEELONDERWERP</vt:lpstr>
      <vt:lpstr>HOOFDGEDACHTE</vt:lpstr>
      <vt:lpstr>Onderwerp &amp; hoofdgedachte</vt:lpstr>
      <vt:lpstr>Oefening</vt:lpstr>
      <vt:lpstr>Oefening</vt:lpstr>
      <vt:lpstr>SAMENVATTEN</vt:lpstr>
      <vt:lpstr>KERNZINNEN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Leesvaardigheid</dc:title>
  <dc:creator>Aniek Julicher</dc:creator>
  <cp:lastModifiedBy>Aniek Julicher</cp:lastModifiedBy>
  <cp:revision>240</cp:revision>
  <cp:lastPrinted>2021-09-13T15:02:24Z</cp:lastPrinted>
  <dcterms:created xsi:type="dcterms:W3CDTF">2021-09-02T15:05:48Z</dcterms:created>
  <dcterms:modified xsi:type="dcterms:W3CDTF">2026-10-07T14:13:10Z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0x010100453F2CA980934C41BAF863130AA12841</vt:lpwstr>
  </property>
  <property fmtid="{D5CDD505-2E9C-101B-9397-08002B2CF9AE}" pid="4" name="ComplianceAssetId">
    <vt:lpwstr/>
  </property>
  <property fmtid="{D5CDD505-2E9C-101B-9397-08002B2CF9AE}" pid="5" name="_ExtendedDescription">
    <vt:lpwstr/>
  </property>
  <property fmtid="{D5CDD505-2E9C-101B-9397-08002B2CF9AE}" pid="6" name="TriggerFlowInfo">
    <vt:lpwstr/>
  </property>
  <property fmtid="{D5CDD505-2E9C-101B-9397-08002B2CF9AE}" pid="7" name="xd_ProgID">
    <vt:lpwstr/>
  </property>
  <property fmtid="{D5CDD505-2E9C-101B-9397-08002B2CF9AE}" pid="8" name="TemplateUrl">
    <vt:lpwstr/>
  </property>
  <property fmtid="{D5CDD505-2E9C-101B-9397-08002B2CF9AE}" pid="9" name="xd_Signature">
    <vt:bool>false</vt:bool>
  </property>
  <property fmtid="{D5CDD505-2E9C-101B-9397-08002B2CF9AE}" pid="10" name="GUID">
    <vt:lpwstr>2db852dd-2545-485f-9d1d-bc36f46f159e</vt:lpwstr>
  </property>
  <property fmtid="{D5CDD505-2E9C-101B-9397-08002B2CF9AE}" pid="11" name="MSIP_Label_defa4170-0d19-0005-0004-bc88714345d2_Enabled">
    <vt:lpwstr>true</vt:lpwstr>
  </property>
  <property fmtid="{D5CDD505-2E9C-101B-9397-08002B2CF9AE}" pid="12" name="MSIP_Label_defa4170-0d19-0005-0004-bc88714345d2_SetDate">
    <vt:lpwstr>2026-09-17T20:11:34Z</vt:lpwstr>
  </property>
  <property fmtid="{D5CDD505-2E9C-101B-9397-08002B2CF9AE}" pid="13" name="MSIP_Label_defa4170-0d19-0005-0004-bc88714345d2_Method">
    <vt:lpwstr>Standard</vt:lpwstr>
  </property>
  <property fmtid="{D5CDD505-2E9C-101B-9397-08002B2CF9AE}" pid="14" name="MSIP_Label_defa4170-0d19-0005-0004-bc88714345d2_Name">
    <vt:lpwstr>defa4170-0d19-0005-0004-bc88714345d2</vt:lpwstr>
  </property>
  <property fmtid="{D5CDD505-2E9C-101B-9397-08002B2CF9AE}" pid="15" name="MSIP_Label_defa4170-0d19-0005-0004-bc88714345d2_SiteId">
    <vt:lpwstr>0c912f61-b9b9-4a3f-be26-6eb78dfcc51e</vt:lpwstr>
  </property>
  <property fmtid="{D5CDD505-2E9C-101B-9397-08002B2CF9AE}" pid="16" name="MSIP_Label_defa4170-0d19-0005-0004-bc88714345d2_ActionId">
    <vt:lpwstr>db902daa-1e78-49b8-b381-1151b121292a</vt:lpwstr>
  </property>
  <property fmtid="{D5CDD505-2E9C-101B-9397-08002B2CF9AE}" pid="17" name="MSIP_Label_defa4170-0d19-0005-0004-bc88714345d2_ContentBits">
    <vt:lpwstr>0</vt:lpwstr>
  </property>
  <property fmtid="{D5CDD505-2E9C-101B-9397-08002B2CF9AE}" pid="18" name="MSIP_Label_defa4170-0d19-0005-0004-bc88714345d2_Tag">
    <vt:lpwstr>10, 3, 0, 1</vt:lpwstr>
  </property>
</Properties>
</file>